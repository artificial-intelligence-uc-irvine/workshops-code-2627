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3B886E-154A-4E8B-BD57-EBF9AEE4C954}" v="184" dt="2026-09-04T18:09:00.6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20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P" userId="78475aabcd3c5a92" providerId="LiveId" clId="{E5C85FC4-8451-4177-A4B7-7EE2E13170C0}"/>
    <pc:docChg chg="undo custSel delSld modSld">
      <pc:chgData name="David P" userId="78475aabcd3c5a92" providerId="LiveId" clId="{E5C85FC4-8451-4177-A4B7-7EE2E13170C0}" dt="2026-09-04T18:10:37.802" v="666" actId="113"/>
      <pc:docMkLst>
        <pc:docMk/>
      </pc:docMkLst>
      <pc:sldChg chg="modSp del mod">
        <pc:chgData name="David P" userId="78475aabcd3c5a92" providerId="LiveId" clId="{E5C85FC4-8451-4177-A4B7-7EE2E13170C0}" dt="2026-09-04T02:18:17.971" v="9" actId="2696"/>
        <pc:sldMkLst>
          <pc:docMk/>
          <pc:sldMk cId="0" sldId="257"/>
        </pc:sldMkLst>
        <pc:spChg chg="mod">
          <ac:chgData name="David P" userId="78475aabcd3c5a92" providerId="LiveId" clId="{E5C85FC4-8451-4177-A4B7-7EE2E13170C0}" dt="2026-09-04T02:15:41.439" v="3" actId="207"/>
          <ac:spMkLst>
            <pc:docMk/>
            <pc:sldMk cId="0" sldId="257"/>
            <ac:spMk id="4" creationId="{00000000-0000-0000-0000-000000000000}"/>
          </ac:spMkLst>
        </pc:spChg>
      </pc:sldChg>
      <pc:sldChg chg="modSp mod">
        <pc:chgData name="David P" userId="78475aabcd3c5a92" providerId="LiveId" clId="{E5C85FC4-8451-4177-A4B7-7EE2E13170C0}" dt="2026-09-04T02:15:39.358" v="2" actId="207"/>
        <pc:sldMkLst>
          <pc:docMk/>
          <pc:sldMk cId="0" sldId="258"/>
        </pc:sldMkLst>
        <pc:spChg chg="mod">
          <ac:chgData name="David P" userId="78475aabcd3c5a92" providerId="LiveId" clId="{E5C85FC4-8451-4177-A4B7-7EE2E13170C0}" dt="2026-09-04T02:15:39.358" v="2" actId="207"/>
          <ac:spMkLst>
            <pc:docMk/>
            <pc:sldMk cId="0" sldId="258"/>
            <ac:spMk id="4" creationId="{00000000-0000-0000-0000-000000000000}"/>
          </ac:spMkLst>
        </pc:spChg>
      </pc:sldChg>
      <pc:sldChg chg="modSp mod">
        <pc:chgData name="David P" userId="78475aabcd3c5a92" providerId="LiveId" clId="{E5C85FC4-8451-4177-A4B7-7EE2E13170C0}" dt="2026-09-04T02:18:02.857" v="8" actId="207"/>
        <pc:sldMkLst>
          <pc:docMk/>
          <pc:sldMk cId="0" sldId="260"/>
        </pc:sldMkLst>
        <pc:spChg chg="mod">
          <ac:chgData name="David P" userId="78475aabcd3c5a92" providerId="LiveId" clId="{E5C85FC4-8451-4177-A4B7-7EE2E13170C0}" dt="2026-09-04T02:17:49.526" v="4" actId="207"/>
          <ac:spMkLst>
            <pc:docMk/>
            <pc:sldMk cId="0" sldId="260"/>
            <ac:spMk id="7" creationId="{00000000-0000-0000-0000-000000000000}"/>
          </ac:spMkLst>
        </pc:spChg>
        <pc:spChg chg="mod">
          <ac:chgData name="David P" userId="78475aabcd3c5a92" providerId="LiveId" clId="{E5C85FC4-8451-4177-A4B7-7EE2E13170C0}" dt="2026-09-04T02:17:51.779" v="5" actId="207"/>
          <ac:spMkLst>
            <pc:docMk/>
            <pc:sldMk cId="0" sldId="260"/>
            <ac:spMk id="10" creationId="{00000000-0000-0000-0000-000000000000}"/>
          </ac:spMkLst>
        </pc:spChg>
        <pc:spChg chg="mod">
          <ac:chgData name="David P" userId="78475aabcd3c5a92" providerId="LiveId" clId="{E5C85FC4-8451-4177-A4B7-7EE2E13170C0}" dt="2026-09-04T02:17:54.135" v="6" actId="207"/>
          <ac:spMkLst>
            <pc:docMk/>
            <pc:sldMk cId="0" sldId="260"/>
            <ac:spMk id="13" creationId="{00000000-0000-0000-0000-000000000000}"/>
          </ac:spMkLst>
        </pc:spChg>
        <pc:spChg chg="mod">
          <ac:chgData name="David P" userId="78475aabcd3c5a92" providerId="LiveId" clId="{E5C85FC4-8451-4177-A4B7-7EE2E13170C0}" dt="2026-09-04T02:17:56.601" v="7" actId="207"/>
          <ac:spMkLst>
            <pc:docMk/>
            <pc:sldMk cId="0" sldId="260"/>
            <ac:spMk id="16" creationId="{00000000-0000-0000-0000-000000000000}"/>
          </ac:spMkLst>
        </pc:spChg>
        <pc:spChg chg="mod">
          <ac:chgData name="David P" userId="78475aabcd3c5a92" providerId="LiveId" clId="{E5C85FC4-8451-4177-A4B7-7EE2E13170C0}" dt="2026-09-04T02:18:02.857" v="8" actId="207"/>
          <ac:spMkLst>
            <pc:docMk/>
            <pc:sldMk cId="0" sldId="260"/>
            <ac:spMk id="19" creationId="{00000000-0000-0000-0000-000000000000}"/>
          </ac:spMkLst>
        </pc:spChg>
      </pc:sldChg>
      <pc:sldChg chg="modSp mod">
        <pc:chgData name="David P" userId="78475aabcd3c5a92" providerId="LiveId" clId="{E5C85FC4-8451-4177-A4B7-7EE2E13170C0}" dt="2026-09-04T02:32:50.577" v="15" actId="207"/>
        <pc:sldMkLst>
          <pc:docMk/>
          <pc:sldMk cId="0" sldId="265"/>
        </pc:sldMkLst>
        <pc:spChg chg="mod">
          <ac:chgData name="David P" userId="78475aabcd3c5a92" providerId="LiveId" clId="{E5C85FC4-8451-4177-A4B7-7EE2E13170C0}" dt="2026-09-04T02:32:50.577" v="15" actId="207"/>
          <ac:spMkLst>
            <pc:docMk/>
            <pc:sldMk cId="0" sldId="265"/>
            <ac:spMk id="5" creationId="{00000000-0000-0000-0000-000000000000}"/>
          </ac:spMkLst>
        </pc:spChg>
      </pc:sldChg>
      <pc:sldChg chg="modSp mod">
        <pc:chgData name="David P" userId="78475aabcd3c5a92" providerId="LiveId" clId="{E5C85FC4-8451-4177-A4B7-7EE2E13170C0}" dt="2026-09-04T02:33:06.965" v="19" actId="207"/>
        <pc:sldMkLst>
          <pc:docMk/>
          <pc:sldMk cId="0" sldId="267"/>
        </pc:sldMkLst>
        <pc:spChg chg="mod">
          <ac:chgData name="David P" userId="78475aabcd3c5a92" providerId="LiveId" clId="{E5C85FC4-8451-4177-A4B7-7EE2E13170C0}" dt="2026-09-04T02:32:54.767" v="16" actId="207"/>
          <ac:spMkLst>
            <pc:docMk/>
            <pc:sldMk cId="0" sldId="267"/>
            <ac:spMk id="9" creationId="{00000000-0000-0000-0000-000000000000}"/>
          </ac:spMkLst>
        </pc:spChg>
        <pc:spChg chg="mod">
          <ac:chgData name="David P" userId="78475aabcd3c5a92" providerId="LiveId" clId="{E5C85FC4-8451-4177-A4B7-7EE2E13170C0}" dt="2026-09-04T02:32:59.189" v="17" actId="207"/>
          <ac:spMkLst>
            <pc:docMk/>
            <pc:sldMk cId="0" sldId="267"/>
            <ac:spMk id="11" creationId="{00000000-0000-0000-0000-000000000000}"/>
          </ac:spMkLst>
        </pc:spChg>
        <pc:spChg chg="mod">
          <ac:chgData name="David P" userId="78475aabcd3c5a92" providerId="LiveId" clId="{E5C85FC4-8451-4177-A4B7-7EE2E13170C0}" dt="2026-09-04T02:33:01.422" v="18" actId="207"/>
          <ac:spMkLst>
            <pc:docMk/>
            <pc:sldMk cId="0" sldId="267"/>
            <ac:spMk id="13" creationId="{00000000-0000-0000-0000-000000000000}"/>
          </ac:spMkLst>
        </pc:spChg>
        <pc:spChg chg="mod">
          <ac:chgData name="David P" userId="78475aabcd3c5a92" providerId="LiveId" clId="{E5C85FC4-8451-4177-A4B7-7EE2E13170C0}" dt="2026-09-04T02:33:06.965" v="19" actId="207"/>
          <ac:spMkLst>
            <pc:docMk/>
            <pc:sldMk cId="0" sldId="267"/>
            <ac:spMk id="15" creationId="{00000000-0000-0000-0000-000000000000}"/>
          </ac:spMkLst>
        </pc:spChg>
      </pc:sldChg>
      <pc:sldChg chg="delSp modSp mod">
        <pc:chgData name="David P" userId="78475aabcd3c5a92" providerId="LiveId" clId="{E5C85FC4-8451-4177-A4B7-7EE2E13170C0}" dt="2026-09-04T02:42:40.167" v="22" actId="207"/>
        <pc:sldMkLst>
          <pc:docMk/>
          <pc:sldMk cId="0" sldId="268"/>
        </pc:sldMkLst>
        <pc:spChg chg="mod">
          <ac:chgData name="David P" userId="78475aabcd3c5a92" providerId="LiveId" clId="{E5C85FC4-8451-4177-A4B7-7EE2E13170C0}" dt="2026-09-04T02:42:40.167" v="22" actId="207"/>
          <ac:spMkLst>
            <pc:docMk/>
            <pc:sldMk cId="0" sldId="268"/>
            <ac:spMk id="7" creationId="{00000000-0000-0000-0000-000000000000}"/>
          </ac:spMkLst>
        </pc:spChg>
        <pc:spChg chg="del">
          <ac:chgData name="David P" userId="78475aabcd3c5a92" providerId="LiveId" clId="{E5C85FC4-8451-4177-A4B7-7EE2E13170C0}" dt="2026-09-04T02:39:15.152" v="20" actId="478"/>
          <ac:spMkLst>
            <pc:docMk/>
            <pc:sldMk cId="0" sldId="268"/>
            <ac:spMk id="8" creationId="{00000000-0000-0000-0000-000000000000}"/>
          </ac:spMkLst>
        </pc:spChg>
      </pc:sldChg>
      <pc:sldChg chg="delSp modSp mod">
        <pc:chgData name="David P" userId="78475aabcd3c5a92" providerId="LiveId" clId="{E5C85FC4-8451-4177-A4B7-7EE2E13170C0}" dt="2026-09-04T05:32:19.206" v="34" actId="207"/>
        <pc:sldMkLst>
          <pc:docMk/>
          <pc:sldMk cId="0" sldId="270"/>
        </pc:sldMkLst>
        <pc:spChg chg="mod">
          <ac:chgData name="David P" userId="78475aabcd3c5a92" providerId="LiveId" clId="{E5C85FC4-8451-4177-A4B7-7EE2E13170C0}" dt="2026-09-04T05:32:19.206" v="34" actId="207"/>
          <ac:spMkLst>
            <pc:docMk/>
            <pc:sldMk cId="0" sldId="270"/>
            <ac:spMk id="8" creationId="{00000000-0000-0000-0000-000000000000}"/>
          </ac:spMkLst>
        </pc:spChg>
        <pc:spChg chg="del">
          <ac:chgData name="David P" userId="78475aabcd3c5a92" providerId="LiveId" clId="{E5C85FC4-8451-4177-A4B7-7EE2E13170C0}" dt="2026-09-04T03:00:42.916" v="23" actId="478"/>
          <ac:spMkLst>
            <pc:docMk/>
            <pc:sldMk cId="0" sldId="270"/>
            <ac:spMk id="9" creationId="{00000000-0000-0000-0000-000000000000}"/>
          </ac:spMkLst>
        </pc:spChg>
      </pc:sldChg>
      <pc:sldChg chg="delSp modSp mod">
        <pc:chgData name="David P" userId="78475aabcd3c5a92" providerId="LiveId" clId="{E5C85FC4-8451-4177-A4B7-7EE2E13170C0}" dt="2026-09-04T05:35:51.045" v="41" actId="18131"/>
        <pc:sldMkLst>
          <pc:docMk/>
          <pc:sldMk cId="0" sldId="275"/>
        </pc:sldMkLst>
        <pc:spChg chg="mod modCrop">
          <ac:chgData name="David P" userId="78475aabcd3c5a92" providerId="LiveId" clId="{E5C85FC4-8451-4177-A4B7-7EE2E13170C0}" dt="2026-09-04T05:35:51.045" v="41" actId="18131"/>
          <ac:spMkLst>
            <pc:docMk/>
            <pc:sldMk cId="0" sldId="275"/>
            <ac:spMk id="9" creationId="{00000000-0000-0000-0000-000000000000}"/>
          </ac:spMkLst>
        </pc:spChg>
        <pc:spChg chg="del">
          <ac:chgData name="David P" userId="78475aabcd3c5a92" providerId="LiveId" clId="{E5C85FC4-8451-4177-A4B7-7EE2E13170C0}" dt="2026-09-04T04:46:41.745" v="30" actId="478"/>
          <ac:spMkLst>
            <pc:docMk/>
            <pc:sldMk cId="0" sldId="275"/>
            <ac:spMk id="10" creationId="{00000000-0000-0000-0000-000000000000}"/>
          </ac:spMkLst>
        </pc:spChg>
      </pc:sldChg>
      <pc:sldChg chg="addSp delSp modSp mod">
        <pc:chgData name="David P" userId="78475aabcd3c5a92" providerId="LiveId" clId="{E5C85FC4-8451-4177-A4B7-7EE2E13170C0}" dt="2026-09-04T06:10:13.867" v="205" actId="20577"/>
        <pc:sldMkLst>
          <pc:docMk/>
          <pc:sldMk cId="0" sldId="276"/>
        </pc:sldMkLst>
        <pc:spChg chg="mod">
          <ac:chgData name="David P" userId="78475aabcd3c5a92" providerId="LiveId" clId="{E5C85FC4-8451-4177-A4B7-7EE2E13170C0}" dt="2026-09-04T06:06:19.330" v="50" actId="1076"/>
          <ac:spMkLst>
            <pc:docMk/>
            <pc:sldMk cId="0" sldId="276"/>
            <ac:spMk id="6" creationId="{00000000-0000-0000-0000-000000000000}"/>
          </ac:spMkLst>
        </pc:spChg>
        <pc:spChg chg="del">
          <ac:chgData name="David P" userId="78475aabcd3c5a92" providerId="LiveId" clId="{E5C85FC4-8451-4177-A4B7-7EE2E13170C0}" dt="2026-09-04T05:58:11.173" v="46" actId="478"/>
          <ac:spMkLst>
            <pc:docMk/>
            <pc:sldMk cId="0" sldId="276"/>
            <ac:spMk id="7" creationId="{00000000-0000-0000-0000-000000000000}"/>
          </ac:spMkLst>
        </pc:spChg>
        <pc:spChg chg="mod">
          <ac:chgData name="David P" userId="78475aabcd3c5a92" providerId="LiveId" clId="{E5C85FC4-8451-4177-A4B7-7EE2E13170C0}" dt="2026-09-04T06:10:13.867" v="205" actId="20577"/>
          <ac:spMkLst>
            <pc:docMk/>
            <pc:sldMk cId="0" sldId="276"/>
            <ac:spMk id="9" creationId="{00000000-0000-0000-0000-000000000000}"/>
          </ac:spMkLst>
        </pc:spChg>
        <pc:picChg chg="add del mod">
          <ac:chgData name="David P" userId="78475aabcd3c5a92" providerId="LiveId" clId="{E5C85FC4-8451-4177-A4B7-7EE2E13170C0}" dt="2026-09-04T05:58:41.444" v="47" actId="478"/>
          <ac:picMkLst>
            <pc:docMk/>
            <pc:sldMk cId="0" sldId="276"/>
            <ac:picMk id="12" creationId="{12A70AE1-3E4B-8171-EFED-7276A97FB695}"/>
          </ac:picMkLst>
        </pc:picChg>
      </pc:sldChg>
      <pc:sldChg chg="modSp mod">
        <pc:chgData name="David P" userId="78475aabcd3c5a92" providerId="LiveId" clId="{E5C85FC4-8451-4177-A4B7-7EE2E13170C0}" dt="2026-09-04T06:11:49.488" v="237" actId="20577"/>
        <pc:sldMkLst>
          <pc:docMk/>
          <pc:sldMk cId="0" sldId="279"/>
        </pc:sldMkLst>
        <pc:spChg chg="mod">
          <ac:chgData name="David P" userId="78475aabcd3c5a92" providerId="LiveId" clId="{E5C85FC4-8451-4177-A4B7-7EE2E13170C0}" dt="2026-09-04T06:11:49.488" v="237" actId="20577"/>
          <ac:spMkLst>
            <pc:docMk/>
            <pc:sldMk cId="0" sldId="279"/>
            <ac:spMk id="5" creationId="{00000000-0000-0000-0000-000000000000}"/>
          </ac:spMkLst>
        </pc:spChg>
      </pc:sldChg>
      <pc:sldChg chg="delSp modSp mod">
        <pc:chgData name="David P" userId="78475aabcd3c5a92" providerId="LiveId" clId="{E5C85FC4-8451-4177-A4B7-7EE2E13170C0}" dt="2026-09-04T17:19:32.893" v="414"/>
        <pc:sldMkLst>
          <pc:docMk/>
          <pc:sldMk cId="0" sldId="280"/>
        </pc:sldMkLst>
        <pc:spChg chg="mod">
          <ac:chgData name="David P" userId="78475aabcd3c5a92" providerId="LiveId" clId="{E5C85FC4-8451-4177-A4B7-7EE2E13170C0}" dt="2026-09-04T17:19:32.893" v="414"/>
          <ac:spMkLst>
            <pc:docMk/>
            <pc:sldMk cId="0" sldId="280"/>
            <ac:spMk id="5" creationId="{00000000-0000-0000-0000-000000000000}"/>
          </ac:spMkLst>
        </pc:spChg>
        <pc:spChg chg="del">
          <ac:chgData name="David P" userId="78475aabcd3c5a92" providerId="LiveId" clId="{E5C85FC4-8451-4177-A4B7-7EE2E13170C0}" dt="2026-09-04T17:18:02.609" v="238" actId="478"/>
          <ac:spMkLst>
            <pc:docMk/>
            <pc:sldMk cId="0" sldId="280"/>
            <ac:spMk id="6" creationId="{00000000-0000-0000-0000-000000000000}"/>
          </ac:spMkLst>
        </pc:spChg>
      </pc:sldChg>
      <pc:sldChg chg="modSp mod">
        <pc:chgData name="David P" userId="78475aabcd3c5a92" providerId="LiveId" clId="{E5C85FC4-8451-4177-A4B7-7EE2E13170C0}" dt="2026-09-04T17:37:23.784" v="436" actId="20577"/>
        <pc:sldMkLst>
          <pc:docMk/>
          <pc:sldMk cId="0" sldId="283"/>
        </pc:sldMkLst>
        <pc:spChg chg="mod">
          <ac:chgData name="David P" userId="78475aabcd3c5a92" providerId="LiveId" clId="{E5C85FC4-8451-4177-A4B7-7EE2E13170C0}" dt="2026-09-04T17:37:23.784" v="436" actId="20577"/>
          <ac:spMkLst>
            <pc:docMk/>
            <pc:sldMk cId="0" sldId="283"/>
            <ac:spMk id="7" creationId="{00000000-0000-0000-0000-000000000000}"/>
          </ac:spMkLst>
        </pc:spChg>
      </pc:sldChg>
      <pc:sldChg chg="modSp mod">
        <pc:chgData name="David P" userId="78475aabcd3c5a92" providerId="LiveId" clId="{E5C85FC4-8451-4177-A4B7-7EE2E13170C0}" dt="2026-09-04T17:39:14.618" v="512" actId="20577"/>
        <pc:sldMkLst>
          <pc:docMk/>
          <pc:sldMk cId="0" sldId="284"/>
        </pc:sldMkLst>
        <pc:spChg chg="mod">
          <ac:chgData name="David P" userId="78475aabcd3c5a92" providerId="LiveId" clId="{E5C85FC4-8451-4177-A4B7-7EE2E13170C0}" dt="2026-09-04T17:39:14.618" v="512" actId="20577"/>
          <ac:spMkLst>
            <pc:docMk/>
            <pc:sldMk cId="0" sldId="284"/>
            <ac:spMk id="7" creationId="{00000000-0000-0000-0000-000000000000}"/>
          </ac:spMkLst>
        </pc:spChg>
      </pc:sldChg>
      <pc:sldChg chg="modSp mod">
        <pc:chgData name="David P" userId="78475aabcd3c5a92" providerId="LiveId" clId="{E5C85FC4-8451-4177-A4B7-7EE2E13170C0}" dt="2026-09-04T18:10:23.393" v="660" actId="113"/>
        <pc:sldMkLst>
          <pc:docMk/>
          <pc:sldMk cId="0" sldId="285"/>
        </pc:sldMkLst>
        <pc:spChg chg="mod">
          <ac:chgData name="David P" userId="78475aabcd3c5a92" providerId="LiveId" clId="{E5C85FC4-8451-4177-A4B7-7EE2E13170C0}" dt="2026-09-04T18:10:23.393" v="660" actId="113"/>
          <ac:spMkLst>
            <pc:docMk/>
            <pc:sldMk cId="0" sldId="285"/>
            <ac:spMk id="9" creationId="{00000000-0000-0000-0000-000000000000}"/>
          </ac:spMkLst>
        </pc:spChg>
      </pc:sldChg>
      <pc:sldChg chg="modSp mod">
        <pc:chgData name="David P" userId="78475aabcd3c5a92" providerId="LiveId" clId="{E5C85FC4-8451-4177-A4B7-7EE2E13170C0}" dt="2026-09-04T18:10:37.802" v="666" actId="113"/>
        <pc:sldMkLst>
          <pc:docMk/>
          <pc:sldMk cId="0" sldId="286"/>
        </pc:sldMkLst>
        <pc:spChg chg="mod">
          <ac:chgData name="David P" userId="78475aabcd3c5a92" providerId="LiveId" clId="{E5C85FC4-8451-4177-A4B7-7EE2E13170C0}" dt="2026-09-04T18:10:37.802" v="666" actId="113"/>
          <ac:spMkLst>
            <pc:docMk/>
            <pc:sldMk cId="0" sldId="286"/>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47654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7, Quarter 2. This is the club's first unsupervised learning session — everything to date has been handed labels. Set that up early; it frames the whole hour.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questions on trees and ensembling first; Week 6 was a social event, so there is a two-week gap. Land the bottom card hard — it is the pivot for the whole lecture.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two or three answers out loud. Every answer will be a version of 'sort them into piles.' Follow up: how many piles? Nobody told you. That is the lecture. Keep the answer off the slide.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Sections 1-4 cluster the rows of the data. Section 5 reduces the columns. Flag that split now so the second half does not feel like a different lecture.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photo pile at every section transition. It is the visual anchor the style guide asks for.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this slide top to bottom. Point at it, say it is a reference, and move on — each term gets defined properly when it appears.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the photo pile: you are about to formalize 'sort into piles.'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Adit taught KNN in Q1 Week 4, so the club knows it. The shared 'K' invites confusion — worth 30 seconds.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soften this. Students expect an accuracy number and there is not one. Saying so now prevents confusion when the elbow plot turns out ambiguous.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we have a goal (tight groups) and no method. Here is the simplest one.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framing saves five minutes. Half the algorithm is already familiar; only the alternation is new. Ask the room to recall nearest-centroid before revealing the card.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one iteration on the whiteboard with about eight dots and two centroids before showing the figure. The style guide asks for whiteboard use and this is the natural place.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'mean minimizes squared distance' claim is worth one line of algebra if the room looks unconvinced: d/dc Σ(x-c)² = -2Σ(x-c) = 0 gives c = mean.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Callback to the CS 175 penguin distance slide from Q1 (grams vs kilograms). The lesson pays off twice: K-Means uses Euclidean distance, PCA maximizes variance, and both are scale-dependent. Protect this slide if time is short.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an algorithm that converges. Now: converges to what, and how do we pick 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to Week 5 last quarter (gradient descent) and Week 2 this quarter (neural nets) — local minima are a recurring theme, not a K-Means quirk. The difference is that here we cannot even take a noisy step.</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why D(x)² rather than D(x) — squaring exaggerates the gap. Also worth noting sklearn uses k-means++ by default, so students have been getting this for free.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moment in the lecture, and it only works because you taught cross-validation in Q1. Ask the room what they would do, wait for someone to say 'cross-validate', then explain why it fails. Do not rush it.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Silhouette runs -1 to 1: near 1 means well inside its own cluster, near 0 means on a boundary, negative means it probably belongs elsewhere. In the notebook the two criteria disagree on the penguins — that disagreement is the point.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present hierarchical clustering as 'another algorithm we should also cover.' Present it as the answer to this specific failure plus the choose-K-in-advance problem.</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complaints about K-Means so far: commit to K blind, and only spherical clusters. This section answers both.</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inversion: K-Means demands the answer before it starts; agglomerative defers it until after. A genuinely different philosophy, not a minor variation.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assume Euclidean distance by default, but any distance measure works — edit distance between strings, for example. One of the few places you can cluster non-numeric data directly.</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an actual long edge on the figure and say 'that gap is why three is a defensible answer here.' Reading a dendrogram is a skill; give them the vocabulary and one worked read.</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quadratic cost is the real constraint: agglomerative needs all pairwise distances, so it becomes painful in the tens of thousands of points. At n = 342 the penguins are trivially fine.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Explicit pivot: the first four sections grouped ROWS. This one asks about COLUMNS. Same dataset, orthogonal question.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card is a direct callback to Q1 Week 6 (nearest-centroid sensitivity to dimensionality). Reminding them that a method they know breaks in high dimensions is more persuasive than an abstract curse-of-dimensionality argument.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LDA is here for contrast only: the one supervised method, optimizing class separation rather than variance. One sentence, then move on. Autoencoder callback to David C.'s Week 2.</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the club has not seen eigenvectors. Do the arithmetic live on the whiteboard rather than reading it off the slide — four multiplications, and it demystifies the word. Budget six minutes for this slide and the next.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 wᵀΣw for at least one of these live. The payoff line is that nobody chose the 45° direction — it fell out of the matrix.</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Explicit callback to Q1 Week 7: constrained objective, Lagrangian, read the answer off stationarity. Same three moves. If running long, compress this slide — assert Σw = λw and move on.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practice PCA is computed by SVD of the centered data matrix rather than eigendecomposing Σ, because forming XᵀX squares the condition number. One sentence — do not derive SVD.</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failure mode bridges to t-SNE and UMAP. Say it out loud: 'PCA can only rotate and flatten. If the structure is curved, we need something that can bend.'</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at the level of intuition. The KL-divergence and cross-entropy derivations are in the appendix if anyone asks — do not open them in the main flow.</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bottom row is the one that matters practically. Everything above it is context for that judgement.</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red box flatly and do not qualify it. This is the most common mistake people make with these tools, and it is the sentence students will need two years from now.</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on the photo pile metaphor, then hand forward to Q3 Week 3 (your own LLM session). The forward reference gives the club a reason to remember PCA.</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for the block: the species column is removed. Recover the three penguin species from four measurements, with no labels. Protect the standardization comparison and the hand-computed Lloyd iteration if you run short.</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closing slide.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present these. They are here so the deck matches the notes document and so you are covered on questions.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Only open on a direct question.</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The cleanest one-slide answer to 'why can't I trust the distance between two clusters in a t-SNE plot?'</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The 2022 result is worth knowing so you do not overstate UMAP's advantages if a student asks which is better.</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microsoft.com/office/2007/relationships/hdphoto" Target="../media/hdphoto1.wdp"/></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33F"/>
        </a:solidFill>
        <a:effectLst/>
      </p:bgPr>
    </p:bg>
    <p:spTree>
      <p:nvGrpSpPr>
        <p:cNvPr id="1" name=""/>
        <p:cNvGrpSpPr/>
        <p:nvPr/>
      </p:nvGrpSpPr>
      <p:grpSpPr>
        <a:xfrm>
          <a:off x="0" y="0"/>
          <a:ext cx="0" cy="0"/>
          <a:chOff x="0" y="0"/>
          <a:chExt cx="0" cy="0"/>
        </a:xfrm>
      </p:grpSpPr>
      <p:sp>
        <p:nvSpPr>
          <p:cNvPr id="2" name="Text 0"/>
          <p:cNvSpPr txBox="1"/>
          <p:nvPr/>
        </p:nvSpPr>
        <p:spPr>
          <a:xfrm>
            <a:off x="457200" y="1600200"/>
            <a:ext cx="8229600" cy="365760"/>
          </a:xfrm>
          <a:prstGeom prst="rect">
            <a:avLst/>
          </a:prstGeom>
          <a:noFill/>
          <a:ln/>
        </p:spPr>
        <p:txBody>
          <a:bodyPr wrap="square" lIns="0" tIns="0" rIns="0" bIns="0" rtlCol="0" anchor="ctr"/>
          <a:lstStyle/>
          <a:p>
            <a:pPr marL="0" indent="0">
              <a:buNone/>
            </a:pPr>
            <a:r>
              <a:rPr lang="en-US" sz="1500" b="1" kern="0" spc="200" dirty="0">
                <a:solidFill>
                  <a:srgbClr val="FFC72C"/>
                </a:solidFill>
                <a:latin typeface="Calibri" pitchFamily="34" charset="0"/>
                <a:ea typeface="Calibri" pitchFamily="34" charset="-122"/>
                <a:cs typeface="Calibri" pitchFamily="34" charset="-120"/>
              </a:rPr>
              <a:t>Week 7</a:t>
            </a:r>
            <a:endParaRPr lang="en-US" sz="1500" dirty="0"/>
          </a:p>
        </p:txBody>
      </p:sp>
      <p:sp>
        <p:nvSpPr>
          <p:cNvPr id="3" name="Shape 1"/>
          <p:cNvSpPr/>
          <p:nvPr/>
        </p:nvSpPr>
        <p:spPr>
          <a:xfrm>
            <a:off x="457200" y="2048256"/>
            <a:ext cx="822960" cy="45720"/>
          </a:xfrm>
          <a:prstGeom prst="rect">
            <a:avLst/>
          </a:prstGeom>
          <a:solidFill>
            <a:srgbClr val="FFC72C"/>
          </a:solidFill>
          <a:ln w="12700">
            <a:solidFill>
              <a:srgbClr val="FFC72C"/>
            </a:solidFill>
            <a:prstDash val="solid"/>
          </a:ln>
        </p:spPr>
        <p:txBody>
          <a:bodyPr/>
          <a:lstStyle/>
          <a:p>
            <a:endParaRPr lang="en-US"/>
          </a:p>
        </p:txBody>
      </p:sp>
      <p:sp>
        <p:nvSpPr>
          <p:cNvPr id="4" name="Text 2"/>
          <p:cNvSpPr txBox="1"/>
          <p:nvPr/>
        </p:nvSpPr>
        <p:spPr>
          <a:xfrm>
            <a:off x="457200" y="2286000"/>
            <a:ext cx="8229600" cy="100584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Clustering &amp; Dimensionality Reduction</a:t>
            </a:r>
            <a:endParaRPr lang="en-US" sz="3600" dirty="0"/>
          </a:p>
        </p:txBody>
      </p:sp>
      <p:sp>
        <p:nvSpPr>
          <p:cNvPr id="5" name="Text 3"/>
          <p:cNvSpPr txBox="1"/>
          <p:nvPr/>
        </p:nvSpPr>
        <p:spPr>
          <a:xfrm>
            <a:off x="457200" y="3520440"/>
            <a:ext cx="8229600" cy="365760"/>
          </a:xfrm>
          <a:prstGeom prst="rect">
            <a:avLst/>
          </a:prstGeom>
          <a:noFill/>
          <a:ln/>
        </p:spPr>
        <p:txBody>
          <a:bodyPr wrap="square" lIns="0" tIns="0" rIns="0" bIns="0" rtlCol="0" anchor="ctr"/>
          <a:lstStyle/>
          <a:p>
            <a:pPr marL="0" indent="0">
              <a:buNone/>
            </a:pPr>
            <a:r>
              <a:rPr lang="en-US" sz="1300" dirty="0">
                <a:solidFill>
                  <a:srgbClr val="AEBBCE"/>
                </a:solidFill>
                <a:latin typeface="Calibri" pitchFamily="34" charset="0"/>
                <a:ea typeface="Calibri" pitchFamily="34" charset="-122"/>
                <a:cs typeface="Calibri" pitchFamily="34" charset="-120"/>
              </a:rPr>
              <a:t>AI@UCI  •  Winter Quarter  •  Presented by David P.</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457200" y="384048"/>
            <a:ext cx="118872" cy="118872"/>
          </a:xfrm>
          <a:prstGeom prst="ellipse">
            <a:avLst/>
          </a:prstGeom>
          <a:solidFill>
            <a:srgbClr val="FFC72C"/>
          </a:solidFill>
          <a:ln w="12700">
            <a:solidFill>
              <a:srgbClr val="FFC72C"/>
            </a:solidFill>
            <a:prstDash val="solid"/>
          </a:ln>
        </p:spPr>
        <p:txBody>
          <a:bodyPr/>
          <a:lstStyle/>
          <a:p>
            <a:endParaRPr lang="en-US"/>
          </a:p>
        </p:txBody>
      </p:sp>
      <p:sp>
        <p:nvSpPr>
          <p:cNvPr id="3" name="Text 1"/>
          <p:cNvSpPr txBox="1"/>
          <p:nvPr/>
        </p:nvSpPr>
        <p:spPr>
          <a:xfrm>
            <a:off x="658368" y="329184"/>
            <a:ext cx="8028432" cy="237744"/>
          </a:xfrm>
          <a:prstGeom prst="rect">
            <a:avLst/>
          </a:prstGeom>
          <a:noFill/>
          <a:ln/>
        </p:spPr>
        <p:txBody>
          <a:bodyPr wrap="square" lIns="0" tIns="0" rIns="0" bIns="0" rtlCol="0" anchor="ctr"/>
          <a:lstStyle/>
          <a:p>
            <a:pPr marL="0" indent="0">
              <a:buNone/>
            </a:pPr>
            <a:r>
              <a:rPr lang="en-US" sz="1050" b="1" kern="0" spc="140" dirty="0">
                <a:solidFill>
                  <a:srgbClr val="5A6472"/>
                </a:solidFill>
                <a:latin typeface="Calibri" pitchFamily="34" charset="0"/>
                <a:ea typeface="Calibri" pitchFamily="34" charset="-122"/>
                <a:cs typeface="Calibri" pitchFamily="34" charset="-120"/>
              </a:rPr>
              <a:t>RECAP</a:t>
            </a:r>
            <a:endParaRPr lang="en-US" sz="1050" dirty="0"/>
          </a:p>
        </p:txBody>
      </p:sp>
      <p:sp>
        <p:nvSpPr>
          <p:cNvPr id="4" name="Text 2"/>
          <p:cNvSpPr txBox="1"/>
          <p:nvPr/>
        </p:nvSpPr>
        <p:spPr>
          <a:xfrm>
            <a:off x="457200" y="603504"/>
            <a:ext cx="8229600" cy="56692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Where we left off</a:t>
            </a:r>
            <a:endParaRPr lang="en-US" sz="3000" dirty="0"/>
          </a:p>
        </p:txBody>
      </p:sp>
      <p:sp>
        <p:nvSpPr>
          <p:cNvPr id="5" name="Shape 3"/>
          <p:cNvSpPr/>
          <p:nvPr/>
        </p:nvSpPr>
        <p:spPr>
          <a:xfrm>
            <a:off x="457200" y="1261872"/>
            <a:ext cx="4041648" cy="1325880"/>
          </a:xfrm>
          <a:prstGeom prst="roundRect">
            <a:avLst>
              <a:gd name="adj" fmla="val 2759"/>
            </a:avLst>
          </a:prstGeom>
          <a:solidFill>
            <a:srgbClr val="F1F4F8"/>
          </a:solidFill>
          <a:ln w="9525">
            <a:solidFill>
              <a:srgbClr val="D8DFE8"/>
            </a:solidFill>
            <a:prstDash val="solid"/>
          </a:ln>
        </p:spPr>
        <p:txBody>
          <a:bodyPr/>
          <a:lstStyle/>
          <a:p>
            <a:endParaRPr lang="en-US"/>
          </a:p>
        </p:txBody>
      </p:sp>
      <p:sp>
        <p:nvSpPr>
          <p:cNvPr id="6" name="Text 4"/>
          <p:cNvSpPr txBox="1"/>
          <p:nvPr/>
        </p:nvSpPr>
        <p:spPr>
          <a:xfrm>
            <a:off x="658368" y="1426464"/>
            <a:ext cx="3639312" cy="1051560"/>
          </a:xfrm>
          <a:prstGeom prst="rect">
            <a:avLst/>
          </a:prstGeom>
          <a:noFill/>
          <a:ln/>
        </p:spPr>
        <p:txBody>
          <a:bodyPr wrap="square" lIns="0" tIns="0" rIns="0" bIns="0" rtlCol="0" anchor="t"/>
          <a:lstStyle/>
          <a:p>
            <a:pPr marL="0" indent="0">
              <a:spcAft>
                <a:spcPts val="500"/>
              </a:spcAft>
              <a:buNone/>
            </a:pPr>
            <a:r>
              <a:rPr lang="en-US" sz="1400" b="1" dirty="0">
                <a:solidFill>
                  <a:srgbClr val="1A5FB4"/>
                </a:solidFill>
                <a:latin typeface="Calibri" pitchFamily="34" charset="0"/>
                <a:ea typeface="Calibri" pitchFamily="34" charset="-122"/>
                <a:cs typeface="Calibri" pitchFamily="34" charset="-120"/>
              </a:rPr>
              <a:t>Decision Trees</a:t>
            </a:r>
            <a:endParaRPr lang="en-US" sz="1400" dirty="0"/>
          </a:p>
          <a:p>
            <a:pPr marL="0" indent="0">
              <a:spcAft>
                <a:spcPts val="500"/>
              </a:spcAft>
              <a:buNone/>
            </a:pPr>
            <a:r>
              <a:rPr lang="en-US" sz="1200" dirty="0">
                <a:solidFill>
                  <a:srgbClr val="1B2430"/>
                </a:solidFill>
                <a:latin typeface="Calibri" pitchFamily="34" charset="0"/>
                <a:ea typeface="Calibri" pitchFamily="34" charset="-122"/>
                <a:cs typeface="Calibri" pitchFamily="34" charset="-120"/>
              </a:rPr>
              <a:t>A way to segment a complex classification problem into smaller individual gates that together determine the overall status.</a:t>
            </a:r>
            <a:endParaRPr lang="en-US" sz="1400" dirty="0"/>
          </a:p>
        </p:txBody>
      </p:sp>
      <p:sp>
        <p:nvSpPr>
          <p:cNvPr id="7" name="Shape 5"/>
          <p:cNvSpPr/>
          <p:nvPr/>
        </p:nvSpPr>
        <p:spPr>
          <a:xfrm>
            <a:off x="4645152" y="1261872"/>
            <a:ext cx="4041648" cy="1325880"/>
          </a:xfrm>
          <a:prstGeom prst="roundRect">
            <a:avLst>
              <a:gd name="adj" fmla="val 2759"/>
            </a:avLst>
          </a:prstGeom>
          <a:solidFill>
            <a:srgbClr val="F1F4F8"/>
          </a:solidFill>
          <a:ln w="9525">
            <a:solidFill>
              <a:srgbClr val="D8DFE8"/>
            </a:solidFill>
            <a:prstDash val="solid"/>
          </a:ln>
        </p:spPr>
        <p:txBody>
          <a:bodyPr/>
          <a:lstStyle/>
          <a:p>
            <a:endParaRPr lang="en-US"/>
          </a:p>
        </p:txBody>
      </p:sp>
      <p:sp>
        <p:nvSpPr>
          <p:cNvPr id="8" name="Text 6"/>
          <p:cNvSpPr txBox="1"/>
          <p:nvPr/>
        </p:nvSpPr>
        <p:spPr>
          <a:xfrm>
            <a:off x="4846320" y="1426464"/>
            <a:ext cx="3639312" cy="1051560"/>
          </a:xfrm>
          <a:prstGeom prst="rect">
            <a:avLst/>
          </a:prstGeom>
          <a:noFill/>
          <a:ln/>
        </p:spPr>
        <p:txBody>
          <a:bodyPr wrap="square" lIns="0" tIns="0" rIns="0" bIns="0" rtlCol="0" anchor="t"/>
          <a:lstStyle/>
          <a:p>
            <a:pPr marL="0" indent="0">
              <a:spcAft>
                <a:spcPts val="500"/>
              </a:spcAft>
              <a:buNone/>
            </a:pPr>
            <a:r>
              <a:rPr lang="en-US" sz="1400" b="1" dirty="0">
                <a:solidFill>
                  <a:srgbClr val="1A5FB4"/>
                </a:solidFill>
                <a:latin typeface="Calibri" pitchFamily="34" charset="0"/>
                <a:ea typeface="Calibri" pitchFamily="34" charset="-122"/>
                <a:cs typeface="Calibri" pitchFamily="34" charset="-120"/>
              </a:rPr>
              <a:t>Ensembling</a:t>
            </a:r>
            <a:endParaRPr lang="en-US" sz="1400" dirty="0"/>
          </a:p>
          <a:p>
            <a:pPr marL="0" indent="0">
              <a:spcAft>
                <a:spcPts val="500"/>
              </a:spcAft>
              <a:buNone/>
            </a:pPr>
            <a:r>
              <a:rPr lang="en-US" sz="1200" dirty="0">
                <a:solidFill>
                  <a:srgbClr val="1B2430"/>
                </a:solidFill>
                <a:latin typeface="Calibri" pitchFamily="34" charset="0"/>
                <a:ea typeface="Calibri" pitchFamily="34" charset="-122"/>
                <a:cs typeface="Calibri" pitchFamily="34" charset="-120"/>
              </a:rPr>
              <a:t>Take multiple weak models — often decision trees — and chain them together, aggregating their outputs to form a stronger model.</a:t>
            </a:r>
            <a:endParaRPr lang="en-US" sz="1400" dirty="0"/>
          </a:p>
        </p:txBody>
      </p:sp>
      <p:sp>
        <p:nvSpPr>
          <p:cNvPr id="9" name="Shape 7"/>
          <p:cNvSpPr/>
          <p:nvPr/>
        </p:nvSpPr>
        <p:spPr>
          <a:xfrm>
            <a:off x="457200" y="2706624"/>
            <a:ext cx="8229600" cy="1325880"/>
          </a:xfrm>
          <a:prstGeom prst="roundRect">
            <a:avLst>
              <a:gd name="adj" fmla="val 2759"/>
            </a:avLst>
          </a:prstGeom>
          <a:solidFill>
            <a:srgbClr val="F1F4F8"/>
          </a:solidFill>
          <a:ln w="9525">
            <a:solidFill>
              <a:srgbClr val="D8DFE8"/>
            </a:solidFill>
            <a:prstDash val="solid"/>
          </a:ln>
        </p:spPr>
        <p:txBody>
          <a:bodyPr/>
          <a:lstStyle/>
          <a:p>
            <a:endParaRPr lang="en-US"/>
          </a:p>
        </p:txBody>
      </p:sp>
      <p:sp>
        <p:nvSpPr>
          <p:cNvPr id="10" name="Text 8"/>
          <p:cNvSpPr txBox="1"/>
          <p:nvPr/>
        </p:nvSpPr>
        <p:spPr>
          <a:xfrm>
            <a:off x="685800" y="2880360"/>
            <a:ext cx="7772400" cy="1005840"/>
          </a:xfrm>
          <a:prstGeom prst="rect">
            <a:avLst/>
          </a:prstGeom>
          <a:noFill/>
          <a:ln/>
        </p:spPr>
        <p:txBody>
          <a:bodyPr wrap="square" lIns="0" tIns="0" rIns="0" bIns="0" rtlCol="0" anchor="t"/>
          <a:lstStyle/>
          <a:p>
            <a:pPr marL="0" indent="0">
              <a:spcAft>
                <a:spcPts val="500"/>
              </a:spcAft>
              <a:buNone/>
            </a:pPr>
            <a:r>
              <a:rPr lang="en-US" sz="1350" b="1" dirty="0">
                <a:solidFill>
                  <a:srgbClr val="1A5FB4"/>
                </a:solidFill>
                <a:latin typeface="Calibri" pitchFamily="34" charset="0"/>
                <a:ea typeface="Calibri" pitchFamily="34" charset="-122"/>
                <a:cs typeface="Calibri" pitchFamily="34" charset="-120"/>
              </a:rPr>
              <a:t>The thread running through everything so far</a:t>
            </a:r>
            <a:endParaRPr lang="en-US" sz="1350" dirty="0"/>
          </a:p>
          <a:p>
            <a:pPr marL="0" indent="0">
              <a:spcAft>
                <a:spcPts val="500"/>
              </a:spcAft>
              <a:buNone/>
            </a:pPr>
            <a:r>
              <a:rPr lang="en-US" sz="1200" dirty="0">
                <a:solidFill>
                  <a:srgbClr val="1B2430"/>
                </a:solidFill>
                <a:latin typeface="Calibri" pitchFamily="34" charset="0"/>
                <a:ea typeface="Calibri" pitchFamily="34" charset="-122"/>
                <a:cs typeface="Calibri" pitchFamily="34" charset="-120"/>
              </a:rPr>
              <a:t>Linear regression, classifiers, KNN, neural networks, decision trees, ensembles — every single one was handed a target value y and asked to predict it. We measured success by comparing the prediction to the truth.</a:t>
            </a:r>
            <a:endParaRPr lang="en-US" sz="1350" dirty="0"/>
          </a:p>
        </p:txBody>
      </p:sp>
      <p:sp>
        <p:nvSpPr>
          <p:cNvPr id="11" name="Shape 9"/>
          <p:cNvSpPr/>
          <p:nvPr/>
        </p:nvSpPr>
        <p:spPr>
          <a:xfrm>
            <a:off x="457200" y="4206240"/>
            <a:ext cx="8229600" cy="530352"/>
          </a:xfrm>
          <a:prstGeom prst="roundRect">
            <a:avLst>
              <a:gd name="adj" fmla="val 6897"/>
            </a:avLst>
          </a:prstGeom>
          <a:solidFill>
            <a:srgbClr val="E8F4ED"/>
          </a:solidFill>
          <a:ln w="12700">
            <a:solidFill>
              <a:srgbClr val="1B7A46"/>
            </a:solidFill>
            <a:prstDash val="solid"/>
          </a:ln>
        </p:spPr>
        <p:txBody>
          <a:bodyPr/>
          <a:lstStyle/>
          <a:p>
            <a:endParaRPr lang="en-US"/>
          </a:p>
        </p:txBody>
      </p:sp>
      <p:sp>
        <p:nvSpPr>
          <p:cNvPr id="12" name="Text 10"/>
          <p:cNvSpPr txBox="1"/>
          <p:nvPr/>
        </p:nvSpPr>
        <p:spPr>
          <a:xfrm>
            <a:off x="640080" y="4206240"/>
            <a:ext cx="7863840" cy="530352"/>
          </a:xfrm>
          <a:prstGeom prst="rect">
            <a:avLst/>
          </a:prstGeom>
          <a:noFill/>
          <a:ln/>
        </p:spPr>
        <p:txBody>
          <a:bodyPr wrap="square" lIns="0" tIns="0" rIns="0" bIns="0" rtlCol="0" anchor="ctr"/>
          <a:lstStyle/>
          <a:p>
            <a:pPr marL="0" indent="0">
              <a:buNone/>
            </a:pPr>
            <a:r>
              <a:rPr lang="en-US" sz="1200" b="1" dirty="0">
                <a:solidFill>
                  <a:srgbClr val="1B7A46"/>
                </a:solidFill>
                <a:latin typeface="Calibri" pitchFamily="34" charset="0"/>
                <a:ea typeface="Calibri" pitchFamily="34" charset="-122"/>
                <a:cs typeface="Calibri" pitchFamily="34" charset="-120"/>
              </a:rPr>
              <a:t>Today the labels go away — and with them, the idea of a right answer.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12233F"/>
        </a:solidFill>
        <a:effectLst/>
      </p:bgPr>
    </p:bg>
    <p:spTree>
      <p:nvGrpSpPr>
        <p:cNvPr id="1" name=""/>
        <p:cNvGrpSpPr/>
        <p:nvPr/>
      </p:nvGrpSpPr>
      <p:grpSpPr>
        <a:xfrm>
          <a:off x="0" y="0"/>
          <a:ext cx="0" cy="0"/>
          <a:chOff x="0" y="0"/>
          <a:chExt cx="0" cy="0"/>
        </a:xfrm>
      </p:grpSpPr>
      <p:sp>
        <p:nvSpPr>
          <p:cNvPr id="2" name="Text 0"/>
          <p:cNvSpPr txBox="1"/>
          <p:nvPr/>
        </p:nvSpPr>
        <p:spPr>
          <a:xfrm>
            <a:off x="457200" y="1051560"/>
            <a:ext cx="8229600" cy="365760"/>
          </a:xfrm>
          <a:prstGeom prst="rect">
            <a:avLst/>
          </a:prstGeom>
          <a:noFill/>
          <a:ln/>
        </p:spPr>
        <p:txBody>
          <a:bodyPr wrap="square" lIns="0" tIns="0" rIns="0" bIns="0" rtlCol="0" anchor="ctr"/>
          <a:lstStyle/>
          <a:p>
            <a:pPr marL="0" indent="0">
              <a:buNone/>
            </a:pPr>
            <a:r>
              <a:rPr lang="en-US" sz="1400" b="1" kern="0" spc="150" dirty="0">
                <a:solidFill>
                  <a:srgbClr val="FFC72C"/>
                </a:solidFill>
                <a:latin typeface="Calibri" pitchFamily="34" charset="0"/>
                <a:ea typeface="Calibri" pitchFamily="34" charset="-122"/>
                <a:cs typeface="Calibri" pitchFamily="34" charset="-120"/>
              </a:rPr>
              <a:t>A question first</a:t>
            </a:r>
            <a:endParaRPr lang="en-US" sz="1400" dirty="0"/>
          </a:p>
        </p:txBody>
      </p:sp>
      <p:sp>
        <p:nvSpPr>
          <p:cNvPr id="3" name="Text 1"/>
          <p:cNvSpPr txBox="1"/>
          <p:nvPr/>
        </p:nvSpPr>
        <p:spPr>
          <a:xfrm>
            <a:off x="457200" y="1554480"/>
            <a:ext cx="8229600" cy="1600200"/>
          </a:xfrm>
          <a:prstGeom prst="rect">
            <a:avLst/>
          </a:prstGeom>
          <a:noFill/>
          <a:ln/>
        </p:spPr>
        <p:txBody>
          <a:bodyPr wrap="square" lIns="0" tIns="0" rIns="0" bIns="0" rtlCol="0" anchor="ctr"/>
          <a:lstStyle/>
          <a:p>
            <a:pPr marL="0" indent="0">
              <a:lnSpc>
                <a:spcPct val="115000"/>
              </a:lnSpc>
              <a:buNone/>
            </a:pPr>
            <a:r>
              <a:rPr lang="en-US" sz="2600" b="1" dirty="0">
                <a:solidFill>
                  <a:srgbClr val="FFFFFF"/>
                </a:solidFill>
                <a:latin typeface="Cambria" pitchFamily="34" charset="0"/>
                <a:ea typeface="Cambria" pitchFamily="34" charset="-122"/>
                <a:cs typeface="Cambria" pitchFamily="34" charset="-120"/>
              </a:rPr>
              <a:t>I hand you 300 photographs of animals</a:t>
            </a:r>
            <a:endParaRPr lang="en-US" sz="2600" dirty="0"/>
          </a:p>
          <a:p>
            <a:pPr marL="0" indent="0">
              <a:lnSpc>
                <a:spcPct val="115000"/>
              </a:lnSpc>
              <a:buNone/>
            </a:pPr>
            <a:r>
              <a:rPr lang="en-US" sz="2600" b="1" dirty="0">
                <a:solidFill>
                  <a:srgbClr val="FFFFFF"/>
                </a:solidFill>
                <a:latin typeface="Cambria" pitchFamily="34" charset="0"/>
                <a:ea typeface="Cambria" pitchFamily="34" charset="-122"/>
                <a:cs typeface="Cambria" pitchFamily="34" charset="-120"/>
              </a:rPr>
              <a:t>from an island nobody has visited.</a:t>
            </a:r>
            <a:endParaRPr lang="en-US" sz="2600" dirty="0"/>
          </a:p>
          <a:p>
            <a:pPr marL="0" indent="0">
              <a:lnSpc>
                <a:spcPct val="115000"/>
              </a:lnSpc>
              <a:buNone/>
            </a:pPr>
            <a:endParaRPr lang="en-US" sz="2600" dirty="0"/>
          </a:p>
          <a:p>
            <a:pPr marL="0" indent="0">
              <a:lnSpc>
                <a:spcPct val="115000"/>
              </a:lnSpc>
              <a:buNone/>
            </a:pPr>
            <a:r>
              <a:rPr lang="en-US" sz="2600" b="1" dirty="0">
                <a:solidFill>
                  <a:srgbClr val="FFFFFF"/>
                </a:solidFill>
                <a:latin typeface="Cambria" pitchFamily="34" charset="0"/>
                <a:ea typeface="Cambria" pitchFamily="34" charset="-122"/>
                <a:cs typeface="Cambria" pitchFamily="34" charset="-120"/>
              </a:rPr>
              <a:t>No names. No labels. Nothing.</a:t>
            </a:r>
            <a:endParaRPr lang="en-US" sz="2600" dirty="0"/>
          </a:p>
        </p:txBody>
      </p:sp>
      <p:sp>
        <p:nvSpPr>
          <p:cNvPr id="4" name="Text 2"/>
          <p:cNvSpPr txBox="1"/>
          <p:nvPr/>
        </p:nvSpPr>
        <p:spPr>
          <a:xfrm>
            <a:off x="457200" y="3310128"/>
            <a:ext cx="8229600" cy="457200"/>
          </a:xfrm>
          <a:prstGeom prst="rect">
            <a:avLst/>
          </a:prstGeom>
          <a:noFill/>
          <a:ln/>
        </p:spPr>
        <p:txBody>
          <a:bodyPr wrap="square" lIns="0" tIns="0" rIns="0" bIns="0" rtlCol="0" anchor="ctr"/>
          <a:lstStyle/>
          <a:p>
            <a:pPr marL="0" indent="0">
              <a:buNone/>
            </a:pPr>
            <a:r>
              <a:rPr lang="en-US" sz="1800" dirty="0">
                <a:solidFill>
                  <a:srgbClr val="FFC72C"/>
                </a:solidFill>
                <a:latin typeface="Calibri" pitchFamily="34" charset="0"/>
                <a:ea typeface="Calibri" pitchFamily="34" charset="-122"/>
                <a:cs typeface="Calibri" pitchFamily="34" charset="-120"/>
              </a:rPr>
              <a:t>What is the first thing you do?</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457200" y="384048"/>
            <a:ext cx="118872" cy="118872"/>
          </a:xfrm>
          <a:prstGeom prst="ellipse">
            <a:avLst/>
          </a:prstGeom>
          <a:solidFill>
            <a:srgbClr val="FFC72C"/>
          </a:solidFill>
          <a:ln w="12700">
            <a:solidFill>
              <a:srgbClr val="FFC72C"/>
            </a:solidFill>
            <a:prstDash val="solid"/>
          </a:ln>
        </p:spPr>
        <p:txBody>
          <a:bodyPr/>
          <a:lstStyle/>
          <a:p>
            <a:endParaRPr lang="en-US"/>
          </a:p>
        </p:txBody>
      </p:sp>
      <p:sp>
        <p:nvSpPr>
          <p:cNvPr id="3" name="Text 1"/>
          <p:cNvSpPr txBox="1"/>
          <p:nvPr/>
        </p:nvSpPr>
        <p:spPr>
          <a:xfrm>
            <a:off x="658368" y="329184"/>
            <a:ext cx="8028432" cy="237744"/>
          </a:xfrm>
          <a:prstGeom prst="rect">
            <a:avLst/>
          </a:prstGeom>
          <a:noFill/>
          <a:ln/>
        </p:spPr>
        <p:txBody>
          <a:bodyPr wrap="square" lIns="0" tIns="0" rIns="0" bIns="0" rtlCol="0" anchor="ctr"/>
          <a:lstStyle/>
          <a:p>
            <a:pPr marL="0" indent="0">
              <a:buNone/>
            </a:pPr>
            <a:r>
              <a:rPr lang="en-US" sz="1050" b="1" kern="0" spc="140" dirty="0">
                <a:solidFill>
                  <a:srgbClr val="5A6472"/>
                </a:solidFill>
                <a:latin typeface="Calibri" pitchFamily="34" charset="0"/>
                <a:ea typeface="Calibri" pitchFamily="34" charset="-122"/>
                <a:cs typeface="Calibri" pitchFamily="34" charset="-120"/>
              </a:rPr>
              <a:t>OUTLINE</a:t>
            </a:r>
            <a:endParaRPr lang="en-US" sz="1050" dirty="0"/>
          </a:p>
        </p:txBody>
      </p:sp>
      <p:sp>
        <p:nvSpPr>
          <p:cNvPr id="4" name="Text 2"/>
          <p:cNvSpPr txBox="1"/>
          <p:nvPr/>
        </p:nvSpPr>
        <p:spPr>
          <a:xfrm>
            <a:off x="457200" y="603504"/>
            <a:ext cx="8229600" cy="56692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What we cover today</a:t>
            </a:r>
            <a:endParaRPr lang="en-US" sz="3000" dirty="0"/>
          </a:p>
        </p:txBody>
      </p:sp>
      <p:sp>
        <p:nvSpPr>
          <p:cNvPr id="5" name="Shape 3"/>
          <p:cNvSpPr/>
          <p:nvPr/>
        </p:nvSpPr>
        <p:spPr>
          <a:xfrm>
            <a:off x="457200" y="1325880"/>
            <a:ext cx="384048" cy="384048"/>
          </a:xfrm>
          <a:prstGeom prst="ellipse">
            <a:avLst/>
          </a:prstGeom>
          <a:solidFill>
            <a:srgbClr val="FFC72C"/>
          </a:solidFill>
          <a:ln w="12700">
            <a:solidFill>
              <a:srgbClr val="FFC72C"/>
            </a:solidFill>
            <a:prstDash val="solid"/>
          </a:ln>
        </p:spPr>
        <p:txBody>
          <a:bodyPr/>
          <a:lstStyle/>
          <a:p>
            <a:endParaRPr lang="en-US"/>
          </a:p>
        </p:txBody>
      </p:sp>
      <p:sp>
        <p:nvSpPr>
          <p:cNvPr id="6" name="Text 4"/>
          <p:cNvSpPr txBox="1"/>
          <p:nvPr/>
        </p:nvSpPr>
        <p:spPr>
          <a:xfrm>
            <a:off x="457200" y="1325880"/>
            <a:ext cx="384048" cy="384048"/>
          </a:xfrm>
          <a:prstGeom prst="rect">
            <a:avLst/>
          </a:prstGeom>
          <a:noFill/>
          <a:ln/>
        </p:spPr>
        <p:txBody>
          <a:bodyPr wrap="square" lIns="0" tIns="0" rIns="0" bIns="0" rtlCol="0" anchor="ctr"/>
          <a:lstStyle/>
          <a:p>
            <a:pPr marL="0" indent="0" algn="ctr">
              <a:buNone/>
            </a:pPr>
            <a:r>
              <a:rPr lang="en-US" sz="1500" b="1" dirty="0">
                <a:solidFill>
                  <a:srgbClr val="12233F"/>
                </a:solidFill>
                <a:latin typeface="Cambria" pitchFamily="34" charset="0"/>
                <a:ea typeface="Cambria" pitchFamily="34" charset="-122"/>
                <a:cs typeface="Cambria" pitchFamily="34" charset="-120"/>
              </a:rPr>
              <a:t>1</a:t>
            </a:r>
            <a:endParaRPr lang="en-US" sz="1500" dirty="0"/>
          </a:p>
        </p:txBody>
      </p:sp>
      <p:sp>
        <p:nvSpPr>
          <p:cNvPr id="7" name="Text 5"/>
          <p:cNvSpPr txBox="1"/>
          <p:nvPr/>
        </p:nvSpPr>
        <p:spPr>
          <a:xfrm>
            <a:off x="1024128" y="1298448"/>
            <a:ext cx="7662672" cy="475488"/>
          </a:xfrm>
          <a:prstGeom prst="rect">
            <a:avLst/>
          </a:prstGeom>
          <a:noFill/>
          <a:ln/>
        </p:spPr>
        <p:txBody>
          <a:bodyPr wrap="square" lIns="0" tIns="0" rIns="0" bIns="0" rtlCol="0" anchor="ctr"/>
          <a:lstStyle/>
          <a:p>
            <a:pPr marL="0" indent="0">
              <a:buNone/>
            </a:pPr>
            <a:r>
              <a:rPr lang="en-US" sz="1500" b="1" dirty="0">
                <a:solidFill>
                  <a:schemeClr val="accent1"/>
                </a:solidFill>
                <a:latin typeface="Calibri" pitchFamily="34" charset="0"/>
                <a:ea typeface="Calibri" pitchFamily="34" charset="-122"/>
                <a:cs typeface="Calibri" pitchFamily="34" charset="-120"/>
              </a:rPr>
              <a:t>Clustering</a:t>
            </a:r>
            <a:endParaRPr lang="en-US" sz="1500" dirty="0">
              <a:solidFill>
                <a:schemeClr val="accent1"/>
              </a:solidFill>
            </a:endParaRPr>
          </a:p>
          <a:p>
            <a:pPr marL="0" indent="0">
              <a:buNone/>
            </a:pPr>
            <a:r>
              <a:rPr lang="en-US" sz="1200" dirty="0">
                <a:solidFill>
                  <a:srgbClr val="AEBBCE"/>
                </a:solidFill>
                <a:latin typeface="Calibri" pitchFamily="34" charset="0"/>
                <a:ea typeface="Calibri" pitchFamily="34" charset="-122"/>
                <a:cs typeface="Calibri" pitchFamily="34" charset="-120"/>
              </a:rPr>
              <a:t>Learning when there is no answer key</a:t>
            </a:r>
            <a:endParaRPr lang="en-US" sz="1500" dirty="0"/>
          </a:p>
        </p:txBody>
      </p:sp>
      <p:sp>
        <p:nvSpPr>
          <p:cNvPr id="8" name="Shape 6"/>
          <p:cNvSpPr/>
          <p:nvPr/>
        </p:nvSpPr>
        <p:spPr>
          <a:xfrm>
            <a:off x="457200" y="1947672"/>
            <a:ext cx="384048" cy="384048"/>
          </a:xfrm>
          <a:prstGeom prst="ellipse">
            <a:avLst/>
          </a:prstGeom>
          <a:solidFill>
            <a:srgbClr val="FFC72C"/>
          </a:solidFill>
          <a:ln w="12700">
            <a:solidFill>
              <a:srgbClr val="FFC72C"/>
            </a:solidFill>
            <a:prstDash val="solid"/>
          </a:ln>
        </p:spPr>
        <p:txBody>
          <a:bodyPr/>
          <a:lstStyle/>
          <a:p>
            <a:endParaRPr lang="en-US"/>
          </a:p>
        </p:txBody>
      </p:sp>
      <p:sp>
        <p:nvSpPr>
          <p:cNvPr id="9" name="Text 7"/>
          <p:cNvSpPr txBox="1"/>
          <p:nvPr/>
        </p:nvSpPr>
        <p:spPr>
          <a:xfrm>
            <a:off x="457200" y="1947672"/>
            <a:ext cx="384048" cy="384048"/>
          </a:xfrm>
          <a:prstGeom prst="rect">
            <a:avLst/>
          </a:prstGeom>
          <a:noFill/>
          <a:ln/>
        </p:spPr>
        <p:txBody>
          <a:bodyPr wrap="square" lIns="0" tIns="0" rIns="0" bIns="0" rtlCol="0" anchor="ctr"/>
          <a:lstStyle/>
          <a:p>
            <a:pPr marL="0" indent="0" algn="ctr">
              <a:buNone/>
            </a:pPr>
            <a:r>
              <a:rPr lang="en-US" sz="1500" b="1" dirty="0">
                <a:solidFill>
                  <a:srgbClr val="12233F"/>
                </a:solidFill>
                <a:latin typeface="Cambria" pitchFamily="34" charset="0"/>
                <a:ea typeface="Cambria" pitchFamily="34" charset="-122"/>
                <a:cs typeface="Cambria" pitchFamily="34" charset="-120"/>
              </a:rPr>
              <a:t>2</a:t>
            </a:r>
            <a:endParaRPr lang="en-US" sz="1500" dirty="0"/>
          </a:p>
        </p:txBody>
      </p:sp>
      <p:sp>
        <p:nvSpPr>
          <p:cNvPr id="10" name="Text 8"/>
          <p:cNvSpPr txBox="1"/>
          <p:nvPr/>
        </p:nvSpPr>
        <p:spPr>
          <a:xfrm>
            <a:off x="1024128" y="1920240"/>
            <a:ext cx="7662672" cy="475488"/>
          </a:xfrm>
          <a:prstGeom prst="rect">
            <a:avLst/>
          </a:prstGeom>
          <a:noFill/>
          <a:ln/>
        </p:spPr>
        <p:txBody>
          <a:bodyPr wrap="square" lIns="0" tIns="0" rIns="0" bIns="0" rtlCol="0" anchor="ctr"/>
          <a:lstStyle/>
          <a:p>
            <a:pPr marL="0" indent="0">
              <a:buNone/>
            </a:pPr>
            <a:r>
              <a:rPr lang="en-US" sz="1500" b="1" dirty="0">
                <a:solidFill>
                  <a:schemeClr val="accent1"/>
                </a:solidFill>
                <a:latin typeface="Calibri" pitchFamily="34" charset="0"/>
                <a:ea typeface="Calibri" pitchFamily="34" charset="-122"/>
                <a:cs typeface="Calibri" pitchFamily="34" charset="-120"/>
              </a:rPr>
              <a:t>K-Means</a:t>
            </a:r>
            <a:endParaRPr lang="en-US" sz="1500" dirty="0">
              <a:solidFill>
                <a:schemeClr val="accent1"/>
              </a:solidFill>
            </a:endParaRPr>
          </a:p>
          <a:p>
            <a:pPr marL="0" indent="0">
              <a:buNone/>
            </a:pPr>
            <a:r>
              <a:rPr lang="en-US" sz="1200" dirty="0">
                <a:solidFill>
                  <a:srgbClr val="AEBBCE"/>
                </a:solidFill>
                <a:latin typeface="Calibri" pitchFamily="34" charset="0"/>
                <a:ea typeface="Calibri" pitchFamily="34" charset="-122"/>
                <a:cs typeface="Calibri" pitchFamily="34" charset="-120"/>
              </a:rPr>
              <a:t>The most intuitive clustering algorithm</a:t>
            </a:r>
            <a:endParaRPr lang="en-US" sz="1500" dirty="0"/>
          </a:p>
        </p:txBody>
      </p:sp>
      <p:sp>
        <p:nvSpPr>
          <p:cNvPr id="11" name="Shape 9"/>
          <p:cNvSpPr/>
          <p:nvPr/>
        </p:nvSpPr>
        <p:spPr>
          <a:xfrm>
            <a:off x="457200" y="2569464"/>
            <a:ext cx="384048" cy="384048"/>
          </a:xfrm>
          <a:prstGeom prst="ellipse">
            <a:avLst/>
          </a:prstGeom>
          <a:solidFill>
            <a:srgbClr val="FFC72C"/>
          </a:solidFill>
          <a:ln w="12700">
            <a:solidFill>
              <a:srgbClr val="FFC72C"/>
            </a:solidFill>
            <a:prstDash val="solid"/>
          </a:ln>
        </p:spPr>
        <p:txBody>
          <a:bodyPr/>
          <a:lstStyle/>
          <a:p>
            <a:endParaRPr lang="en-US"/>
          </a:p>
        </p:txBody>
      </p:sp>
      <p:sp>
        <p:nvSpPr>
          <p:cNvPr id="12" name="Text 10"/>
          <p:cNvSpPr txBox="1"/>
          <p:nvPr/>
        </p:nvSpPr>
        <p:spPr>
          <a:xfrm>
            <a:off x="457200" y="2569464"/>
            <a:ext cx="384048" cy="384048"/>
          </a:xfrm>
          <a:prstGeom prst="rect">
            <a:avLst/>
          </a:prstGeom>
          <a:noFill/>
          <a:ln/>
        </p:spPr>
        <p:txBody>
          <a:bodyPr wrap="square" lIns="0" tIns="0" rIns="0" bIns="0" rtlCol="0" anchor="ctr"/>
          <a:lstStyle/>
          <a:p>
            <a:pPr marL="0" indent="0" algn="ctr">
              <a:buNone/>
            </a:pPr>
            <a:r>
              <a:rPr lang="en-US" sz="1500" b="1" dirty="0">
                <a:solidFill>
                  <a:srgbClr val="12233F"/>
                </a:solidFill>
                <a:latin typeface="Cambria" pitchFamily="34" charset="0"/>
                <a:ea typeface="Cambria" pitchFamily="34" charset="-122"/>
                <a:cs typeface="Cambria" pitchFamily="34" charset="-120"/>
              </a:rPr>
              <a:t>3</a:t>
            </a:r>
            <a:endParaRPr lang="en-US" sz="1500" dirty="0"/>
          </a:p>
        </p:txBody>
      </p:sp>
      <p:sp>
        <p:nvSpPr>
          <p:cNvPr id="13" name="Text 11"/>
          <p:cNvSpPr txBox="1"/>
          <p:nvPr/>
        </p:nvSpPr>
        <p:spPr>
          <a:xfrm>
            <a:off x="1024128" y="2542032"/>
            <a:ext cx="7662672" cy="475488"/>
          </a:xfrm>
          <a:prstGeom prst="rect">
            <a:avLst/>
          </a:prstGeom>
          <a:noFill/>
          <a:ln/>
        </p:spPr>
        <p:txBody>
          <a:bodyPr wrap="square" lIns="0" tIns="0" rIns="0" bIns="0" rtlCol="0" anchor="ctr"/>
          <a:lstStyle/>
          <a:p>
            <a:pPr marL="0" indent="0">
              <a:buNone/>
            </a:pPr>
            <a:r>
              <a:rPr lang="en-US" sz="1500" b="1" dirty="0">
                <a:solidFill>
                  <a:schemeClr val="accent1"/>
                </a:solidFill>
                <a:latin typeface="Calibri" pitchFamily="34" charset="0"/>
                <a:ea typeface="Calibri" pitchFamily="34" charset="-122"/>
                <a:cs typeface="Calibri" pitchFamily="34" charset="-120"/>
              </a:rPr>
              <a:t>Optimizing K-Means</a:t>
            </a:r>
            <a:endParaRPr lang="en-US" sz="1500" dirty="0">
              <a:solidFill>
                <a:schemeClr val="accent1"/>
              </a:solidFill>
            </a:endParaRPr>
          </a:p>
          <a:p>
            <a:pPr marL="0" indent="0">
              <a:buNone/>
            </a:pPr>
            <a:r>
              <a:rPr lang="en-US" sz="1200" dirty="0">
                <a:solidFill>
                  <a:srgbClr val="AEBBCE"/>
                </a:solidFill>
                <a:latin typeface="Calibri" pitchFamily="34" charset="0"/>
                <a:ea typeface="Calibri" pitchFamily="34" charset="-122"/>
                <a:cs typeface="Calibri" pitchFamily="34" charset="-120"/>
              </a:rPr>
              <a:t>Local minima, K-Means++, and choosing K</a:t>
            </a:r>
            <a:endParaRPr lang="en-US" sz="1500" dirty="0"/>
          </a:p>
        </p:txBody>
      </p:sp>
      <p:sp>
        <p:nvSpPr>
          <p:cNvPr id="14" name="Shape 12"/>
          <p:cNvSpPr/>
          <p:nvPr/>
        </p:nvSpPr>
        <p:spPr>
          <a:xfrm>
            <a:off x="457200" y="3191256"/>
            <a:ext cx="384048" cy="384048"/>
          </a:xfrm>
          <a:prstGeom prst="ellipse">
            <a:avLst/>
          </a:prstGeom>
          <a:solidFill>
            <a:srgbClr val="FFC72C"/>
          </a:solidFill>
          <a:ln w="12700">
            <a:solidFill>
              <a:srgbClr val="FFC72C"/>
            </a:solidFill>
            <a:prstDash val="solid"/>
          </a:ln>
        </p:spPr>
        <p:txBody>
          <a:bodyPr/>
          <a:lstStyle/>
          <a:p>
            <a:endParaRPr lang="en-US"/>
          </a:p>
        </p:txBody>
      </p:sp>
      <p:sp>
        <p:nvSpPr>
          <p:cNvPr id="15" name="Text 13"/>
          <p:cNvSpPr txBox="1"/>
          <p:nvPr/>
        </p:nvSpPr>
        <p:spPr>
          <a:xfrm>
            <a:off x="457200" y="3191256"/>
            <a:ext cx="384048" cy="384048"/>
          </a:xfrm>
          <a:prstGeom prst="rect">
            <a:avLst/>
          </a:prstGeom>
          <a:noFill/>
          <a:ln/>
        </p:spPr>
        <p:txBody>
          <a:bodyPr wrap="square" lIns="0" tIns="0" rIns="0" bIns="0" rtlCol="0" anchor="ctr"/>
          <a:lstStyle/>
          <a:p>
            <a:pPr marL="0" indent="0" algn="ctr">
              <a:buNone/>
            </a:pPr>
            <a:r>
              <a:rPr lang="en-US" sz="1500" b="1" dirty="0">
                <a:solidFill>
                  <a:srgbClr val="12233F"/>
                </a:solidFill>
                <a:latin typeface="Cambria" pitchFamily="34" charset="0"/>
                <a:ea typeface="Cambria" pitchFamily="34" charset="-122"/>
                <a:cs typeface="Cambria" pitchFamily="34" charset="-120"/>
              </a:rPr>
              <a:t>4</a:t>
            </a:r>
            <a:endParaRPr lang="en-US" sz="1500" dirty="0"/>
          </a:p>
        </p:txBody>
      </p:sp>
      <p:sp>
        <p:nvSpPr>
          <p:cNvPr id="16" name="Text 14"/>
          <p:cNvSpPr txBox="1"/>
          <p:nvPr/>
        </p:nvSpPr>
        <p:spPr>
          <a:xfrm>
            <a:off x="1024128" y="3163824"/>
            <a:ext cx="7662672" cy="475488"/>
          </a:xfrm>
          <a:prstGeom prst="rect">
            <a:avLst/>
          </a:prstGeom>
          <a:noFill/>
          <a:ln/>
        </p:spPr>
        <p:txBody>
          <a:bodyPr wrap="square" lIns="0" tIns="0" rIns="0" bIns="0" rtlCol="0" anchor="ctr"/>
          <a:lstStyle/>
          <a:p>
            <a:pPr marL="0" indent="0">
              <a:buNone/>
            </a:pPr>
            <a:r>
              <a:rPr lang="en-US" sz="1500" b="1" dirty="0">
                <a:solidFill>
                  <a:schemeClr val="accent1"/>
                </a:solidFill>
                <a:latin typeface="Calibri" pitchFamily="34" charset="0"/>
                <a:ea typeface="Calibri" pitchFamily="34" charset="-122"/>
                <a:cs typeface="Calibri" pitchFamily="34" charset="-120"/>
              </a:rPr>
              <a:t>Hierarchical Clustering</a:t>
            </a:r>
            <a:endParaRPr lang="en-US" sz="1500" dirty="0">
              <a:solidFill>
                <a:schemeClr val="accent1"/>
              </a:solidFill>
            </a:endParaRPr>
          </a:p>
          <a:p>
            <a:pPr marL="0" indent="0">
              <a:buNone/>
            </a:pPr>
            <a:r>
              <a:rPr lang="en-US" sz="1200" dirty="0">
                <a:solidFill>
                  <a:srgbClr val="AEBBCE"/>
                </a:solidFill>
                <a:latin typeface="Calibri" pitchFamily="34" charset="0"/>
                <a:ea typeface="Calibri" pitchFamily="34" charset="-122"/>
                <a:cs typeface="Calibri" pitchFamily="34" charset="-120"/>
              </a:rPr>
              <a:t>Build the whole tree, cut it later</a:t>
            </a:r>
            <a:endParaRPr lang="en-US" sz="1500" dirty="0"/>
          </a:p>
        </p:txBody>
      </p:sp>
      <p:sp>
        <p:nvSpPr>
          <p:cNvPr id="17" name="Shape 15"/>
          <p:cNvSpPr/>
          <p:nvPr/>
        </p:nvSpPr>
        <p:spPr>
          <a:xfrm>
            <a:off x="457200" y="3813048"/>
            <a:ext cx="384048" cy="384048"/>
          </a:xfrm>
          <a:prstGeom prst="ellipse">
            <a:avLst/>
          </a:prstGeom>
          <a:solidFill>
            <a:srgbClr val="FFC72C"/>
          </a:solidFill>
          <a:ln w="12700">
            <a:solidFill>
              <a:srgbClr val="FFC72C"/>
            </a:solidFill>
            <a:prstDash val="solid"/>
          </a:ln>
        </p:spPr>
        <p:txBody>
          <a:bodyPr/>
          <a:lstStyle/>
          <a:p>
            <a:endParaRPr lang="en-US"/>
          </a:p>
        </p:txBody>
      </p:sp>
      <p:sp>
        <p:nvSpPr>
          <p:cNvPr id="18" name="Text 16"/>
          <p:cNvSpPr txBox="1"/>
          <p:nvPr/>
        </p:nvSpPr>
        <p:spPr>
          <a:xfrm>
            <a:off x="457200" y="3813048"/>
            <a:ext cx="384048" cy="384048"/>
          </a:xfrm>
          <a:prstGeom prst="rect">
            <a:avLst/>
          </a:prstGeom>
          <a:noFill/>
          <a:ln/>
        </p:spPr>
        <p:txBody>
          <a:bodyPr wrap="square" lIns="0" tIns="0" rIns="0" bIns="0" rtlCol="0" anchor="ctr"/>
          <a:lstStyle/>
          <a:p>
            <a:pPr marL="0" indent="0" algn="ctr">
              <a:buNone/>
            </a:pPr>
            <a:r>
              <a:rPr lang="en-US" sz="1500" b="1" dirty="0">
                <a:solidFill>
                  <a:srgbClr val="12233F"/>
                </a:solidFill>
                <a:latin typeface="Cambria" pitchFamily="34" charset="0"/>
                <a:ea typeface="Cambria" pitchFamily="34" charset="-122"/>
                <a:cs typeface="Cambria" pitchFamily="34" charset="-120"/>
              </a:rPr>
              <a:t>5</a:t>
            </a:r>
            <a:endParaRPr lang="en-US" sz="1500" dirty="0"/>
          </a:p>
        </p:txBody>
      </p:sp>
      <p:sp>
        <p:nvSpPr>
          <p:cNvPr id="19" name="Text 17"/>
          <p:cNvSpPr txBox="1"/>
          <p:nvPr/>
        </p:nvSpPr>
        <p:spPr>
          <a:xfrm>
            <a:off x="1024128" y="3785616"/>
            <a:ext cx="7662672" cy="475488"/>
          </a:xfrm>
          <a:prstGeom prst="rect">
            <a:avLst/>
          </a:prstGeom>
          <a:noFill/>
          <a:ln/>
        </p:spPr>
        <p:txBody>
          <a:bodyPr wrap="square" lIns="0" tIns="0" rIns="0" bIns="0" rtlCol="0" anchor="ctr"/>
          <a:lstStyle/>
          <a:p>
            <a:pPr marL="0" indent="0">
              <a:buNone/>
            </a:pPr>
            <a:r>
              <a:rPr lang="en-US" sz="1500" b="1" dirty="0">
                <a:solidFill>
                  <a:schemeClr val="accent1"/>
                </a:solidFill>
                <a:latin typeface="Calibri" pitchFamily="34" charset="0"/>
                <a:ea typeface="Calibri" pitchFamily="34" charset="-122"/>
                <a:cs typeface="Calibri" pitchFamily="34" charset="-120"/>
              </a:rPr>
              <a:t>Dimensionality Reduction</a:t>
            </a:r>
            <a:endParaRPr lang="en-US" sz="1500" dirty="0">
              <a:solidFill>
                <a:schemeClr val="accent1"/>
              </a:solidFill>
            </a:endParaRPr>
          </a:p>
          <a:p>
            <a:pPr marL="0" indent="0">
              <a:buNone/>
            </a:pPr>
            <a:r>
              <a:rPr lang="en-US" sz="1200" dirty="0">
                <a:solidFill>
                  <a:srgbClr val="AEBBCE"/>
                </a:solidFill>
                <a:latin typeface="Calibri" pitchFamily="34" charset="0"/>
                <a:ea typeface="Calibri" pitchFamily="34" charset="-122"/>
                <a:cs typeface="Calibri" pitchFamily="34" charset="-120"/>
              </a:rPr>
              <a:t>PCA, t-SNE, and UMAP</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457200" y="384048"/>
            <a:ext cx="118872" cy="118872"/>
          </a:xfrm>
          <a:prstGeom prst="ellipse">
            <a:avLst/>
          </a:prstGeom>
          <a:solidFill>
            <a:srgbClr val="FFC72C"/>
          </a:solidFill>
          <a:ln w="12700">
            <a:solidFill>
              <a:srgbClr val="FFC72C"/>
            </a:solidFill>
            <a:prstDash val="solid"/>
          </a:ln>
        </p:spPr>
        <p:txBody>
          <a:bodyPr/>
          <a:lstStyle/>
          <a:p>
            <a:endParaRPr lang="en-US"/>
          </a:p>
        </p:txBody>
      </p:sp>
      <p:sp>
        <p:nvSpPr>
          <p:cNvPr id="3" name="Text 1"/>
          <p:cNvSpPr txBox="1"/>
          <p:nvPr/>
        </p:nvSpPr>
        <p:spPr>
          <a:xfrm>
            <a:off x="658368" y="329184"/>
            <a:ext cx="8028432" cy="237744"/>
          </a:xfrm>
          <a:prstGeom prst="rect">
            <a:avLst/>
          </a:prstGeom>
          <a:noFill/>
          <a:ln/>
        </p:spPr>
        <p:txBody>
          <a:bodyPr wrap="square" lIns="0" tIns="0" rIns="0" bIns="0" rtlCol="0" anchor="ctr"/>
          <a:lstStyle/>
          <a:p>
            <a:pPr marL="0" indent="0">
              <a:buNone/>
            </a:pPr>
            <a:r>
              <a:rPr lang="en-US" sz="1050" b="1" kern="0" spc="140" dirty="0">
                <a:solidFill>
                  <a:srgbClr val="5A6472"/>
                </a:solidFill>
                <a:latin typeface="Calibri" pitchFamily="34" charset="0"/>
                <a:ea typeface="Calibri" pitchFamily="34" charset="-122"/>
                <a:cs typeface="Calibri" pitchFamily="34" charset="-120"/>
              </a:rPr>
              <a:t>CORE CONCEPT</a:t>
            </a:r>
            <a:endParaRPr lang="en-US" sz="1050" dirty="0"/>
          </a:p>
        </p:txBody>
      </p:sp>
      <p:sp>
        <p:nvSpPr>
          <p:cNvPr id="4" name="Text 2"/>
          <p:cNvSpPr txBox="1"/>
          <p:nvPr/>
        </p:nvSpPr>
        <p:spPr>
          <a:xfrm>
            <a:off x="457200" y="603504"/>
            <a:ext cx="8229600" cy="56692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The metaphor we will use all lecture</a:t>
            </a:r>
            <a:endParaRPr lang="en-US" sz="3000" dirty="0"/>
          </a:p>
        </p:txBody>
      </p:sp>
      <p:sp>
        <p:nvSpPr>
          <p:cNvPr id="5" name="Shape 3"/>
          <p:cNvSpPr/>
          <p:nvPr/>
        </p:nvSpPr>
        <p:spPr>
          <a:xfrm>
            <a:off x="457200" y="1280160"/>
            <a:ext cx="3200400" cy="822960"/>
          </a:xfrm>
          <a:prstGeom prst="roundRect">
            <a:avLst>
              <a:gd name="adj" fmla="val 4444"/>
            </a:avLst>
          </a:prstGeom>
          <a:solidFill>
            <a:srgbClr val="F1F4F8"/>
          </a:solidFill>
          <a:ln w="9525">
            <a:solidFill>
              <a:srgbClr val="D8DFE8"/>
            </a:solidFill>
            <a:prstDash val="solid"/>
          </a:ln>
        </p:spPr>
        <p:txBody>
          <a:bodyPr/>
          <a:lstStyle/>
          <a:p>
            <a:endParaRPr lang="en-US"/>
          </a:p>
        </p:txBody>
      </p:sp>
      <p:sp>
        <p:nvSpPr>
          <p:cNvPr id="6" name="Text 4"/>
          <p:cNvSpPr txBox="1"/>
          <p:nvPr/>
        </p:nvSpPr>
        <p:spPr>
          <a:xfrm>
            <a:off x="640080" y="1280160"/>
            <a:ext cx="2880360" cy="822960"/>
          </a:xfrm>
          <a:prstGeom prst="rect">
            <a:avLst/>
          </a:prstGeom>
          <a:noFill/>
          <a:ln/>
        </p:spPr>
        <p:txBody>
          <a:bodyPr wrap="square" lIns="0" tIns="0" rIns="0" bIns="0" rtlCol="0" anchor="ctr"/>
          <a:lstStyle/>
          <a:p>
            <a:pPr marL="0" indent="0">
              <a:buNone/>
            </a:pPr>
            <a:r>
              <a:rPr lang="en-US" sz="1250" dirty="0">
                <a:solidFill>
                  <a:srgbClr val="1B2430"/>
                </a:solidFill>
                <a:latin typeface="Calibri" pitchFamily="34" charset="0"/>
                <a:ea typeface="Calibri" pitchFamily="34" charset="-122"/>
                <a:cs typeface="Calibri" pitchFamily="34" charset="-120"/>
              </a:rPr>
              <a:t>Sorting photos into piles</a:t>
            </a:r>
            <a:endParaRPr lang="en-US" sz="1250" dirty="0"/>
          </a:p>
        </p:txBody>
      </p:sp>
      <p:sp>
        <p:nvSpPr>
          <p:cNvPr id="7" name="Text 5"/>
          <p:cNvSpPr txBox="1"/>
          <p:nvPr/>
        </p:nvSpPr>
        <p:spPr>
          <a:xfrm>
            <a:off x="3730752" y="1280160"/>
            <a:ext cx="411480" cy="822960"/>
          </a:xfrm>
          <a:prstGeom prst="rect">
            <a:avLst/>
          </a:prstGeom>
          <a:noFill/>
          <a:ln/>
        </p:spPr>
        <p:txBody>
          <a:bodyPr wrap="square" lIns="0" tIns="0" rIns="0" bIns="0" rtlCol="0" anchor="ctr"/>
          <a:lstStyle/>
          <a:p>
            <a:pPr marL="0" indent="0" algn="ctr">
              <a:buNone/>
            </a:pPr>
            <a:r>
              <a:rPr lang="en-US" sz="1700" b="1" dirty="0">
                <a:solidFill>
                  <a:srgbClr val="FFC72C"/>
                </a:solidFill>
                <a:latin typeface="Calibri" pitchFamily="34" charset="0"/>
                <a:ea typeface="Calibri" pitchFamily="34" charset="-122"/>
                <a:cs typeface="Calibri" pitchFamily="34" charset="-120"/>
              </a:rPr>
              <a:t>→</a:t>
            </a:r>
            <a:endParaRPr lang="en-US" sz="1700" dirty="0"/>
          </a:p>
        </p:txBody>
      </p:sp>
      <p:sp>
        <p:nvSpPr>
          <p:cNvPr id="8" name="Shape 6"/>
          <p:cNvSpPr/>
          <p:nvPr/>
        </p:nvSpPr>
        <p:spPr>
          <a:xfrm>
            <a:off x="4224528" y="1280160"/>
            <a:ext cx="4462272" cy="822960"/>
          </a:xfrm>
          <a:prstGeom prst="roundRect">
            <a:avLst>
              <a:gd name="adj" fmla="val 4444"/>
            </a:avLst>
          </a:prstGeom>
          <a:solidFill>
            <a:srgbClr val="F1F4F8"/>
          </a:solidFill>
          <a:ln w="9525">
            <a:solidFill>
              <a:srgbClr val="D8DFE8"/>
            </a:solidFill>
            <a:prstDash val="solid"/>
          </a:ln>
        </p:spPr>
        <p:txBody>
          <a:bodyPr/>
          <a:lstStyle/>
          <a:p>
            <a:endParaRPr lang="en-US"/>
          </a:p>
        </p:txBody>
      </p:sp>
      <p:sp>
        <p:nvSpPr>
          <p:cNvPr id="9" name="Text 7"/>
          <p:cNvSpPr txBox="1"/>
          <p:nvPr/>
        </p:nvSpPr>
        <p:spPr>
          <a:xfrm>
            <a:off x="4407408" y="1280160"/>
            <a:ext cx="4096512" cy="822960"/>
          </a:xfrm>
          <a:prstGeom prst="rect">
            <a:avLst/>
          </a:prstGeom>
          <a:noFill/>
          <a:ln/>
        </p:spPr>
        <p:txBody>
          <a:bodyPr wrap="square" lIns="0" tIns="0" rIns="0" bIns="0" rtlCol="0" anchor="ctr"/>
          <a:lstStyle/>
          <a:p>
            <a:pPr marL="0" indent="0">
              <a:spcAft>
                <a:spcPts val="500"/>
              </a:spcAft>
              <a:buNone/>
            </a:pPr>
            <a:r>
              <a:rPr lang="en-US" sz="1400" b="1" dirty="0">
                <a:solidFill>
                  <a:srgbClr val="1A5FB4"/>
                </a:solidFill>
                <a:latin typeface="Calibri" pitchFamily="34" charset="0"/>
                <a:ea typeface="Calibri" pitchFamily="34" charset="-122"/>
                <a:cs typeface="Calibri" pitchFamily="34" charset="-120"/>
              </a:rPr>
              <a:t>Clustering</a:t>
            </a:r>
            <a:endParaRPr lang="en-US" sz="1400" dirty="0"/>
          </a:p>
          <a:p>
            <a:pPr marL="0" indent="0">
              <a:spcAft>
                <a:spcPts val="500"/>
              </a:spcAft>
              <a:buNone/>
            </a:pPr>
            <a:r>
              <a:rPr lang="en-US" sz="1100" dirty="0">
                <a:solidFill>
                  <a:srgbClr val="1B2430"/>
                </a:solidFill>
                <a:latin typeface="Calibri" pitchFamily="34" charset="0"/>
                <a:ea typeface="Calibri" pitchFamily="34" charset="-122"/>
                <a:cs typeface="Calibri" pitchFamily="34" charset="-120"/>
              </a:rPr>
              <a:t>Group points that look alike</a:t>
            </a:r>
            <a:endParaRPr lang="en-US" sz="1400" dirty="0"/>
          </a:p>
        </p:txBody>
      </p:sp>
      <p:sp>
        <p:nvSpPr>
          <p:cNvPr id="10" name="Shape 8"/>
          <p:cNvSpPr/>
          <p:nvPr/>
        </p:nvSpPr>
        <p:spPr>
          <a:xfrm>
            <a:off x="457200" y="2249424"/>
            <a:ext cx="3200400" cy="822960"/>
          </a:xfrm>
          <a:prstGeom prst="roundRect">
            <a:avLst>
              <a:gd name="adj" fmla="val 4444"/>
            </a:avLst>
          </a:prstGeom>
          <a:solidFill>
            <a:srgbClr val="F1F4F8"/>
          </a:solidFill>
          <a:ln w="9525">
            <a:solidFill>
              <a:srgbClr val="D8DFE8"/>
            </a:solidFill>
            <a:prstDash val="solid"/>
          </a:ln>
        </p:spPr>
        <p:txBody>
          <a:bodyPr/>
          <a:lstStyle/>
          <a:p>
            <a:endParaRPr lang="en-US"/>
          </a:p>
        </p:txBody>
      </p:sp>
      <p:sp>
        <p:nvSpPr>
          <p:cNvPr id="11" name="Text 9"/>
          <p:cNvSpPr txBox="1"/>
          <p:nvPr/>
        </p:nvSpPr>
        <p:spPr>
          <a:xfrm>
            <a:off x="640080" y="2249424"/>
            <a:ext cx="2880360" cy="822960"/>
          </a:xfrm>
          <a:prstGeom prst="rect">
            <a:avLst/>
          </a:prstGeom>
          <a:noFill/>
          <a:ln/>
        </p:spPr>
        <p:txBody>
          <a:bodyPr wrap="square" lIns="0" tIns="0" rIns="0" bIns="0" rtlCol="0" anchor="ctr"/>
          <a:lstStyle/>
          <a:p>
            <a:pPr marL="0" indent="0">
              <a:buNone/>
            </a:pPr>
            <a:r>
              <a:rPr lang="en-US" sz="1250" dirty="0">
                <a:solidFill>
                  <a:srgbClr val="1B2430"/>
                </a:solidFill>
                <a:latin typeface="Calibri" pitchFamily="34" charset="0"/>
                <a:ea typeface="Calibri" pitchFamily="34" charset="-122"/>
                <a:cs typeface="Calibri" pitchFamily="34" charset="-120"/>
              </a:rPr>
              <a:t>Deciding how many piles</a:t>
            </a:r>
            <a:endParaRPr lang="en-US" sz="1250" dirty="0"/>
          </a:p>
        </p:txBody>
      </p:sp>
      <p:sp>
        <p:nvSpPr>
          <p:cNvPr id="12" name="Text 10"/>
          <p:cNvSpPr txBox="1"/>
          <p:nvPr/>
        </p:nvSpPr>
        <p:spPr>
          <a:xfrm>
            <a:off x="3730752" y="2249424"/>
            <a:ext cx="411480" cy="822960"/>
          </a:xfrm>
          <a:prstGeom prst="rect">
            <a:avLst/>
          </a:prstGeom>
          <a:noFill/>
          <a:ln/>
        </p:spPr>
        <p:txBody>
          <a:bodyPr wrap="square" lIns="0" tIns="0" rIns="0" bIns="0" rtlCol="0" anchor="ctr"/>
          <a:lstStyle/>
          <a:p>
            <a:pPr marL="0" indent="0" algn="ctr">
              <a:buNone/>
            </a:pPr>
            <a:r>
              <a:rPr lang="en-US" sz="1700" b="1" dirty="0">
                <a:solidFill>
                  <a:srgbClr val="FFC72C"/>
                </a:solidFill>
                <a:latin typeface="Calibri" pitchFamily="34" charset="0"/>
                <a:ea typeface="Calibri" pitchFamily="34" charset="-122"/>
                <a:cs typeface="Calibri" pitchFamily="34" charset="-120"/>
              </a:rPr>
              <a:t>→</a:t>
            </a:r>
            <a:endParaRPr lang="en-US" sz="1700" dirty="0"/>
          </a:p>
        </p:txBody>
      </p:sp>
      <p:sp>
        <p:nvSpPr>
          <p:cNvPr id="13" name="Shape 11"/>
          <p:cNvSpPr/>
          <p:nvPr/>
        </p:nvSpPr>
        <p:spPr>
          <a:xfrm>
            <a:off x="4224528" y="2249424"/>
            <a:ext cx="4462272" cy="822960"/>
          </a:xfrm>
          <a:prstGeom prst="roundRect">
            <a:avLst>
              <a:gd name="adj" fmla="val 4444"/>
            </a:avLst>
          </a:prstGeom>
          <a:solidFill>
            <a:srgbClr val="F1F4F8"/>
          </a:solidFill>
          <a:ln w="9525">
            <a:solidFill>
              <a:srgbClr val="D8DFE8"/>
            </a:solidFill>
            <a:prstDash val="solid"/>
          </a:ln>
        </p:spPr>
        <p:txBody>
          <a:bodyPr/>
          <a:lstStyle/>
          <a:p>
            <a:endParaRPr lang="en-US"/>
          </a:p>
        </p:txBody>
      </p:sp>
      <p:sp>
        <p:nvSpPr>
          <p:cNvPr id="14" name="Text 12"/>
          <p:cNvSpPr txBox="1"/>
          <p:nvPr/>
        </p:nvSpPr>
        <p:spPr>
          <a:xfrm>
            <a:off x="4407408" y="2249424"/>
            <a:ext cx="4096512" cy="822960"/>
          </a:xfrm>
          <a:prstGeom prst="rect">
            <a:avLst/>
          </a:prstGeom>
          <a:noFill/>
          <a:ln/>
        </p:spPr>
        <p:txBody>
          <a:bodyPr wrap="square" lIns="0" tIns="0" rIns="0" bIns="0" rtlCol="0" anchor="ctr"/>
          <a:lstStyle/>
          <a:p>
            <a:pPr marL="0" indent="0">
              <a:spcAft>
                <a:spcPts val="500"/>
              </a:spcAft>
              <a:buNone/>
            </a:pPr>
            <a:r>
              <a:rPr lang="en-US" sz="1400" b="1" dirty="0">
                <a:solidFill>
                  <a:srgbClr val="1A5FB4"/>
                </a:solidFill>
                <a:latin typeface="Calibri" pitchFamily="34" charset="0"/>
                <a:ea typeface="Calibri" pitchFamily="34" charset="-122"/>
                <a:cs typeface="Calibri" pitchFamily="34" charset="-120"/>
              </a:rPr>
              <a:t>Choosing K</a:t>
            </a:r>
            <a:endParaRPr lang="en-US" sz="1400" dirty="0"/>
          </a:p>
          <a:p>
            <a:pPr marL="0" indent="0">
              <a:spcAft>
                <a:spcPts val="500"/>
              </a:spcAft>
              <a:buNone/>
            </a:pPr>
            <a:r>
              <a:rPr lang="en-US" sz="1100" dirty="0">
                <a:solidFill>
                  <a:srgbClr val="1B2430"/>
                </a:solidFill>
                <a:latin typeface="Calibri" pitchFamily="34" charset="0"/>
                <a:ea typeface="Calibri" pitchFamily="34" charset="-122"/>
                <a:cs typeface="Calibri" pitchFamily="34" charset="-120"/>
              </a:rPr>
              <a:t>Nobody tells you — and no answer is provably right</a:t>
            </a:r>
            <a:endParaRPr lang="en-US" sz="1400" dirty="0"/>
          </a:p>
        </p:txBody>
      </p:sp>
      <p:sp>
        <p:nvSpPr>
          <p:cNvPr id="15" name="Shape 13"/>
          <p:cNvSpPr/>
          <p:nvPr/>
        </p:nvSpPr>
        <p:spPr>
          <a:xfrm>
            <a:off x="457200" y="3218688"/>
            <a:ext cx="3200400" cy="822960"/>
          </a:xfrm>
          <a:prstGeom prst="roundRect">
            <a:avLst>
              <a:gd name="adj" fmla="val 4444"/>
            </a:avLst>
          </a:prstGeom>
          <a:solidFill>
            <a:srgbClr val="F1F4F8"/>
          </a:solidFill>
          <a:ln w="9525">
            <a:solidFill>
              <a:srgbClr val="D8DFE8"/>
            </a:solidFill>
            <a:prstDash val="solid"/>
          </a:ln>
        </p:spPr>
        <p:txBody>
          <a:bodyPr/>
          <a:lstStyle/>
          <a:p>
            <a:endParaRPr lang="en-US"/>
          </a:p>
        </p:txBody>
      </p:sp>
      <p:sp>
        <p:nvSpPr>
          <p:cNvPr id="16" name="Text 14"/>
          <p:cNvSpPr txBox="1"/>
          <p:nvPr/>
        </p:nvSpPr>
        <p:spPr>
          <a:xfrm>
            <a:off x="640080" y="3218688"/>
            <a:ext cx="2880360" cy="822960"/>
          </a:xfrm>
          <a:prstGeom prst="rect">
            <a:avLst/>
          </a:prstGeom>
          <a:noFill/>
          <a:ln/>
        </p:spPr>
        <p:txBody>
          <a:bodyPr wrap="square" lIns="0" tIns="0" rIns="0" bIns="0" rtlCol="0" anchor="ctr"/>
          <a:lstStyle/>
          <a:p>
            <a:pPr marL="0" indent="0">
              <a:buNone/>
            </a:pPr>
            <a:r>
              <a:rPr lang="en-US" sz="1250" dirty="0">
                <a:solidFill>
                  <a:srgbClr val="1B2430"/>
                </a:solidFill>
                <a:latin typeface="Calibri" pitchFamily="34" charset="0"/>
                <a:ea typeface="Calibri" pitchFamily="34" charset="-122"/>
                <a:cs typeface="Calibri" pitchFamily="34" charset="-120"/>
              </a:rPr>
              <a:t>Noticing only fur and beak matter</a:t>
            </a:r>
            <a:endParaRPr lang="en-US" sz="1250" dirty="0"/>
          </a:p>
        </p:txBody>
      </p:sp>
      <p:sp>
        <p:nvSpPr>
          <p:cNvPr id="17" name="Text 15"/>
          <p:cNvSpPr txBox="1"/>
          <p:nvPr/>
        </p:nvSpPr>
        <p:spPr>
          <a:xfrm>
            <a:off x="3730752" y="3218688"/>
            <a:ext cx="411480" cy="822960"/>
          </a:xfrm>
          <a:prstGeom prst="rect">
            <a:avLst/>
          </a:prstGeom>
          <a:noFill/>
          <a:ln/>
        </p:spPr>
        <p:txBody>
          <a:bodyPr wrap="square" lIns="0" tIns="0" rIns="0" bIns="0" rtlCol="0" anchor="ctr"/>
          <a:lstStyle/>
          <a:p>
            <a:pPr marL="0" indent="0" algn="ctr">
              <a:buNone/>
            </a:pPr>
            <a:r>
              <a:rPr lang="en-US" sz="1700" b="1" dirty="0">
                <a:solidFill>
                  <a:srgbClr val="FFC72C"/>
                </a:solidFill>
                <a:latin typeface="Calibri" pitchFamily="34" charset="0"/>
                <a:ea typeface="Calibri" pitchFamily="34" charset="-122"/>
                <a:cs typeface="Calibri" pitchFamily="34" charset="-120"/>
              </a:rPr>
              <a:t>→</a:t>
            </a:r>
            <a:endParaRPr lang="en-US" sz="1700" dirty="0"/>
          </a:p>
        </p:txBody>
      </p:sp>
      <p:sp>
        <p:nvSpPr>
          <p:cNvPr id="18" name="Shape 16"/>
          <p:cNvSpPr/>
          <p:nvPr/>
        </p:nvSpPr>
        <p:spPr>
          <a:xfrm>
            <a:off x="4224528" y="3218688"/>
            <a:ext cx="4462272" cy="822960"/>
          </a:xfrm>
          <a:prstGeom prst="roundRect">
            <a:avLst>
              <a:gd name="adj" fmla="val 4444"/>
            </a:avLst>
          </a:prstGeom>
          <a:solidFill>
            <a:srgbClr val="F1F4F8"/>
          </a:solidFill>
          <a:ln w="9525">
            <a:solidFill>
              <a:srgbClr val="D8DFE8"/>
            </a:solidFill>
            <a:prstDash val="solid"/>
          </a:ln>
        </p:spPr>
        <p:txBody>
          <a:bodyPr/>
          <a:lstStyle/>
          <a:p>
            <a:endParaRPr lang="en-US"/>
          </a:p>
        </p:txBody>
      </p:sp>
      <p:sp>
        <p:nvSpPr>
          <p:cNvPr id="19" name="Text 17"/>
          <p:cNvSpPr txBox="1"/>
          <p:nvPr/>
        </p:nvSpPr>
        <p:spPr>
          <a:xfrm>
            <a:off x="4407408" y="3218688"/>
            <a:ext cx="4096512" cy="822960"/>
          </a:xfrm>
          <a:prstGeom prst="rect">
            <a:avLst/>
          </a:prstGeom>
          <a:noFill/>
          <a:ln/>
        </p:spPr>
        <p:txBody>
          <a:bodyPr wrap="square" lIns="0" tIns="0" rIns="0" bIns="0" rtlCol="0" anchor="ctr"/>
          <a:lstStyle/>
          <a:p>
            <a:pPr marL="0" indent="0">
              <a:spcAft>
                <a:spcPts val="500"/>
              </a:spcAft>
              <a:buNone/>
            </a:pPr>
            <a:r>
              <a:rPr lang="en-US" sz="1400" b="1" dirty="0">
                <a:solidFill>
                  <a:srgbClr val="1A5FB4"/>
                </a:solidFill>
                <a:latin typeface="Calibri" pitchFamily="34" charset="0"/>
                <a:ea typeface="Calibri" pitchFamily="34" charset="-122"/>
                <a:cs typeface="Calibri" pitchFamily="34" charset="-120"/>
              </a:rPr>
              <a:t>Dimensionality reduction</a:t>
            </a:r>
            <a:endParaRPr lang="en-US" sz="1400" dirty="0"/>
          </a:p>
          <a:p>
            <a:pPr marL="0" indent="0">
              <a:spcAft>
                <a:spcPts val="500"/>
              </a:spcAft>
              <a:buNone/>
            </a:pPr>
            <a:r>
              <a:rPr lang="en-US" sz="1100" dirty="0">
                <a:solidFill>
                  <a:srgbClr val="1B2430"/>
                </a:solidFill>
                <a:latin typeface="Calibri" pitchFamily="34" charset="0"/>
                <a:ea typeface="Calibri" pitchFamily="34" charset="-122"/>
                <a:cs typeface="Calibri" pitchFamily="34" charset="-120"/>
              </a:rPr>
              <a:t>Most measurements were not doing any work</a:t>
            </a:r>
            <a:endParaRPr lang="en-US" sz="1400" dirty="0"/>
          </a:p>
        </p:txBody>
      </p:sp>
      <p:sp>
        <p:nvSpPr>
          <p:cNvPr id="20" name="Shape 18"/>
          <p:cNvSpPr/>
          <p:nvPr/>
        </p:nvSpPr>
        <p:spPr>
          <a:xfrm>
            <a:off x="457200" y="4206240"/>
            <a:ext cx="8229600" cy="530352"/>
          </a:xfrm>
          <a:prstGeom prst="roundRect">
            <a:avLst>
              <a:gd name="adj" fmla="val 6897"/>
            </a:avLst>
          </a:prstGeom>
          <a:solidFill>
            <a:srgbClr val="E8F4ED"/>
          </a:solidFill>
          <a:ln w="12700">
            <a:solidFill>
              <a:srgbClr val="1B7A46"/>
            </a:solidFill>
            <a:prstDash val="solid"/>
          </a:ln>
        </p:spPr>
        <p:txBody>
          <a:bodyPr/>
          <a:lstStyle/>
          <a:p>
            <a:endParaRPr lang="en-US"/>
          </a:p>
        </p:txBody>
      </p:sp>
      <p:sp>
        <p:nvSpPr>
          <p:cNvPr id="21" name="Text 19"/>
          <p:cNvSpPr txBox="1"/>
          <p:nvPr/>
        </p:nvSpPr>
        <p:spPr>
          <a:xfrm>
            <a:off x="640080" y="4206240"/>
            <a:ext cx="7863840" cy="530352"/>
          </a:xfrm>
          <a:prstGeom prst="rect">
            <a:avLst/>
          </a:prstGeom>
          <a:noFill/>
          <a:ln/>
        </p:spPr>
        <p:txBody>
          <a:bodyPr wrap="square" lIns="0" tIns="0" rIns="0" bIns="0" rtlCol="0" anchor="ctr"/>
          <a:lstStyle/>
          <a:p>
            <a:pPr marL="0" indent="0">
              <a:buNone/>
            </a:pPr>
            <a:r>
              <a:rPr lang="en-US" sz="1200" b="1" dirty="0">
                <a:solidFill>
                  <a:srgbClr val="1B7A46"/>
                </a:solidFill>
                <a:latin typeface="Calibri" pitchFamily="34" charset="0"/>
                <a:ea typeface="Calibri" pitchFamily="34" charset="-122"/>
                <a:cs typeface="Calibri" pitchFamily="34" charset="-120"/>
              </a:rPr>
              <a:t>Supervised learning asks “is this right?”   Unsupervised learning asks “is this a useful description?”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457200" y="384048"/>
            <a:ext cx="118872" cy="118872"/>
          </a:xfrm>
          <a:prstGeom prst="ellipse">
            <a:avLst/>
          </a:prstGeom>
          <a:solidFill>
            <a:srgbClr val="FFC72C"/>
          </a:solidFill>
          <a:ln w="12700">
            <a:solidFill>
              <a:srgbClr val="FFC72C"/>
            </a:solidFill>
            <a:prstDash val="solid"/>
          </a:ln>
        </p:spPr>
        <p:txBody>
          <a:bodyPr/>
          <a:lstStyle/>
          <a:p>
            <a:endParaRPr lang="en-US"/>
          </a:p>
        </p:txBody>
      </p:sp>
      <p:sp>
        <p:nvSpPr>
          <p:cNvPr id="3" name="Text 1"/>
          <p:cNvSpPr txBox="1"/>
          <p:nvPr/>
        </p:nvSpPr>
        <p:spPr>
          <a:xfrm>
            <a:off x="658368" y="329184"/>
            <a:ext cx="8028432" cy="237744"/>
          </a:xfrm>
          <a:prstGeom prst="rect">
            <a:avLst/>
          </a:prstGeom>
          <a:noFill/>
          <a:ln/>
        </p:spPr>
        <p:txBody>
          <a:bodyPr wrap="square" lIns="0" tIns="0" rIns="0" bIns="0" rtlCol="0" anchor="ctr"/>
          <a:lstStyle/>
          <a:p>
            <a:pPr marL="0" indent="0">
              <a:buNone/>
            </a:pPr>
            <a:r>
              <a:rPr lang="en-US" sz="1050" b="1" kern="0" spc="140" dirty="0">
                <a:solidFill>
                  <a:srgbClr val="5A6472"/>
                </a:solidFill>
                <a:latin typeface="Calibri" pitchFamily="34" charset="0"/>
                <a:ea typeface="Calibri" pitchFamily="34" charset="-122"/>
                <a:cs typeface="Calibri" pitchFamily="34" charset="-120"/>
              </a:rPr>
              <a:t>VOCABULARY</a:t>
            </a:r>
            <a:endParaRPr lang="en-US" sz="1050" dirty="0"/>
          </a:p>
        </p:txBody>
      </p:sp>
      <p:sp>
        <p:nvSpPr>
          <p:cNvPr id="4" name="Text 2"/>
          <p:cNvSpPr txBox="1"/>
          <p:nvPr/>
        </p:nvSpPr>
        <p:spPr>
          <a:xfrm>
            <a:off x="457200" y="603504"/>
            <a:ext cx="8229600" cy="56692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Words we will use today</a:t>
            </a:r>
            <a:endParaRPr lang="en-US" sz="3000" dirty="0"/>
          </a:p>
        </p:txBody>
      </p:sp>
      <p:sp>
        <p:nvSpPr>
          <p:cNvPr id="5" name="Shape 3"/>
          <p:cNvSpPr/>
          <p:nvPr/>
        </p:nvSpPr>
        <p:spPr>
          <a:xfrm>
            <a:off x="457200" y="1280160"/>
            <a:ext cx="4041648" cy="822960"/>
          </a:xfrm>
          <a:prstGeom prst="roundRect">
            <a:avLst>
              <a:gd name="adj" fmla="val 4444"/>
            </a:avLst>
          </a:prstGeom>
          <a:solidFill>
            <a:srgbClr val="F1F4F8"/>
          </a:solidFill>
          <a:ln w="9525">
            <a:solidFill>
              <a:srgbClr val="D8DFE8"/>
            </a:solidFill>
            <a:prstDash val="solid"/>
          </a:ln>
        </p:spPr>
        <p:txBody>
          <a:bodyPr/>
          <a:lstStyle/>
          <a:p>
            <a:endParaRPr lang="en-US"/>
          </a:p>
        </p:txBody>
      </p:sp>
      <p:sp>
        <p:nvSpPr>
          <p:cNvPr id="6" name="Text 4"/>
          <p:cNvSpPr txBox="1"/>
          <p:nvPr/>
        </p:nvSpPr>
        <p:spPr>
          <a:xfrm>
            <a:off x="621792" y="1280160"/>
            <a:ext cx="3712464" cy="822960"/>
          </a:xfrm>
          <a:prstGeom prst="rect">
            <a:avLst/>
          </a:prstGeom>
          <a:noFill/>
          <a:ln/>
        </p:spPr>
        <p:txBody>
          <a:bodyPr wrap="square" lIns="0" tIns="0" rIns="0" bIns="0" rtlCol="0" anchor="ctr"/>
          <a:lstStyle/>
          <a:p>
            <a:pPr marL="0" indent="0">
              <a:spcAft>
                <a:spcPts val="500"/>
              </a:spcAft>
              <a:buNone/>
            </a:pPr>
            <a:r>
              <a:rPr lang="en-US" sz="1250" b="1" dirty="0">
                <a:solidFill>
                  <a:srgbClr val="1A5FB4"/>
                </a:solidFill>
                <a:latin typeface="Calibri" pitchFamily="34" charset="0"/>
                <a:ea typeface="Calibri" pitchFamily="34" charset="-122"/>
                <a:cs typeface="Calibri" pitchFamily="34" charset="-120"/>
              </a:rPr>
              <a:t>Unsupervised learning</a:t>
            </a:r>
            <a:endParaRPr lang="en-US" sz="1250" dirty="0"/>
          </a:p>
          <a:p>
            <a:pPr marL="0" indent="0">
              <a:spcAft>
                <a:spcPts val="500"/>
              </a:spcAft>
              <a:buNone/>
            </a:pPr>
            <a:r>
              <a:rPr lang="en-US" sz="1100" dirty="0">
                <a:solidFill>
                  <a:srgbClr val="1B2430"/>
                </a:solidFill>
                <a:latin typeface="Calibri" pitchFamily="34" charset="0"/>
                <a:ea typeface="Calibri" pitchFamily="34" charset="-122"/>
                <a:cs typeface="Calibri" pitchFamily="34" charset="-120"/>
              </a:rPr>
              <a:t>Finding structure in data that has no target values</a:t>
            </a:r>
            <a:endParaRPr lang="en-US" sz="1250" dirty="0"/>
          </a:p>
        </p:txBody>
      </p:sp>
      <p:sp>
        <p:nvSpPr>
          <p:cNvPr id="7" name="Shape 5"/>
          <p:cNvSpPr/>
          <p:nvPr/>
        </p:nvSpPr>
        <p:spPr>
          <a:xfrm>
            <a:off x="4645152" y="1280160"/>
            <a:ext cx="4041648" cy="822960"/>
          </a:xfrm>
          <a:prstGeom prst="roundRect">
            <a:avLst>
              <a:gd name="adj" fmla="val 4444"/>
            </a:avLst>
          </a:prstGeom>
          <a:solidFill>
            <a:srgbClr val="F1F4F8"/>
          </a:solidFill>
          <a:ln w="9525">
            <a:solidFill>
              <a:srgbClr val="D8DFE8"/>
            </a:solidFill>
            <a:prstDash val="solid"/>
          </a:ln>
        </p:spPr>
        <p:txBody>
          <a:bodyPr/>
          <a:lstStyle/>
          <a:p>
            <a:endParaRPr lang="en-US"/>
          </a:p>
        </p:txBody>
      </p:sp>
      <p:sp>
        <p:nvSpPr>
          <p:cNvPr id="8" name="Text 6"/>
          <p:cNvSpPr txBox="1"/>
          <p:nvPr/>
        </p:nvSpPr>
        <p:spPr>
          <a:xfrm>
            <a:off x="4809744" y="1280160"/>
            <a:ext cx="3712464" cy="822960"/>
          </a:xfrm>
          <a:prstGeom prst="rect">
            <a:avLst/>
          </a:prstGeom>
          <a:noFill/>
          <a:ln/>
        </p:spPr>
        <p:txBody>
          <a:bodyPr wrap="square" lIns="0" tIns="0" rIns="0" bIns="0" rtlCol="0" anchor="ctr"/>
          <a:lstStyle/>
          <a:p>
            <a:pPr marL="0" indent="0">
              <a:spcAft>
                <a:spcPts val="500"/>
              </a:spcAft>
              <a:buNone/>
            </a:pPr>
            <a:r>
              <a:rPr lang="en-US" sz="1250" b="1" dirty="0">
                <a:solidFill>
                  <a:srgbClr val="1A5FB4"/>
                </a:solidFill>
                <a:latin typeface="Calibri" pitchFamily="34" charset="0"/>
                <a:ea typeface="Calibri" pitchFamily="34" charset="-122"/>
                <a:cs typeface="Calibri" pitchFamily="34" charset="-120"/>
              </a:rPr>
              <a:t>Cluster</a:t>
            </a:r>
            <a:endParaRPr lang="en-US" sz="1250" dirty="0"/>
          </a:p>
          <a:p>
            <a:pPr marL="0" indent="0">
              <a:spcAft>
                <a:spcPts val="500"/>
              </a:spcAft>
              <a:buNone/>
            </a:pPr>
            <a:r>
              <a:rPr lang="en-US" sz="1100" dirty="0">
                <a:solidFill>
                  <a:srgbClr val="1B2430"/>
                </a:solidFill>
                <a:latin typeface="Calibri" pitchFamily="34" charset="0"/>
                <a:ea typeface="Calibri" pitchFamily="34" charset="-122"/>
                <a:cs typeface="Calibri" pitchFamily="34" charset="-120"/>
              </a:rPr>
              <a:t>A group of points more similar to each other than to the rest</a:t>
            </a:r>
            <a:endParaRPr lang="en-US" sz="1250" dirty="0"/>
          </a:p>
        </p:txBody>
      </p:sp>
      <p:sp>
        <p:nvSpPr>
          <p:cNvPr id="9" name="Shape 7"/>
          <p:cNvSpPr/>
          <p:nvPr/>
        </p:nvSpPr>
        <p:spPr>
          <a:xfrm>
            <a:off x="457200" y="2249424"/>
            <a:ext cx="4041648" cy="822960"/>
          </a:xfrm>
          <a:prstGeom prst="roundRect">
            <a:avLst>
              <a:gd name="adj" fmla="val 4444"/>
            </a:avLst>
          </a:prstGeom>
          <a:solidFill>
            <a:srgbClr val="F1F4F8"/>
          </a:solidFill>
          <a:ln w="9525">
            <a:solidFill>
              <a:srgbClr val="D8DFE8"/>
            </a:solidFill>
            <a:prstDash val="solid"/>
          </a:ln>
        </p:spPr>
        <p:txBody>
          <a:bodyPr/>
          <a:lstStyle/>
          <a:p>
            <a:endParaRPr lang="en-US"/>
          </a:p>
        </p:txBody>
      </p:sp>
      <p:sp>
        <p:nvSpPr>
          <p:cNvPr id="10" name="Text 8"/>
          <p:cNvSpPr txBox="1"/>
          <p:nvPr/>
        </p:nvSpPr>
        <p:spPr>
          <a:xfrm>
            <a:off x="621792" y="2249424"/>
            <a:ext cx="3712464" cy="822960"/>
          </a:xfrm>
          <a:prstGeom prst="rect">
            <a:avLst/>
          </a:prstGeom>
          <a:noFill/>
          <a:ln/>
        </p:spPr>
        <p:txBody>
          <a:bodyPr wrap="square" lIns="0" tIns="0" rIns="0" bIns="0" rtlCol="0" anchor="ctr"/>
          <a:lstStyle/>
          <a:p>
            <a:pPr marL="0" indent="0">
              <a:spcAft>
                <a:spcPts val="500"/>
              </a:spcAft>
              <a:buNone/>
            </a:pPr>
            <a:r>
              <a:rPr lang="en-US" sz="1250" b="1" dirty="0">
                <a:solidFill>
                  <a:srgbClr val="1A5FB4"/>
                </a:solidFill>
                <a:latin typeface="Calibri" pitchFamily="34" charset="0"/>
                <a:ea typeface="Calibri" pitchFamily="34" charset="-122"/>
                <a:cs typeface="Calibri" pitchFamily="34" charset="-120"/>
              </a:rPr>
              <a:t>Centroid</a:t>
            </a:r>
            <a:endParaRPr lang="en-US" sz="1250" dirty="0"/>
          </a:p>
          <a:p>
            <a:pPr marL="0" indent="0">
              <a:spcAft>
                <a:spcPts val="500"/>
              </a:spcAft>
              <a:buNone/>
            </a:pPr>
            <a:r>
              <a:rPr lang="en-US" sz="1100" dirty="0">
                <a:solidFill>
                  <a:srgbClr val="1B2430"/>
                </a:solidFill>
                <a:latin typeface="Calibri" pitchFamily="34" charset="0"/>
                <a:ea typeface="Calibri" pitchFamily="34" charset="-122"/>
                <a:cs typeface="Calibri" pitchFamily="34" charset="-120"/>
              </a:rPr>
              <a:t>The mean position of all points in a cluster</a:t>
            </a:r>
            <a:endParaRPr lang="en-US" sz="1250" dirty="0"/>
          </a:p>
        </p:txBody>
      </p:sp>
      <p:sp>
        <p:nvSpPr>
          <p:cNvPr id="11" name="Shape 9"/>
          <p:cNvSpPr/>
          <p:nvPr/>
        </p:nvSpPr>
        <p:spPr>
          <a:xfrm>
            <a:off x="4645152" y="2249424"/>
            <a:ext cx="4041648" cy="822960"/>
          </a:xfrm>
          <a:prstGeom prst="roundRect">
            <a:avLst>
              <a:gd name="adj" fmla="val 4444"/>
            </a:avLst>
          </a:prstGeom>
          <a:solidFill>
            <a:srgbClr val="F1F4F8"/>
          </a:solidFill>
          <a:ln w="9525">
            <a:solidFill>
              <a:srgbClr val="D8DFE8"/>
            </a:solidFill>
            <a:prstDash val="solid"/>
          </a:ln>
        </p:spPr>
        <p:txBody>
          <a:bodyPr/>
          <a:lstStyle/>
          <a:p>
            <a:endParaRPr lang="en-US"/>
          </a:p>
        </p:txBody>
      </p:sp>
      <p:sp>
        <p:nvSpPr>
          <p:cNvPr id="12" name="Text 10"/>
          <p:cNvSpPr txBox="1"/>
          <p:nvPr/>
        </p:nvSpPr>
        <p:spPr>
          <a:xfrm>
            <a:off x="4809744" y="2249424"/>
            <a:ext cx="3712464" cy="822960"/>
          </a:xfrm>
          <a:prstGeom prst="rect">
            <a:avLst/>
          </a:prstGeom>
          <a:noFill/>
          <a:ln/>
        </p:spPr>
        <p:txBody>
          <a:bodyPr wrap="square" lIns="0" tIns="0" rIns="0" bIns="0" rtlCol="0" anchor="ctr"/>
          <a:lstStyle/>
          <a:p>
            <a:pPr marL="0" indent="0">
              <a:spcAft>
                <a:spcPts val="500"/>
              </a:spcAft>
              <a:buNone/>
            </a:pPr>
            <a:r>
              <a:rPr lang="en-US" sz="1250" b="1" dirty="0">
                <a:solidFill>
                  <a:srgbClr val="1A5FB4"/>
                </a:solidFill>
                <a:latin typeface="Calibri" pitchFamily="34" charset="0"/>
                <a:ea typeface="Calibri" pitchFamily="34" charset="-122"/>
                <a:cs typeface="Calibri" pitchFamily="34" charset="-120"/>
              </a:rPr>
              <a:t>SSE (inertia)</a:t>
            </a:r>
            <a:endParaRPr lang="en-US" sz="1250" dirty="0"/>
          </a:p>
          <a:p>
            <a:pPr marL="0" indent="0">
              <a:spcAft>
                <a:spcPts val="500"/>
              </a:spcAft>
              <a:buNone/>
            </a:pPr>
            <a:r>
              <a:rPr lang="en-US" sz="1100" dirty="0">
                <a:solidFill>
                  <a:srgbClr val="1B2430"/>
                </a:solidFill>
                <a:latin typeface="Calibri" pitchFamily="34" charset="0"/>
                <a:ea typeface="Calibri" pitchFamily="34" charset="-122"/>
                <a:cs typeface="Calibri" pitchFamily="34" charset="-120"/>
              </a:rPr>
              <a:t>Total squared distance from every point to its own centroid</a:t>
            </a:r>
            <a:endParaRPr lang="en-US" sz="1250" dirty="0"/>
          </a:p>
        </p:txBody>
      </p:sp>
      <p:sp>
        <p:nvSpPr>
          <p:cNvPr id="13" name="Shape 11"/>
          <p:cNvSpPr/>
          <p:nvPr/>
        </p:nvSpPr>
        <p:spPr>
          <a:xfrm>
            <a:off x="457200" y="3218688"/>
            <a:ext cx="4041648" cy="822960"/>
          </a:xfrm>
          <a:prstGeom prst="roundRect">
            <a:avLst>
              <a:gd name="adj" fmla="val 4444"/>
            </a:avLst>
          </a:prstGeom>
          <a:solidFill>
            <a:srgbClr val="F1F4F8"/>
          </a:solidFill>
          <a:ln w="9525">
            <a:solidFill>
              <a:srgbClr val="D8DFE8"/>
            </a:solidFill>
            <a:prstDash val="solid"/>
          </a:ln>
        </p:spPr>
        <p:txBody>
          <a:bodyPr/>
          <a:lstStyle/>
          <a:p>
            <a:endParaRPr lang="en-US"/>
          </a:p>
        </p:txBody>
      </p:sp>
      <p:sp>
        <p:nvSpPr>
          <p:cNvPr id="14" name="Text 12"/>
          <p:cNvSpPr txBox="1"/>
          <p:nvPr/>
        </p:nvSpPr>
        <p:spPr>
          <a:xfrm>
            <a:off x="621792" y="3218688"/>
            <a:ext cx="3712464" cy="822960"/>
          </a:xfrm>
          <a:prstGeom prst="rect">
            <a:avLst/>
          </a:prstGeom>
          <a:noFill/>
          <a:ln/>
        </p:spPr>
        <p:txBody>
          <a:bodyPr wrap="square" lIns="0" tIns="0" rIns="0" bIns="0" rtlCol="0" anchor="ctr"/>
          <a:lstStyle/>
          <a:p>
            <a:pPr marL="0" indent="0">
              <a:spcAft>
                <a:spcPts val="500"/>
              </a:spcAft>
              <a:buNone/>
            </a:pPr>
            <a:r>
              <a:rPr lang="en-US" sz="1250" b="1" dirty="0">
                <a:solidFill>
                  <a:srgbClr val="1A5FB4"/>
                </a:solidFill>
                <a:latin typeface="Calibri" pitchFamily="34" charset="0"/>
                <a:ea typeface="Calibri" pitchFamily="34" charset="-122"/>
                <a:cs typeface="Calibri" pitchFamily="34" charset="-120"/>
              </a:rPr>
              <a:t>Dendrogram</a:t>
            </a:r>
            <a:endParaRPr lang="en-US" sz="1250" dirty="0"/>
          </a:p>
          <a:p>
            <a:pPr marL="0" indent="0">
              <a:spcAft>
                <a:spcPts val="500"/>
              </a:spcAft>
              <a:buNone/>
            </a:pPr>
            <a:r>
              <a:rPr lang="en-US" sz="1100" dirty="0">
                <a:solidFill>
                  <a:srgbClr val="1B2430"/>
                </a:solidFill>
                <a:latin typeface="Calibri" pitchFamily="34" charset="0"/>
                <a:ea typeface="Calibri" pitchFamily="34" charset="-122"/>
                <a:cs typeface="Calibri" pitchFamily="34" charset="-120"/>
              </a:rPr>
              <a:t>A tree recording the order in which clusters merged</a:t>
            </a:r>
            <a:endParaRPr lang="en-US" sz="1250" dirty="0"/>
          </a:p>
        </p:txBody>
      </p:sp>
      <p:sp>
        <p:nvSpPr>
          <p:cNvPr id="15" name="Shape 13"/>
          <p:cNvSpPr/>
          <p:nvPr/>
        </p:nvSpPr>
        <p:spPr>
          <a:xfrm>
            <a:off x="4645152" y="3218688"/>
            <a:ext cx="4041648" cy="822960"/>
          </a:xfrm>
          <a:prstGeom prst="roundRect">
            <a:avLst>
              <a:gd name="adj" fmla="val 4444"/>
            </a:avLst>
          </a:prstGeom>
          <a:solidFill>
            <a:srgbClr val="F1F4F8"/>
          </a:solidFill>
          <a:ln w="9525">
            <a:solidFill>
              <a:srgbClr val="D8DFE8"/>
            </a:solidFill>
            <a:prstDash val="solid"/>
          </a:ln>
        </p:spPr>
        <p:txBody>
          <a:bodyPr/>
          <a:lstStyle/>
          <a:p>
            <a:endParaRPr lang="en-US"/>
          </a:p>
        </p:txBody>
      </p:sp>
      <p:sp>
        <p:nvSpPr>
          <p:cNvPr id="16" name="Text 14"/>
          <p:cNvSpPr txBox="1"/>
          <p:nvPr/>
        </p:nvSpPr>
        <p:spPr>
          <a:xfrm>
            <a:off x="4809744" y="3218688"/>
            <a:ext cx="3712464" cy="822960"/>
          </a:xfrm>
          <a:prstGeom prst="rect">
            <a:avLst/>
          </a:prstGeom>
          <a:noFill/>
          <a:ln/>
        </p:spPr>
        <p:txBody>
          <a:bodyPr wrap="square" lIns="0" tIns="0" rIns="0" bIns="0" rtlCol="0" anchor="ctr"/>
          <a:lstStyle/>
          <a:p>
            <a:pPr marL="0" indent="0">
              <a:spcAft>
                <a:spcPts val="500"/>
              </a:spcAft>
              <a:buNone/>
            </a:pPr>
            <a:r>
              <a:rPr lang="en-US" sz="1250" b="1" dirty="0">
                <a:solidFill>
                  <a:srgbClr val="1A5FB4"/>
                </a:solidFill>
                <a:latin typeface="Calibri" pitchFamily="34" charset="0"/>
                <a:ea typeface="Calibri" pitchFamily="34" charset="-122"/>
                <a:cs typeface="Calibri" pitchFamily="34" charset="-120"/>
              </a:rPr>
              <a:t>Principal component</a:t>
            </a:r>
            <a:endParaRPr lang="en-US" sz="1250" dirty="0"/>
          </a:p>
          <a:p>
            <a:pPr marL="0" indent="0">
              <a:spcAft>
                <a:spcPts val="500"/>
              </a:spcAft>
              <a:buNone/>
            </a:pPr>
            <a:r>
              <a:rPr lang="en-US" sz="1100" dirty="0">
                <a:solidFill>
                  <a:srgbClr val="1B2430"/>
                </a:solidFill>
                <a:latin typeface="Calibri" pitchFamily="34" charset="0"/>
                <a:ea typeface="Calibri" pitchFamily="34" charset="-122"/>
                <a:cs typeface="Calibri" pitchFamily="34" charset="-120"/>
              </a:rPr>
              <a:t>A direction along which the data varies the most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12233F"/>
        </a:solidFill>
        <a:effectLst/>
      </p:bgPr>
    </p:bg>
    <p:spTree>
      <p:nvGrpSpPr>
        <p:cNvPr id="1" name=""/>
        <p:cNvGrpSpPr/>
        <p:nvPr/>
      </p:nvGrpSpPr>
      <p:grpSpPr>
        <a:xfrm>
          <a:off x="0" y="0"/>
          <a:ext cx="0" cy="0"/>
          <a:chOff x="0" y="0"/>
          <a:chExt cx="0" cy="0"/>
        </a:xfrm>
      </p:grpSpPr>
      <p:sp>
        <p:nvSpPr>
          <p:cNvPr id="2" name="Shape 0"/>
          <p:cNvSpPr/>
          <p:nvPr/>
        </p:nvSpPr>
        <p:spPr>
          <a:xfrm>
            <a:off x="457200" y="1572768"/>
            <a:ext cx="841248" cy="841248"/>
          </a:xfrm>
          <a:prstGeom prst="ellipse">
            <a:avLst/>
          </a:prstGeom>
          <a:solidFill>
            <a:srgbClr val="FFC72C"/>
          </a:solidFill>
          <a:ln w="12700">
            <a:solidFill>
              <a:srgbClr val="FFC72C"/>
            </a:solidFill>
            <a:prstDash val="solid"/>
          </a:ln>
        </p:spPr>
        <p:txBody>
          <a:bodyPr/>
          <a:lstStyle/>
          <a:p>
            <a:endParaRPr lang="en-US"/>
          </a:p>
        </p:txBody>
      </p:sp>
      <p:sp>
        <p:nvSpPr>
          <p:cNvPr id="3" name="Text 1"/>
          <p:cNvSpPr txBox="1"/>
          <p:nvPr/>
        </p:nvSpPr>
        <p:spPr>
          <a:xfrm>
            <a:off x="457200" y="1572768"/>
            <a:ext cx="841248" cy="841248"/>
          </a:xfrm>
          <a:prstGeom prst="rect">
            <a:avLst/>
          </a:prstGeom>
          <a:noFill/>
          <a:ln/>
        </p:spPr>
        <p:txBody>
          <a:bodyPr wrap="square" lIns="0" tIns="0" rIns="0" bIns="0" rtlCol="0" anchor="ctr"/>
          <a:lstStyle/>
          <a:p>
            <a:pPr marL="0" indent="0" algn="ctr">
              <a:buNone/>
            </a:pPr>
            <a:r>
              <a:rPr lang="en-US" sz="3400" b="1" dirty="0">
                <a:solidFill>
                  <a:srgbClr val="12233F"/>
                </a:solidFill>
                <a:latin typeface="Cambria" pitchFamily="34" charset="0"/>
                <a:ea typeface="Cambria" pitchFamily="34" charset="-122"/>
                <a:cs typeface="Cambria" pitchFamily="34" charset="-120"/>
              </a:rPr>
              <a:t>1</a:t>
            </a:r>
            <a:endParaRPr lang="en-US" sz="3400" dirty="0"/>
          </a:p>
        </p:txBody>
      </p:sp>
      <p:sp>
        <p:nvSpPr>
          <p:cNvPr id="4" name="Text 2"/>
          <p:cNvSpPr txBox="1"/>
          <p:nvPr/>
        </p:nvSpPr>
        <p:spPr>
          <a:xfrm>
            <a:off x="1572768" y="1627632"/>
            <a:ext cx="7114032" cy="475488"/>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Clustering</a:t>
            </a:r>
            <a:endParaRPr lang="en-US" sz="3200" dirty="0"/>
          </a:p>
        </p:txBody>
      </p:sp>
      <p:sp>
        <p:nvSpPr>
          <p:cNvPr id="5" name="Text 3"/>
          <p:cNvSpPr txBox="1"/>
          <p:nvPr/>
        </p:nvSpPr>
        <p:spPr>
          <a:xfrm>
            <a:off x="1572768" y="2139696"/>
            <a:ext cx="7114032" cy="347472"/>
          </a:xfrm>
          <a:prstGeom prst="rect">
            <a:avLst/>
          </a:prstGeom>
          <a:noFill/>
          <a:ln/>
        </p:spPr>
        <p:txBody>
          <a:bodyPr wrap="square" lIns="0" tIns="0" rIns="0" bIns="0" rtlCol="0" anchor="ctr"/>
          <a:lstStyle/>
          <a:p>
            <a:pPr marL="0" indent="0">
              <a:buNone/>
            </a:pPr>
            <a:r>
              <a:rPr lang="en-US" sz="1350" dirty="0">
                <a:solidFill>
                  <a:srgbClr val="AEBBCE"/>
                </a:solidFill>
                <a:latin typeface="Calibri" pitchFamily="34" charset="0"/>
                <a:ea typeface="Calibri" pitchFamily="34" charset="-122"/>
                <a:cs typeface="Calibri" pitchFamily="34" charset="-120"/>
              </a:rPr>
              <a:t>Learning when there is no answer key</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457200" y="384048"/>
            <a:ext cx="118872" cy="118872"/>
          </a:xfrm>
          <a:prstGeom prst="ellipse">
            <a:avLst/>
          </a:prstGeom>
          <a:solidFill>
            <a:srgbClr val="FFC72C"/>
          </a:solidFill>
          <a:ln w="12700">
            <a:solidFill>
              <a:srgbClr val="FFC72C"/>
            </a:solidFill>
            <a:prstDash val="solid"/>
          </a:ln>
        </p:spPr>
        <p:txBody>
          <a:bodyPr/>
          <a:lstStyle/>
          <a:p>
            <a:endParaRPr lang="en-US"/>
          </a:p>
        </p:txBody>
      </p:sp>
      <p:sp>
        <p:nvSpPr>
          <p:cNvPr id="3" name="Text 1"/>
          <p:cNvSpPr txBox="1"/>
          <p:nvPr/>
        </p:nvSpPr>
        <p:spPr>
          <a:xfrm>
            <a:off x="658368" y="329184"/>
            <a:ext cx="8028432" cy="237744"/>
          </a:xfrm>
          <a:prstGeom prst="rect">
            <a:avLst/>
          </a:prstGeom>
          <a:noFill/>
          <a:ln/>
        </p:spPr>
        <p:txBody>
          <a:bodyPr wrap="square" lIns="0" tIns="0" rIns="0" bIns="0" rtlCol="0" anchor="ctr"/>
          <a:lstStyle/>
          <a:p>
            <a:pPr marL="0" indent="0">
              <a:buNone/>
            </a:pPr>
            <a:r>
              <a:rPr lang="en-US" sz="1050" b="1" kern="0" spc="140" dirty="0">
                <a:solidFill>
                  <a:srgbClr val="5A6472"/>
                </a:solidFill>
                <a:latin typeface="Calibri" pitchFamily="34" charset="0"/>
                <a:ea typeface="Calibri" pitchFamily="34" charset="-122"/>
                <a:cs typeface="Calibri" pitchFamily="34" charset="-120"/>
              </a:rPr>
              <a:t>CONCEPT</a:t>
            </a:r>
            <a:endParaRPr lang="en-US" sz="1050" dirty="0"/>
          </a:p>
        </p:txBody>
      </p:sp>
      <p:sp>
        <p:nvSpPr>
          <p:cNvPr id="4" name="Text 2"/>
          <p:cNvSpPr txBox="1"/>
          <p:nvPr/>
        </p:nvSpPr>
        <p:spPr>
          <a:xfrm>
            <a:off x="457200" y="603504"/>
            <a:ext cx="8229600" cy="56692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Two kinds of learning</a:t>
            </a:r>
            <a:endParaRPr lang="en-US" sz="3000" dirty="0"/>
          </a:p>
        </p:txBody>
      </p:sp>
      <p:sp>
        <p:nvSpPr>
          <p:cNvPr id="5" name="Shape 3"/>
          <p:cNvSpPr/>
          <p:nvPr/>
        </p:nvSpPr>
        <p:spPr>
          <a:xfrm>
            <a:off x="457200" y="1234440"/>
            <a:ext cx="4041648" cy="1463040"/>
          </a:xfrm>
          <a:prstGeom prst="roundRect">
            <a:avLst>
              <a:gd name="adj" fmla="val 2500"/>
            </a:avLst>
          </a:prstGeom>
          <a:solidFill>
            <a:srgbClr val="F1F4F8"/>
          </a:solidFill>
          <a:ln w="9525">
            <a:solidFill>
              <a:srgbClr val="D8DFE8"/>
            </a:solidFill>
            <a:prstDash val="solid"/>
          </a:ln>
        </p:spPr>
        <p:txBody>
          <a:bodyPr/>
          <a:lstStyle/>
          <a:p>
            <a:endParaRPr lang="en-US"/>
          </a:p>
        </p:txBody>
      </p:sp>
      <p:sp>
        <p:nvSpPr>
          <p:cNvPr id="6" name="Text 4"/>
          <p:cNvSpPr txBox="1"/>
          <p:nvPr/>
        </p:nvSpPr>
        <p:spPr>
          <a:xfrm>
            <a:off x="640080" y="1399032"/>
            <a:ext cx="3675888" cy="1188720"/>
          </a:xfrm>
          <a:prstGeom prst="rect">
            <a:avLst/>
          </a:prstGeom>
          <a:noFill/>
          <a:ln/>
        </p:spPr>
        <p:txBody>
          <a:bodyPr wrap="square" lIns="0" tIns="0" rIns="0" bIns="0" rtlCol="0" anchor="ctr"/>
          <a:lstStyle/>
          <a:p>
            <a:pPr marL="0" indent="0">
              <a:spcAft>
                <a:spcPts val="500"/>
              </a:spcAft>
              <a:buNone/>
            </a:pPr>
            <a:r>
              <a:rPr lang="en-US" sz="1400" b="1" dirty="0">
                <a:solidFill>
                  <a:srgbClr val="1A5FB4"/>
                </a:solidFill>
                <a:latin typeface="Calibri" pitchFamily="34" charset="0"/>
                <a:ea typeface="Calibri" pitchFamily="34" charset="-122"/>
                <a:cs typeface="Calibri" pitchFamily="34" charset="-120"/>
              </a:rPr>
              <a:t>Supervised learning</a:t>
            </a:r>
            <a:endParaRPr lang="en-US" sz="1400" dirty="0"/>
          </a:p>
          <a:p>
            <a:pPr marL="0" indent="0">
              <a:spcAft>
                <a:spcPts val="500"/>
              </a:spcAft>
              <a:buNone/>
            </a:pPr>
            <a:r>
              <a:rPr lang="en-US" sz="1150" dirty="0">
                <a:solidFill>
                  <a:srgbClr val="1B2430"/>
                </a:solidFill>
                <a:latin typeface="Calibri" pitchFamily="34" charset="0"/>
                <a:ea typeface="Calibri" pitchFamily="34" charset="-122"/>
                <a:cs typeface="Calibri" pitchFamily="34" charset="-120"/>
              </a:rPr>
              <a:t>Uses labeled data to predict a known outcome.</a:t>
            </a:r>
            <a:endParaRPr lang="en-US" sz="1400" dirty="0"/>
          </a:p>
          <a:p>
            <a:pPr marL="0" indent="0">
              <a:spcAft>
                <a:spcPts val="500"/>
              </a:spcAft>
              <a:buNone/>
            </a:pPr>
            <a:r>
              <a:rPr lang="en-US" sz="1100" i="1" dirty="0">
                <a:solidFill>
                  <a:srgbClr val="5A6472"/>
                </a:solidFill>
                <a:latin typeface="Calibri" pitchFamily="34" charset="0"/>
                <a:ea typeface="Calibri" pitchFamily="34" charset="-122"/>
                <a:cs typeface="Calibri" pitchFamily="34" charset="-120"/>
              </a:rPr>
              <a:t>Linear regression · classification · decision trees · KNN</a:t>
            </a:r>
            <a:endParaRPr lang="en-US" sz="1400" dirty="0"/>
          </a:p>
        </p:txBody>
      </p:sp>
      <p:sp>
        <p:nvSpPr>
          <p:cNvPr id="7" name="Shape 5"/>
          <p:cNvSpPr/>
          <p:nvPr/>
        </p:nvSpPr>
        <p:spPr>
          <a:xfrm>
            <a:off x="4645152" y="1234440"/>
            <a:ext cx="4041648" cy="1463040"/>
          </a:xfrm>
          <a:prstGeom prst="roundRect">
            <a:avLst>
              <a:gd name="adj" fmla="val 2500"/>
            </a:avLst>
          </a:prstGeom>
          <a:solidFill>
            <a:srgbClr val="F1F4F8"/>
          </a:solidFill>
          <a:ln w="9525">
            <a:solidFill>
              <a:srgbClr val="D8DFE8"/>
            </a:solidFill>
            <a:prstDash val="solid"/>
          </a:ln>
        </p:spPr>
        <p:txBody>
          <a:bodyPr/>
          <a:lstStyle/>
          <a:p>
            <a:endParaRPr lang="en-US"/>
          </a:p>
        </p:txBody>
      </p:sp>
      <p:sp>
        <p:nvSpPr>
          <p:cNvPr id="8" name="Text 6"/>
          <p:cNvSpPr txBox="1"/>
          <p:nvPr/>
        </p:nvSpPr>
        <p:spPr>
          <a:xfrm>
            <a:off x="4828032" y="1399032"/>
            <a:ext cx="3675888" cy="1188720"/>
          </a:xfrm>
          <a:prstGeom prst="rect">
            <a:avLst/>
          </a:prstGeom>
          <a:noFill/>
          <a:ln/>
        </p:spPr>
        <p:txBody>
          <a:bodyPr wrap="square" lIns="0" tIns="0" rIns="0" bIns="0" rtlCol="0" anchor="ctr"/>
          <a:lstStyle/>
          <a:p>
            <a:pPr marL="0" indent="0">
              <a:spcAft>
                <a:spcPts val="500"/>
              </a:spcAft>
              <a:buNone/>
            </a:pPr>
            <a:r>
              <a:rPr lang="en-US" sz="1400" b="1" dirty="0">
                <a:solidFill>
                  <a:srgbClr val="1A5FB4"/>
                </a:solidFill>
                <a:latin typeface="Calibri" pitchFamily="34" charset="0"/>
                <a:ea typeface="Calibri" pitchFamily="34" charset="-122"/>
                <a:cs typeface="Calibri" pitchFamily="34" charset="-120"/>
              </a:rPr>
              <a:t>Unsupervised learning</a:t>
            </a:r>
            <a:endParaRPr lang="en-US" sz="1400" dirty="0"/>
          </a:p>
          <a:p>
            <a:pPr marL="0" indent="0">
              <a:spcAft>
                <a:spcPts val="500"/>
              </a:spcAft>
              <a:buNone/>
            </a:pPr>
            <a:r>
              <a:rPr lang="en-US" sz="1150" dirty="0">
                <a:solidFill>
                  <a:srgbClr val="1B2430"/>
                </a:solidFill>
                <a:latin typeface="Calibri" pitchFamily="34" charset="0"/>
                <a:ea typeface="Calibri" pitchFamily="34" charset="-122"/>
                <a:cs typeface="Calibri" pitchFamily="34" charset="-120"/>
              </a:rPr>
              <a:t>Analyzes unlabeled data to find underlying patterns.</a:t>
            </a:r>
            <a:endParaRPr lang="en-US" sz="1400" dirty="0"/>
          </a:p>
          <a:p>
            <a:pPr marL="0" indent="0">
              <a:spcAft>
                <a:spcPts val="500"/>
              </a:spcAft>
              <a:buNone/>
            </a:pPr>
            <a:r>
              <a:rPr lang="en-US" sz="1100" i="1" dirty="0">
                <a:solidFill>
                  <a:srgbClr val="5A6472"/>
                </a:solidFill>
                <a:latin typeface="Calibri" pitchFamily="34" charset="0"/>
                <a:ea typeface="Calibri" pitchFamily="34" charset="-122"/>
                <a:cs typeface="Calibri" pitchFamily="34" charset="-120"/>
              </a:rPr>
              <a:t>K-Means · hierarchical clustering · PCA · autoencoders</a:t>
            </a:r>
            <a:endParaRPr lang="en-US" sz="1400" dirty="0"/>
          </a:p>
        </p:txBody>
      </p:sp>
      <p:sp>
        <p:nvSpPr>
          <p:cNvPr id="9" name="Shape 7"/>
          <p:cNvSpPr/>
          <p:nvPr/>
        </p:nvSpPr>
        <p:spPr>
          <a:xfrm>
            <a:off x="457200" y="2834640"/>
            <a:ext cx="8229600" cy="1207008"/>
          </a:xfrm>
          <a:prstGeom prst="roundRect">
            <a:avLst>
              <a:gd name="adj" fmla="val 3030"/>
            </a:avLst>
          </a:prstGeom>
          <a:solidFill>
            <a:srgbClr val="D8DFE8"/>
          </a:solidFill>
          <a:ln w="9525">
            <a:solidFill>
              <a:srgbClr val="B23A48"/>
            </a:solidFill>
            <a:prstDash val="solid"/>
          </a:ln>
        </p:spPr>
        <p:txBody>
          <a:bodyPr/>
          <a:lstStyle/>
          <a:p>
            <a:endParaRPr lang="en-US"/>
          </a:p>
        </p:txBody>
      </p:sp>
      <p:sp>
        <p:nvSpPr>
          <p:cNvPr id="10" name="Text 8"/>
          <p:cNvSpPr txBox="1"/>
          <p:nvPr/>
        </p:nvSpPr>
        <p:spPr>
          <a:xfrm>
            <a:off x="685800" y="2999232"/>
            <a:ext cx="7772400" cy="914400"/>
          </a:xfrm>
          <a:prstGeom prst="rect">
            <a:avLst/>
          </a:prstGeom>
          <a:noFill/>
          <a:ln/>
        </p:spPr>
        <p:txBody>
          <a:bodyPr wrap="square" lIns="0" tIns="0" rIns="0" bIns="0" rtlCol="0" anchor="t"/>
          <a:lstStyle/>
          <a:p>
            <a:pPr marL="0" indent="0">
              <a:spcAft>
                <a:spcPts val="500"/>
              </a:spcAft>
              <a:buNone/>
            </a:pPr>
            <a:r>
              <a:rPr lang="en-US" sz="1400" b="1" dirty="0">
                <a:solidFill>
                  <a:srgbClr val="B23A48"/>
                </a:solidFill>
                <a:latin typeface="Calibri" pitchFamily="34" charset="0"/>
                <a:ea typeface="Calibri" pitchFamily="34" charset="-122"/>
                <a:cs typeface="Calibri" pitchFamily="34" charset="-120"/>
              </a:rPr>
              <a:t>Careful:  KNN is supervised.</a:t>
            </a:r>
            <a:endParaRPr lang="en-US" sz="1400" dirty="0"/>
          </a:p>
          <a:p>
            <a:pPr marL="0" indent="0">
              <a:spcAft>
                <a:spcPts val="500"/>
              </a:spcAft>
              <a:buNone/>
            </a:pPr>
            <a:r>
              <a:rPr lang="en-US" sz="1200" dirty="0">
                <a:solidFill>
                  <a:srgbClr val="1B2430"/>
                </a:solidFill>
                <a:latin typeface="Calibri" pitchFamily="34" charset="0"/>
                <a:ea typeface="Calibri" pitchFamily="34" charset="-122"/>
                <a:cs typeface="Calibri" pitchFamily="34" charset="-120"/>
              </a:rPr>
              <a:t>K-Nearest Neighbours finds your neighbours and then takes a vote on their labels — remove the labels and there is nothing to vote on. K-Means is its unsupervised cousin: the same distance computation, with no labels to look up.</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457200" y="384048"/>
            <a:ext cx="118872" cy="118872"/>
          </a:xfrm>
          <a:prstGeom prst="ellipse">
            <a:avLst/>
          </a:prstGeom>
          <a:solidFill>
            <a:srgbClr val="FFC72C"/>
          </a:solidFill>
          <a:ln w="12700">
            <a:solidFill>
              <a:srgbClr val="FFC72C"/>
            </a:solidFill>
            <a:prstDash val="solid"/>
          </a:ln>
        </p:spPr>
        <p:txBody>
          <a:bodyPr/>
          <a:lstStyle/>
          <a:p>
            <a:endParaRPr lang="en-US"/>
          </a:p>
        </p:txBody>
      </p:sp>
      <p:sp>
        <p:nvSpPr>
          <p:cNvPr id="3" name="Text 1"/>
          <p:cNvSpPr txBox="1"/>
          <p:nvPr/>
        </p:nvSpPr>
        <p:spPr>
          <a:xfrm>
            <a:off x="658368" y="329184"/>
            <a:ext cx="8028432" cy="237744"/>
          </a:xfrm>
          <a:prstGeom prst="rect">
            <a:avLst/>
          </a:prstGeom>
          <a:noFill/>
          <a:ln/>
        </p:spPr>
        <p:txBody>
          <a:bodyPr wrap="square" lIns="0" tIns="0" rIns="0" bIns="0" rtlCol="0" anchor="ctr"/>
          <a:lstStyle/>
          <a:p>
            <a:pPr marL="0" indent="0">
              <a:buNone/>
            </a:pPr>
            <a:r>
              <a:rPr lang="en-US" sz="1050" b="1" kern="0" spc="140" dirty="0">
                <a:solidFill>
                  <a:srgbClr val="5A6472"/>
                </a:solidFill>
                <a:latin typeface="Calibri" pitchFamily="34" charset="0"/>
                <a:ea typeface="Calibri" pitchFamily="34" charset="-122"/>
                <a:cs typeface="Calibri" pitchFamily="34" charset="-120"/>
              </a:rPr>
              <a:t>CONCEPT</a:t>
            </a:r>
            <a:endParaRPr lang="en-US" sz="1050" dirty="0"/>
          </a:p>
        </p:txBody>
      </p:sp>
      <p:sp>
        <p:nvSpPr>
          <p:cNvPr id="4" name="Text 2"/>
          <p:cNvSpPr txBox="1"/>
          <p:nvPr/>
        </p:nvSpPr>
        <p:spPr>
          <a:xfrm>
            <a:off x="457200" y="603504"/>
            <a:ext cx="8229600" cy="56692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There is no answer key</a:t>
            </a:r>
            <a:endParaRPr lang="en-US" sz="3000" dirty="0"/>
          </a:p>
        </p:txBody>
      </p:sp>
      <p:sp>
        <p:nvSpPr>
          <p:cNvPr id="5" name="Text 3"/>
          <p:cNvSpPr txBox="1"/>
          <p:nvPr/>
        </p:nvSpPr>
        <p:spPr>
          <a:xfrm>
            <a:off x="457200" y="1207008"/>
            <a:ext cx="8229600" cy="548640"/>
          </a:xfrm>
          <a:prstGeom prst="rect">
            <a:avLst/>
          </a:prstGeom>
          <a:noFill/>
          <a:ln/>
        </p:spPr>
        <p:txBody>
          <a:bodyPr wrap="square" lIns="0" tIns="0" rIns="0" bIns="0" rtlCol="0" anchor="ctr"/>
          <a:lstStyle/>
          <a:p>
            <a:pPr marL="0" indent="0">
              <a:buNone/>
            </a:pPr>
            <a:r>
              <a:rPr lang="en-US" sz="1300" b="1" dirty="0">
                <a:solidFill>
                  <a:schemeClr val="bg1"/>
                </a:solidFill>
                <a:latin typeface="Calibri" pitchFamily="34" charset="0"/>
                <a:ea typeface="Calibri" pitchFamily="34" charset="-122"/>
                <a:cs typeface="Calibri" pitchFamily="34" charset="-120"/>
              </a:rPr>
              <a:t>Clustering</a:t>
            </a:r>
            <a:r>
              <a:rPr lang="en-US" sz="1300" dirty="0">
                <a:solidFill>
                  <a:srgbClr val="AEBBCE"/>
                </a:solidFill>
                <a:latin typeface="Calibri" pitchFamily="34" charset="0"/>
                <a:ea typeface="Calibri" pitchFamily="34" charset="-122"/>
                <a:cs typeface="Calibri" pitchFamily="34" charset="-120"/>
              </a:rPr>
              <a:t> is an unsupervised machine learning technique used to group together similar unlabeled datapoints based on their features and other characteristics.</a:t>
            </a:r>
            <a:endParaRPr lang="en-US" sz="1300" dirty="0"/>
          </a:p>
        </p:txBody>
      </p:sp>
      <p:sp>
        <p:nvSpPr>
          <p:cNvPr id="6" name="Shape 4"/>
          <p:cNvSpPr/>
          <p:nvPr/>
        </p:nvSpPr>
        <p:spPr>
          <a:xfrm>
            <a:off x="457200" y="1847088"/>
            <a:ext cx="4041648" cy="2194560"/>
          </a:xfrm>
          <a:prstGeom prst="roundRect">
            <a:avLst>
              <a:gd name="adj" fmla="val 1667"/>
            </a:avLst>
          </a:prstGeom>
          <a:solidFill>
            <a:srgbClr val="F1F4F8"/>
          </a:solidFill>
          <a:ln w="9525">
            <a:solidFill>
              <a:srgbClr val="D8DFE8"/>
            </a:solidFill>
            <a:prstDash val="solid"/>
          </a:ln>
        </p:spPr>
        <p:txBody>
          <a:bodyPr/>
          <a:lstStyle/>
          <a:p>
            <a:endParaRPr lang="en-US"/>
          </a:p>
        </p:txBody>
      </p:sp>
      <p:sp>
        <p:nvSpPr>
          <p:cNvPr id="7" name="Text 5"/>
          <p:cNvSpPr txBox="1"/>
          <p:nvPr/>
        </p:nvSpPr>
        <p:spPr>
          <a:xfrm>
            <a:off x="640080" y="2011680"/>
            <a:ext cx="3675888" cy="1874520"/>
          </a:xfrm>
          <a:prstGeom prst="rect">
            <a:avLst/>
          </a:prstGeom>
          <a:noFill/>
          <a:ln/>
        </p:spPr>
        <p:txBody>
          <a:bodyPr wrap="square" lIns="0" tIns="0" rIns="0" bIns="0" rtlCol="0" anchor="ctr"/>
          <a:lstStyle/>
          <a:p>
            <a:pPr marL="0" indent="0">
              <a:spcAft>
                <a:spcPts val="700"/>
              </a:spcAft>
              <a:buNone/>
            </a:pPr>
            <a:r>
              <a:rPr lang="en-US" sz="1300" b="1" dirty="0">
                <a:solidFill>
                  <a:srgbClr val="1A5FB4"/>
                </a:solidFill>
                <a:latin typeface="Calibri" pitchFamily="34" charset="0"/>
                <a:ea typeface="Calibri" pitchFamily="34" charset="-122"/>
                <a:cs typeface="Calibri" pitchFamily="34" charset="-120"/>
              </a:rPr>
              <a:t>Every loss you have written</a:t>
            </a:r>
            <a:endParaRPr lang="en-US" sz="1300" dirty="0"/>
          </a:p>
          <a:p>
            <a:pPr marL="0" indent="0">
              <a:spcAft>
                <a:spcPts val="700"/>
              </a:spcAft>
              <a:buNone/>
            </a:pPr>
            <a:r>
              <a:rPr lang="en-US" sz="1150" dirty="0">
                <a:solidFill>
                  <a:srgbClr val="1B2430"/>
                </a:solidFill>
                <a:latin typeface="Calibri" pitchFamily="34" charset="0"/>
                <a:ea typeface="Calibri" pitchFamily="34" charset="-122"/>
                <a:cs typeface="Calibri" pitchFamily="34" charset="-120"/>
              </a:rPr>
              <a:t>MSE, classification error, cross-entropy — all of them compare a prediction to a truth.</a:t>
            </a:r>
            <a:endParaRPr lang="en-US" sz="1300" dirty="0"/>
          </a:p>
          <a:p>
            <a:pPr marL="0" indent="0">
              <a:spcAft>
                <a:spcPts val="700"/>
              </a:spcAft>
              <a:buNone/>
            </a:pPr>
            <a:r>
              <a:rPr lang="en-US" sz="1300" dirty="0">
                <a:solidFill>
                  <a:srgbClr val="1A5FB4"/>
                </a:solidFill>
                <a:latin typeface="Cambria" pitchFamily="34" charset="0"/>
                <a:ea typeface="Cambria" pitchFamily="34" charset="-122"/>
                <a:cs typeface="Cambria" pitchFamily="34" charset="-120"/>
              </a:rPr>
              <a:t>ℓ(θ) = (1/n) Σᵢ (yᵢ − ŷᵢ)²</a:t>
            </a:r>
            <a:endParaRPr lang="en-US" sz="1300" dirty="0"/>
          </a:p>
        </p:txBody>
      </p:sp>
      <p:sp>
        <p:nvSpPr>
          <p:cNvPr id="8" name="Shape 6"/>
          <p:cNvSpPr/>
          <p:nvPr/>
        </p:nvSpPr>
        <p:spPr>
          <a:xfrm>
            <a:off x="4645152" y="1847088"/>
            <a:ext cx="4041648" cy="2194560"/>
          </a:xfrm>
          <a:prstGeom prst="roundRect">
            <a:avLst>
              <a:gd name="adj" fmla="val 1667"/>
            </a:avLst>
          </a:prstGeom>
          <a:solidFill>
            <a:srgbClr val="F1F4F8"/>
          </a:solidFill>
          <a:ln w="9525">
            <a:solidFill>
              <a:srgbClr val="D8DFE8"/>
            </a:solidFill>
            <a:prstDash val="solid"/>
          </a:ln>
        </p:spPr>
        <p:txBody>
          <a:bodyPr/>
          <a:lstStyle/>
          <a:p>
            <a:endParaRPr lang="en-US"/>
          </a:p>
        </p:txBody>
      </p:sp>
      <p:sp>
        <p:nvSpPr>
          <p:cNvPr id="9" name="Text 7"/>
          <p:cNvSpPr txBox="1"/>
          <p:nvPr/>
        </p:nvSpPr>
        <p:spPr>
          <a:xfrm>
            <a:off x="4828032" y="2011680"/>
            <a:ext cx="3675888" cy="1874520"/>
          </a:xfrm>
          <a:prstGeom prst="rect">
            <a:avLst/>
          </a:prstGeom>
          <a:noFill/>
          <a:ln/>
        </p:spPr>
        <p:txBody>
          <a:bodyPr wrap="square" lIns="0" tIns="0" rIns="0" bIns="0" rtlCol="0" anchor="t"/>
          <a:lstStyle/>
          <a:p>
            <a:pPr marL="0" indent="0">
              <a:spcAft>
                <a:spcPts val="700"/>
              </a:spcAft>
              <a:buNone/>
            </a:pPr>
            <a:r>
              <a:rPr lang="en-US" sz="1400" b="1" dirty="0">
                <a:solidFill>
                  <a:srgbClr val="1A5FB4"/>
                </a:solidFill>
                <a:latin typeface="Calibri" pitchFamily="34" charset="0"/>
                <a:ea typeface="Calibri" pitchFamily="34" charset="-122"/>
                <a:cs typeface="Calibri" pitchFamily="34" charset="-120"/>
              </a:rPr>
              <a:t>There is no yᵢ today</a:t>
            </a:r>
            <a:endParaRPr lang="en-US" sz="1400" dirty="0"/>
          </a:p>
          <a:p>
            <a:pPr marL="0" indent="0">
              <a:spcAft>
                <a:spcPts val="700"/>
              </a:spcAft>
              <a:buNone/>
            </a:pPr>
            <a:r>
              <a:rPr lang="en-US" sz="1200" dirty="0">
                <a:solidFill>
                  <a:srgbClr val="1B2430"/>
                </a:solidFill>
                <a:latin typeface="Calibri" pitchFamily="34" charset="0"/>
                <a:ea typeface="Calibri" pitchFamily="34" charset="-122"/>
                <a:cs typeface="Calibri" pitchFamily="34" charset="-120"/>
              </a:rPr>
              <a:t>So we cannot score correctness. Instead we score description quality: how tightly do the groups hold together?</a:t>
            </a:r>
            <a:endParaRPr lang="en-US" sz="1400" dirty="0"/>
          </a:p>
          <a:p>
            <a:pPr marL="0" indent="0">
              <a:spcAft>
                <a:spcPts val="700"/>
              </a:spcAft>
              <a:buNone/>
            </a:pPr>
            <a:r>
              <a:rPr lang="en-US" sz="1200" dirty="0">
                <a:solidFill>
                  <a:srgbClr val="1B2430"/>
                </a:solidFill>
                <a:latin typeface="Calibri" pitchFamily="34" charset="0"/>
                <a:ea typeface="Calibri" pitchFamily="34" charset="-122"/>
                <a:cs typeface="Calibri" pitchFamily="34" charset="-120"/>
              </a:rPr>
              <a:t>That single change is why nothing in this lecture has a provably correct answer.</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12233F"/>
        </a:solidFill>
        <a:effectLst/>
      </p:bgPr>
    </p:bg>
    <p:spTree>
      <p:nvGrpSpPr>
        <p:cNvPr id="1" name=""/>
        <p:cNvGrpSpPr/>
        <p:nvPr/>
      </p:nvGrpSpPr>
      <p:grpSpPr>
        <a:xfrm>
          <a:off x="0" y="0"/>
          <a:ext cx="0" cy="0"/>
          <a:chOff x="0" y="0"/>
          <a:chExt cx="0" cy="0"/>
        </a:xfrm>
      </p:grpSpPr>
      <p:sp>
        <p:nvSpPr>
          <p:cNvPr id="2" name="Shape 0"/>
          <p:cNvSpPr/>
          <p:nvPr/>
        </p:nvSpPr>
        <p:spPr>
          <a:xfrm>
            <a:off x="457200" y="1572768"/>
            <a:ext cx="841248" cy="841248"/>
          </a:xfrm>
          <a:prstGeom prst="ellipse">
            <a:avLst/>
          </a:prstGeom>
          <a:solidFill>
            <a:srgbClr val="FFC72C"/>
          </a:solidFill>
          <a:ln w="12700">
            <a:solidFill>
              <a:srgbClr val="FFC72C"/>
            </a:solidFill>
            <a:prstDash val="solid"/>
          </a:ln>
        </p:spPr>
        <p:txBody>
          <a:bodyPr/>
          <a:lstStyle/>
          <a:p>
            <a:endParaRPr lang="en-US"/>
          </a:p>
        </p:txBody>
      </p:sp>
      <p:sp>
        <p:nvSpPr>
          <p:cNvPr id="3" name="Text 1"/>
          <p:cNvSpPr txBox="1"/>
          <p:nvPr/>
        </p:nvSpPr>
        <p:spPr>
          <a:xfrm>
            <a:off x="457200" y="1572768"/>
            <a:ext cx="841248" cy="841248"/>
          </a:xfrm>
          <a:prstGeom prst="rect">
            <a:avLst/>
          </a:prstGeom>
          <a:noFill/>
          <a:ln/>
        </p:spPr>
        <p:txBody>
          <a:bodyPr wrap="square" lIns="0" tIns="0" rIns="0" bIns="0" rtlCol="0" anchor="ctr"/>
          <a:lstStyle/>
          <a:p>
            <a:pPr marL="0" indent="0" algn="ctr">
              <a:buNone/>
            </a:pPr>
            <a:r>
              <a:rPr lang="en-US" sz="3400" b="1" dirty="0">
                <a:solidFill>
                  <a:srgbClr val="12233F"/>
                </a:solidFill>
                <a:latin typeface="Cambria" pitchFamily="34" charset="0"/>
                <a:ea typeface="Cambria" pitchFamily="34" charset="-122"/>
                <a:cs typeface="Cambria" pitchFamily="34" charset="-120"/>
              </a:rPr>
              <a:t>2</a:t>
            </a:r>
            <a:endParaRPr lang="en-US" sz="3400" dirty="0"/>
          </a:p>
        </p:txBody>
      </p:sp>
      <p:sp>
        <p:nvSpPr>
          <p:cNvPr id="4" name="Text 2"/>
          <p:cNvSpPr txBox="1"/>
          <p:nvPr/>
        </p:nvSpPr>
        <p:spPr>
          <a:xfrm>
            <a:off x="1572768" y="1627632"/>
            <a:ext cx="7114032" cy="475488"/>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K-Means</a:t>
            </a:r>
            <a:endParaRPr lang="en-US" sz="3200" dirty="0"/>
          </a:p>
        </p:txBody>
      </p:sp>
      <p:sp>
        <p:nvSpPr>
          <p:cNvPr id="5" name="Text 3"/>
          <p:cNvSpPr txBox="1"/>
          <p:nvPr/>
        </p:nvSpPr>
        <p:spPr>
          <a:xfrm>
            <a:off x="1572768" y="2139696"/>
            <a:ext cx="7114032" cy="347472"/>
          </a:xfrm>
          <a:prstGeom prst="rect">
            <a:avLst/>
          </a:prstGeom>
          <a:noFill/>
          <a:ln/>
        </p:spPr>
        <p:txBody>
          <a:bodyPr wrap="square" lIns="0" tIns="0" rIns="0" bIns="0" rtlCol="0" anchor="ctr"/>
          <a:lstStyle/>
          <a:p>
            <a:pPr marL="0" indent="0">
              <a:buNone/>
            </a:pPr>
            <a:r>
              <a:rPr lang="en-US" sz="1350" dirty="0">
                <a:solidFill>
                  <a:srgbClr val="AEBBCE"/>
                </a:solidFill>
                <a:latin typeface="Calibri" pitchFamily="34" charset="0"/>
                <a:ea typeface="Calibri" pitchFamily="34" charset="-122"/>
                <a:cs typeface="Calibri" pitchFamily="34" charset="-120"/>
              </a:rPr>
              <a:t>The most intuitive clustering algorithm</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457200" y="384048"/>
            <a:ext cx="118872" cy="118872"/>
          </a:xfrm>
          <a:prstGeom prst="ellipse">
            <a:avLst/>
          </a:prstGeom>
          <a:solidFill>
            <a:srgbClr val="FFC72C"/>
          </a:solidFill>
          <a:ln w="12700">
            <a:solidFill>
              <a:srgbClr val="FFC72C"/>
            </a:solidFill>
            <a:prstDash val="solid"/>
          </a:ln>
        </p:spPr>
        <p:txBody>
          <a:bodyPr/>
          <a:lstStyle/>
          <a:p>
            <a:endParaRPr lang="en-US"/>
          </a:p>
        </p:txBody>
      </p:sp>
      <p:sp>
        <p:nvSpPr>
          <p:cNvPr id="3" name="Text 1"/>
          <p:cNvSpPr txBox="1"/>
          <p:nvPr/>
        </p:nvSpPr>
        <p:spPr>
          <a:xfrm>
            <a:off x="658368" y="329184"/>
            <a:ext cx="8028432" cy="237744"/>
          </a:xfrm>
          <a:prstGeom prst="rect">
            <a:avLst/>
          </a:prstGeom>
          <a:noFill/>
          <a:ln/>
        </p:spPr>
        <p:txBody>
          <a:bodyPr wrap="square" lIns="0" tIns="0" rIns="0" bIns="0" rtlCol="0" anchor="ctr"/>
          <a:lstStyle/>
          <a:p>
            <a:pPr marL="0" indent="0">
              <a:buNone/>
            </a:pPr>
            <a:r>
              <a:rPr lang="en-US" sz="1050" b="1" kern="0" spc="140" dirty="0">
                <a:solidFill>
                  <a:srgbClr val="5A6472"/>
                </a:solidFill>
                <a:latin typeface="Calibri" pitchFamily="34" charset="0"/>
                <a:ea typeface="Calibri" pitchFamily="34" charset="-122"/>
                <a:cs typeface="Calibri" pitchFamily="34" charset="-120"/>
              </a:rPr>
              <a:t>CONCEPT</a:t>
            </a:r>
            <a:endParaRPr lang="en-US" sz="1050" dirty="0"/>
          </a:p>
        </p:txBody>
      </p:sp>
      <p:sp>
        <p:nvSpPr>
          <p:cNvPr id="4" name="Text 2"/>
          <p:cNvSpPr txBox="1"/>
          <p:nvPr/>
        </p:nvSpPr>
        <p:spPr>
          <a:xfrm>
            <a:off x="457200" y="603504"/>
            <a:ext cx="8229600" cy="56692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You already know half of this algorithm</a:t>
            </a:r>
            <a:endParaRPr lang="en-US" sz="3000" dirty="0"/>
          </a:p>
        </p:txBody>
      </p:sp>
      <p:sp>
        <p:nvSpPr>
          <p:cNvPr id="5" name="Shape 3"/>
          <p:cNvSpPr/>
          <p:nvPr/>
        </p:nvSpPr>
        <p:spPr>
          <a:xfrm>
            <a:off x="457200" y="1261872"/>
            <a:ext cx="8229600" cy="1051560"/>
          </a:xfrm>
          <a:prstGeom prst="roundRect">
            <a:avLst>
              <a:gd name="adj" fmla="val 3478"/>
            </a:avLst>
          </a:prstGeom>
          <a:solidFill>
            <a:srgbClr val="F1F4F8"/>
          </a:solidFill>
          <a:ln w="9525">
            <a:solidFill>
              <a:srgbClr val="D8DFE8"/>
            </a:solidFill>
            <a:prstDash val="solid"/>
          </a:ln>
        </p:spPr>
        <p:txBody>
          <a:bodyPr/>
          <a:lstStyle/>
          <a:p>
            <a:endParaRPr lang="en-US"/>
          </a:p>
        </p:txBody>
      </p:sp>
      <p:sp>
        <p:nvSpPr>
          <p:cNvPr id="6" name="Text 4"/>
          <p:cNvSpPr txBox="1"/>
          <p:nvPr/>
        </p:nvSpPr>
        <p:spPr>
          <a:xfrm>
            <a:off x="685800" y="1417320"/>
            <a:ext cx="7772400" cy="777240"/>
          </a:xfrm>
          <a:prstGeom prst="rect">
            <a:avLst/>
          </a:prstGeom>
          <a:noFill/>
          <a:ln/>
        </p:spPr>
        <p:txBody>
          <a:bodyPr wrap="square" lIns="0" tIns="0" rIns="0" bIns="0" rtlCol="0" anchor="t"/>
          <a:lstStyle/>
          <a:p>
            <a:pPr marL="0" indent="0">
              <a:spcAft>
                <a:spcPts val="500"/>
              </a:spcAft>
              <a:buNone/>
            </a:pPr>
            <a:r>
              <a:rPr lang="en-US" sz="1400" b="1" dirty="0">
                <a:solidFill>
                  <a:srgbClr val="1A5FB4"/>
                </a:solidFill>
                <a:latin typeface="Calibri" pitchFamily="34" charset="0"/>
                <a:ea typeface="Calibri" pitchFamily="34" charset="-122"/>
                <a:cs typeface="Calibri" pitchFamily="34" charset="-120"/>
              </a:rPr>
              <a:t>Week 4 last quarter:  the nearest-centroid classifier</a:t>
            </a:r>
            <a:endParaRPr lang="en-US" sz="1400" dirty="0"/>
          </a:p>
          <a:p>
            <a:pPr marL="0" indent="0">
              <a:spcAft>
                <a:spcPts val="500"/>
              </a:spcAft>
              <a:buNone/>
            </a:pPr>
            <a:r>
              <a:rPr lang="en-US" sz="1200" dirty="0">
                <a:solidFill>
                  <a:srgbClr val="1B2430"/>
                </a:solidFill>
                <a:latin typeface="Calibri" pitchFamily="34" charset="0"/>
                <a:ea typeface="Calibri" pitchFamily="34" charset="-122"/>
                <a:cs typeface="Calibri" pitchFamily="34" charset="-120"/>
              </a:rPr>
              <a:t>You were given one centroid per class. To classify a new point you measured the distance to each centroid and took the closest. That is the assignment step of K-Means, already done.</a:t>
            </a:r>
            <a:endParaRPr lang="en-US" sz="1400" dirty="0"/>
          </a:p>
        </p:txBody>
      </p:sp>
      <p:sp>
        <p:nvSpPr>
          <p:cNvPr id="7" name="Text 5"/>
          <p:cNvSpPr txBox="1"/>
          <p:nvPr/>
        </p:nvSpPr>
        <p:spPr>
          <a:xfrm>
            <a:off x="457200" y="2450592"/>
            <a:ext cx="822960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The only thing that changes: nobody gives us the centroids either.</a:t>
            </a:r>
            <a:endParaRPr lang="en-US" sz="1300" dirty="0"/>
          </a:p>
        </p:txBody>
      </p:sp>
      <p:sp>
        <p:nvSpPr>
          <p:cNvPr id="8" name="Shape 6"/>
          <p:cNvSpPr/>
          <p:nvPr/>
        </p:nvSpPr>
        <p:spPr>
          <a:xfrm>
            <a:off x="502920" y="2898648"/>
            <a:ext cx="100584" cy="100584"/>
          </a:xfrm>
          <a:prstGeom prst="ellipse">
            <a:avLst/>
          </a:prstGeom>
          <a:solidFill>
            <a:srgbClr val="FFC72C"/>
          </a:solidFill>
          <a:ln w="12700">
            <a:solidFill>
              <a:srgbClr val="FFC72C"/>
            </a:solidFill>
            <a:prstDash val="solid"/>
          </a:ln>
        </p:spPr>
        <p:txBody>
          <a:bodyPr/>
          <a:lstStyle/>
          <a:p>
            <a:endParaRPr lang="en-US"/>
          </a:p>
        </p:txBody>
      </p:sp>
      <p:sp>
        <p:nvSpPr>
          <p:cNvPr id="9" name="Text 7"/>
          <p:cNvSpPr txBox="1"/>
          <p:nvPr/>
        </p:nvSpPr>
        <p:spPr>
          <a:xfrm>
            <a:off x="722376" y="2816352"/>
            <a:ext cx="7918704" cy="338328"/>
          </a:xfrm>
          <a:prstGeom prst="rect">
            <a:avLst/>
          </a:prstGeom>
          <a:noFill/>
          <a:ln/>
        </p:spPr>
        <p:txBody>
          <a:bodyPr wrap="square" lIns="0" tIns="0" rIns="0" bIns="0" rtlCol="0" anchor="t"/>
          <a:lstStyle/>
          <a:p>
            <a:pPr marL="0" indent="0">
              <a:buNone/>
            </a:pPr>
            <a:r>
              <a:rPr lang="en-US" sz="1300" b="1" dirty="0">
                <a:solidFill>
                  <a:schemeClr val="bg1"/>
                </a:solidFill>
                <a:latin typeface="Calibri" pitchFamily="34" charset="0"/>
                <a:ea typeface="Calibri" pitchFamily="34" charset="-122"/>
                <a:cs typeface="Calibri" pitchFamily="34" charset="-120"/>
              </a:rPr>
              <a:t>Guess</a:t>
            </a:r>
            <a:r>
              <a:rPr lang="en-US" sz="1200" dirty="0">
                <a:solidFill>
                  <a:srgbClr val="AEBBCE"/>
                </a:solidFill>
                <a:latin typeface="Calibri" pitchFamily="34" charset="0"/>
                <a:ea typeface="Calibri" pitchFamily="34" charset="-122"/>
                <a:cs typeface="Calibri" pitchFamily="34" charset="-120"/>
              </a:rPr>
              <a:t>   place K centroids somewhere to start</a:t>
            </a:r>
            <a:endParaRPr lang="en-US" sz="1300" dirty="0"/>
          </a:p>
        </p:txBody>
      </p:sp>
      <p:sp>
        <p:nvSpPr>
          <p:cNvPr id="10" name="Shape 8"/>
          <p:cNvSpPr/>
          <p:nvPr/>
        </p:nvSpPr>
        <p:spPr>
          <a:xfrm>
            <a:off x="502920" y="3264408"/>
            <a:ext cx="100584" cy="100584"/>
          </a:xfrm>
          <a:prstGeom prst="ellipse">
            <a:avLst/>
          </a:prstGeom>
          <a:solidFill>
            <a:srgbClr val="FFC72C"/>
          </a:solidFill>
          <a:ln w="12700">
            <a:solidFill>
              <a:srgbClr val="FFC72C"/>
            </a:solidFill>
            <a:prstDash val="solid"/>
          </a:ln>
        </p:spPr>
        <p:txBody>
          <a:bodyPr/>
          <a:lstStyle/>
          <a:p>
            <a:endParaRPr lang="en-US"/>
          </a:p>
        </p:txBody>
      </p:sp>
      <p:sp>
        <p:nvSpPr>
          <p:cNvPr id="11" name="Text 9"/>
          <p:cNvSpPr txBox="1"/>
          <p:nvPr/>
        </p:nvSpPr>
        <p:spPr>
          <a:xfrm>
            <a:off x="722376" y="3182112"/>
            <a:ext cx="7918704" cy="338328"/>
          </a:xfrm>
          <a:prstGeom prst="rect">
            <a:avLst/>
          </a:prstGeom>
          <a:noFill/>
          <a:ln/>
        </p:spPr>
        <p:txBody>
          <a:bodyPr wrap="square" lIns="0" tIns="0" rIns="0" bIns="0" rtlCol="0" anchor="t"/>
          <a:lstStyle/>
          <a:p>
            <a:pPr marL="0" indent="0">
              <a:buNone/>
            </a:pPr>
            <a:r>
              <a:rPr lang="en-US" sz="1300" b="1" dirty="0">
                <a:solidFill>
                  <a:schemeClr val="bg1"/>
                </a:solidFill>
                <a:latin typeface="Calibri" pitchFamily="34" charset="0"/>
                <a:ea typeface="Calibri" pitchFamily="34" charset="-122"/>
                <a:cs typeface="Calibri" pitchFamily="34" charset="-120"/>
              </a:rPr>
              <a:t>Assign</a:t>
            </a:r>
            <a:r>
              <a:rPr lang="en-US" sz="1200" dirty="0">
                <a:solidFill>
                  <a:srgbClr val="AEBBCE"/>
                </a:solidFill>
                <a:latin typeface="Calibri" pitchFamily="34" charset="0"/>
                <a:ea typeface="Calibri" pitchFamily="34" charset="-122"/>
                <a:cs typeface="Calibri" pitchFamily="34" charset="-120"/>
              </a:rPr>
              <a:t>   each point joins its closest centroid — nearest-centroid, exactly as before</a:t>
            </a:r>
            <a:endParaRPr lang="en-US" sz="1300" dirty="0"/>
          </a:p>
        </p:txBody>
      </p:sp>
      <p:sp>
        <p:nvSpPr>
          <p:cNvPr id="12" name="Shape 10"/>
          <p:cNvSpPr/>
          <p:nvPr/>
        </p:nvSpPr>
        <p:spPr>
          <a:xfrm>
            <a:off x="502920" y="3630168"/>
            <a:ext cx="100584" cy="100584"/>
          </a:xfrm>
          <a:prstGeom prst="ellipse">
            <a:avLst/>
          </a:prstGeom>
          <a:solidFill>
            <a:srgbClr val="FFC72C"/>
          </a:solidFill>
          <a:ln w="12700">
            <a:solidFill>
              <a:srgbClr val="FFC72C"/>
            </a:solidFill>
            <a:prstDash val="solid"/>
          </a:ln>
        </p:spPr>
        <p:txBody>
          <a:bodyPr/>
          <a:lstStyle/>
          <a:p>
            <a:endParaRPr lang="en-US"/>
          </a:p>
        </p:txBody>
      </p:sp>
      <p:sp>
        <p:nvSpPr>
          <p:cNvPr id="13" name="Text 11"/>
          <p:cNvSpPr txBox="1"/>
          <p:nvPr/>
        </p:nvSpPr>
        <p:spPr>
          <a:xfrm>
            <a:off x="722376" y="3547872"/>
            <a:ext cx="7918704" cy="338328"/>
          </a:xfrm>
          <a:prstGeom prst="rect">
            <a:avLst/>
          </a:prstGeom>
          <a:noFill/>
          <a:ln/>
        </p:spPr>
        <p:txBody>
          <a:bodyPr wrap="square" lIns="0" tIns="0" rIns="0" bIns="0" rtlCol="0" anchor="t"/>
          <a:lstStyle/>
          <a:p>
            <a:pPr marL="0" indent="0">
              <a:buNone/>
            </a:pPr>
            <a:r>
              <a:rPr lang="en-US" sz="1300" b="1" dirty="0">
                <a:solidFill>
                  <a:schemeClr val="bg1"/>
                </a:solidFill>
                <a:latin typeface="Calibri" pitchFamily="34" charset="0"/>
                <a:ea typeface="Calibri" pitchFamily="34" charset="-122"/>
                <a:cs typeface="Calibri" pitchFamily="34" charset="-120"/>
              </a:rPr>
              <a:t>Update</a:t>
            </a:r>
            <a:r>
              <a:rPr lang="en-US" sz="1200" dirty="0">
                <a:solidFill>
                  <a:srgbClr val="AEBBCE"/>
                </a:solidFill>
                <a:latin typeface="Calibri" pitchFamily="34" charset="0"/>
                <a:ea typeface="Calibri" pitchFamily="34" charset="-122"/>
                <a:cs typeface="Calibri" pitchFamily="34" charset="-120"/>
              </a:rPr>
              <a:t>   each centroid moves to the mean of the points that just joined it</a:t>
            </a:r>
            <a:endParaRPr lang="en-US" sz="1300" dirty="0"/>
          </a:p>
        </p:txBody>
      </p:sp>
      <p:sp>
        <p:nvSpPr>
          <p:cNvPr id="14" name="Shape 12"/>
          <p:cNvSpPr/>
          <p:nvPr/>
        </p:nvSpPr>
        <p:spPr>
          <a:xfrm>
            <a:off x="502920" y="3995928"/>
            <a:ext cx="100584" cy="100584"/>
          </a:xfrm>
          <a:prstGeom prst="ellipse">
            <a:avLst/>
          </a:prstGeom>
          <a:solidFill>
            <a:srgbClr val="FFC72C"/>
          </a:solidFill>
          <a:ln w="12700">
            <a:solidFill>
              <a:srgbClr val="FFC72C"/>
            </a:solidFill>
            <a:prstDash val="solid"/>
          </a:ln>
        </p:spPr>
        <p:txBody>
          <a:bodyPr/>
          <a:lstStyle/>
          <a:p>
            <a:endParaRPr lang="en-US"/>
          </a:p>
        </p:txBody>
      </p:sp>
      <p:sp>
        <p:nvSpPr>
          <p:cNvPr id="15" name="Text 13"/>
          <p:cNvSpPr txBox="1"/>
          <p:nvPr/>
        </p:nvSpPr>
        <p:spPr>
          <a:xfrm>
            <a:off x="722376" y="3913632"/>
            <a:ext cx="7918704" cy="338328"/>
          </a:xfrm>
          <a:prstGeom prst="rect">
            <a:avLst/>
          </a:prstGeom>
          <a:noFill/>
          <a:ln/>
        </p:spPr>
        <p:txBody>
          <a:bodyPr wrap="square" lIns="0" tIns="0" rIns="0" bIns="0" rtlCol="0" anchor="t"/>
          <a:lstStyle/>
          <a:p>
            <a:pPr marL="0" indent="0">
              <a:buNone/>
            </a:pPr>
            <a:r>
              <a:rPr lang="en-US" sz="1300" b="1" dirty="0">
                <a:solidFill>
                  <a:schemeClr val="bg1"/>
                </a:solidFill>
                <a:latin typeface="Calibri" pitchFamily="34" charset="0"/>
                <a:ea typeface="Calibri" pitchFamily="34" charset="-122"/>
                <a:cs typeface="Calibri" pitchFamily="34" charset="-120"/>
              </a:rPr>
              <a:t>Repeat</a:t>
            </a:r>
            <a:r>
              <a:rPr lang="en-US" sz="1200" dirty="0">
                <a:solidFill>
                  <a:srgbClr val="AEBBCE"/>
                </a:solidFill>
                <a:latin typeface="Calibri" pitchFamily="34" charset="0"/>
                <a:ea typeface="Calibri" pitchFamily="34" charset="-122"/>
                <a:cs typeface="Calibri" pitchFamily="34" charset="-120"/>
              </a:rPr>
              <a:t>   until nothing moves</a:t>
            </a:r>
            <a:endParaRPr lang="en-US" sz="1300" dirty="0"/>
          </a:p>
        </p:txBody>
      </p:sp>
      <p:sp>
        <p:nvSpPr>
          <p:cNvPr id="16" name="Shape 14"/>
          <p:cNvSpPr/>
          <p:nvPr/>
        </p:nvSpPr>
        <p:spPr>
          <a:xfrm>
            <a:off x="457200" y="4206240"/>
            <a:ext cx="8229600" cy="530352"/>
          </a:xfrm>
          <a:prstGeom prst="roundRect">
            <a:avLst>
              <a:gd name="adj" fmla="val 6897"/>
            </a:avLst>
          </a:prstGeom>
          <a:solidFill>
            <a:srgbClr val="E8F4ED"/>
          </a:solidFill>
          <a:ln w="12700">
            <a:solidFill>
              <a:srgbClr val="1B7A46"/>
            </a:solidFill>
            <a:prstDash val="solid"/>
          </a:ln>
        </p:spPr>
        <p:txBody>
          <a:bodyPr/>
          <a:lstStyle/>
          <a:p>
            <a:endParaRPr lang="en-US"/>
          </a:p>
        </p:txBody>
      </p:sp>
      <p:sp>
        <p:nvSpPr>
          <p:cNvPr id="17" name="Text 15"/>
          <p:cNvSpPr txBox="1"/>
          <p:nvPr/>
        </p:nvSpPr>
        <p:spPr>
          <a:xfrm>
            <a:off x="640080" y="4206240"/>
            <a:ext cx="7863840" cy="530352"/>
          </a:xfrm>
          <a:prstGeom prst="rect">
            <a:avLst/>
          </a:prstGeom>
          <a:noFill/>
          <a:ln/>
        </p:spPr>
        <p:txBody>
          <a:bodyPr wrap="square" lIns="0" tIns="0" rIns="0" bIns="0" rtlCol="0" anchor="ctr"/>
          <a:lstStyle/>
          <a:p>
            <a:pPr marL="0" indent="0">
              <a:buNone/>
            </a:pPr>
            <a:r>
              <a:rPr lang="en-US" sz="1200" b="1" dirty="0">
                <a:solidFill>
                  <a:srgbClr val="1B7A46"/>
                </a:solidFill>
                <a:latin typeface="Calibri" pitchFamily="34" charset="0"/>
                <a:ea typeface="Calibri" pitchFamily="34" charset="-122"/>
                <a:cs typeface="Calibri" pitchFamily="34" charset="-120"/>
              </a:rPr>
              <a:t>K-Means is the nearest-centroid classifier with the labels taken away — so it has to invent the centroids as it goes.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457200" y="384048"/>
            <a:ext cx="118872" cy="118872"/>
          </a:xfrm>
          <a:prstGeom prst="ellipse">
            <a:avLst/>
          </a:prstGeom>
          <a:solidFill>
            <a:srgbClr val="FFC72C"/>
          </a:solidFill>
          <a:ln w="12700">
            <a:solidFill>
              <a:srgbClr val="FFC72C"/>
            </a:solidFill>
            <a:prstDash val="solid"/>
          </a:ln>
        </p:spPr>
        <p:txBody>
          <a:bodyPr/>
          <a:lstStyle/>
          <a:p>
            <a:endParaRPr lang="en-US"/>
          </a:p>
        </p:txBody>
      </p:sp>
      <p:sp>
        <p:nvSpPr>
          <p:cNvPr id="3" name="Text 1"/>
          <p:cNvSpPr txBox="1"/>
          <p:nvPr/>
        </p:nvSpPr>
        <p:spPr>
          <a:xfrm>
            <a:off x="658368" y="329184"/>
            <a:ext cx="8028432" cy="237744"/>
          </a:xfrm>
          <a:prstGeom prst="rect">
            <a:avLst/>
          </a:prstGeom>
          <a:noFill/>
          <a:ln/>
        </p:spPr>
        <p:txBody>
          <a:bodyPr wrap="square" lIns="0" tIns="0" rIns="0" bIns="0" rtlCol="0" anchor="ctr"/>
          <a:lstStyle/>
          <a:p>
            <a:pPr marL="0" indent="0">
              <a:buNone/>
            </a:pPr>
            <a:r>
              <a:rPr lang="en-US" sz="1050" b="1" kern="0" spc="140" dirty="0">
                <a:solidFill>
                  <a:srgbClr val="5A6472"/>
                </a:solidFill>
                <a:latin typeface="Calibri" pitchFamily="34" charset="0"/>
                <a:ea typeface="Calibri" pitchFamily="34" charset="-122"/>
                <a:cs typeface="Calibri" pitchFamily="34" charset="-120"/>
              </a:rPr>
              <a:t>CONCEPT</a:t>
            </a:r>
            <a:endParaRPr lang="en-US" sz="1050" dirty="0"/>
          </a:p>
        </p:txBody>
      </p:sp>
      <p:sp>
        <p:nvSpPr>
          <p:cNvPr id="4" name="Text 2"/>
          <p:cNvSpPr txBox="1"/>
          <p:nvPr/>
        </p:nvSpPr>
        <p:spPr>
          <a:xfrm>
            <a:off x="457200" y="603504"/>
            <a:ext cx="8229600" cy="56692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The K-Means algorithm</a:t>
            </a:r>
            <a:endParaRPr lang="en-US" sz="3000" dirty="0"/>
          </a:p>
        </p:txBody>
      </p:sp>
      <p:sp>
        <p:nvSpPr>
          <p:cNvPr id="5" name="Shape 3"/>
          <p:cNvSpPr/>
          <p:nvPr/>
        </p:nvSpPr>
        <p:spPr>
          <a:xfrm>
            <a:off x="457200" y="1234440"/>
            <a:ext cx="4709160" cy="2834640"/>
          </a:xfrm>
          <a:prstGeom prst="roundRect">
            <a:avLst>
              <a:gd name="adj" fmla="val 1290"/>
            </a:avLst>
          </a:prstGeom>
          <a:solidFill>
            <a:srgbClr val="F1F4F8"/>
          </a:solidFill>
          <a:ln w="9525">
            <a:solidFill>
              <a:srgbClr val="D8DFE8"/>
            </a:solidFill>
            <a:prstDash val="solid"/>
          </a:ln>
        </p:spPr>
        <p:txBody>
          <a:bodyPr/>
          <a:lstStyle/>
          <a:p>
            <a:endParaRPr lang="en-US"/>
          </a:p>
        </p:txBody>
      </p:sp>
      <p:sp>
        <p:nvSpPr>
          <p:cNvPr id="6" name="Text 4"/>
          <p:cNvSpPr txBox="1"/>
          <p:nvPr/>
        </p:nvSpPr>
        <p:spPr>
          <a:xfrm>
            <a:off x="685800" y="1417320"/>
            <a:ext cx="4251960" cy="2514600"/>
          </a:xfrm>
          <a:prstGeom prst="rect">
            <a:avLst/>
          </a:prstGeom>
          <a:noFill/>
          <a:ln/>
        </p:spPr>
        <p:txBody>
          <a:bodyPr wrap="square" lIns="0" tIns="0" rIns="0" bIns="0" rtlCol="0" anchor="ctr"/>
          <a:lstStyle/>
          <a:p>
            <a:pPr marL="0" indent="0">
              <a:spcAft>
                <a:spcPts val="500"/>
              </a:spcAft>
              <a:buNone/>
            </a:pPr>
            <a:r>
              <a:rPr lang="en-US" sz="1150" dirty="0">
                <a:solidFill>
                  <a:srgbClr val="5A6472"/>
                </a:solidFill>
                <a:latin typeface="Calibri" pitchFamily="34" charset="0"/>
                <a:ea typeface="Calibri" pitchFamily="34" charset="-122"/>
                <a:cs typeface="Calibri" pitchFamily="34" charset="-120"/>
              </a:rPr>
              <a:t>Input:  K, and dataset X = { xᵢ },  i = 1, …, n</a:t>
            </a:r>
            <a:endParaRPr lang="en-US" sz="1150" dirty="0"/>
          </a:p>
          <a:p>
            <a:pPr marL="0" indent="0">
              <a:spcAft>
                <a:spcPts val="500"/>
              </a:spcAft>
              <a:buNone/>
            </a:pPr>
            <a:r>
              <a:rPr lang="en-US" sz="1150" dirty="0">
                <a:solidFill>
                  <a:srgbClr val="5A6472"/>
                </a:solidFill>
                <a:latin typeface="Calibri" pitchFamily="34" charset="0"/>
                <a:ea typeface="Calibri" pitchFamily="34" charset="-122"/>
                <a:cs typeface="Calibri" pitchFamily="34" charset="-120"/>
              </a:rPr>
              <a:t>Output:  centroids c₁ … cₖ and assignments z₁ … zₙ</a:t>
            </a:r>
            <a:endParaRPr lang="en-US" sz="1150" dirty="0"/>
          </a:p>
          <a:p>
            <a:pPr marL="0" indent="0">
              <a:spcAft>
                <a:spcPts val="500"/>
              </a:spcAft>
              <a:buNone/>
            </a:pPr>
            <a:r>
              <a:rPr lang="en-US" sz="600" dirty="0">
                <a:solidFill>
                  <a:srgbClr val="000000"/>
                </a:solidFill>
                <a:latin typeface="Calibri" pitchFamily="34" charset="0"/>
                <a:ea typeface="Calibri" pitchFamily="34" charset="-122"/>
                <a:cs typeface="Calibri" pitchFamily="34" charset="-120"/>
              </a:rPr>
              <a:t> </a:t>
            </a:r>
            <a:endParaRPr lang="en-US" sz="1150" dirty="0"/>
          </a:p>
          <a:p>
            <a:pPr marL="0" indent="0">
              <a:spcAft>
                <a:spcPts val="500"/>
              </a:spcAft>
              <a:buNone/>
            </a:pPr>
            <a:r>
              <a:rPr lang="en-US" sz="1250" dirty="0">
                <a:solidFill>
                  <a:srgbClr val="1B2430"/>
                </a:solidFill>
                <a:latin typeface="Calibri" pitchFamily="34" charset="0"/>
                <a:ea typeface="Calibri" pitchFamily="34" charset="-122"/>
                <a:cs typeface="Calibri" pitchFamily="34" charset="-120"/>
              </a:rPr>
              <a:t>1.  Initialize K centroids</a:t>
            </a:r>
            <a:endParaRPr lang="en-US" sz="1150" dirty="0"/>
          </a:p>
          <a:p>
            <a:pPr marL="0" indent="0">
              <a:spcAft>
                <a:spcPts val="500"/>
              </a:spcAft>
              <a:buNone/>
            </a:pPr>
            <a:r>
              <a:rPr lang="en-US" sz="1250" b="1" dirty="0">
                <a:solidFill>
                  <a:srgbClr val="1A5FB4"/>
                </a:solidFill>
                <a:latin typeface="Calibri" pitchFamily="34" charset="0"/>
                <a:ea typeface="Calibri" pitchFamily="34" charset="-122"/>
                <a:cs typeface="Calibri" pitchFamily="34" charset="-120"/>
              </a:rPr>
              <a:t>2.  Assignment step</a:t>
            </a:r>
            <a:endParaRPr lang="en-US" sz="1150" dirty="0"/>
          </a:p>
          <a:p>
            <a:pPr marL="0" indent="0">
              <a:spcAft>
                <a:spcPts val="500"/>
              </a:spcAft>
              <a:buNone/>
            </a:pPr>
            <a:r>
              <a:rPr lang="en-US" sz="1350" dirty="0">
                <a:solidFill>
                  <a:srgbClr val="1A5FB4"/>
                </a:solidFill>
                <a:latin typeface="Cambria" pitchFamily="34" charset="0"/>
                <a:ea typeface="Cambria" pitchFamily="34" charset="-122"/>
                <a:cs typeface="Cambria" pitchFamily="34" charset="-120"/>
              </a:rPr>
              <a:t>      zᵢ = argminₖ ‖xᵢ − cₖ‖²</a:t>
            </a:r>
            <a:endParaRPr lang="en-US" sz="1150" dirty="0"/>
          </a:p>
          <a:p>
            <a:pPr marL="0" indent="0">
              <a:spcAft>
                <a:spcPts val="500"/>
              </a:spcAft>
              <a:buNone/>
            </a:pPr>
            <a:r>
              <a:rPr lang="en-US" sz="1250" b="1" dirty="0">
                <a:solidFill>
                  <a:srgbClr val="1A5FB4"/>
                </a:solidFill>
                <a:latin typeface="Calibri" pitchFamily="34" charset="0"/>
                <a:ea typeface="Calibri" pitchFamily="34" charset="-122"/>
                <a:cs typeface="Calibri" pitchFamily="34" charset="-120"/>
              </a:rPr>
              <a:t>3.  Update step</a:t>
            </a:r>
            <a:endParaRPr lang="en-US" sz="1150" dirty="0"/>
          </a:p>
          <a:p>
            <a:pPr marL="0" indent="0">
              <a:spcAft>
                <a:spcPts val="500"/>
              </a:spcAft>
              <a:buNone/>
            </a:pPr>
            <a:r>
              <a:rPr lang="en-US" sz="1350" dirty="0">
                <a:solidFill>
                  <a:srgbClr val="1A5FB4"/>
                </a:solidFill>
                <a:latin typeface="Cambria" pitchFamily="34" charset="0"/>
                <a:ea typeface="Cambria" pitchFamily="34" charset="-122"/>
                <a:cs typeface="Cambria" pitchFamily="34" charset="-120"/>
              </a:rPr>
              <a:t>      cₖ = mean of all xᵢ with zᵢ = k</a:t>
            </a:r>
            <a:endParaRPr lang="en-US" sz="1150" dirty="0"/>
          </a:p>
          <a:p>
            <a:pPr marL="0" indent="0">
              <a:spcAft>
                <a:spcPts val="500"/>
              </a:spcAft>
              <a:buNone/>
            </a:pPr>
            <a:r>
              <a:rPr lang="en-US" sz="1250" dirty="0">
                <a:solidFill>
                  <a:srgbClr val="1B2430"/>
                </a:solidFill>
                <a:latin typeface="Calibri" pitchFamily="34" charset="0"/>
                <a:ea typeface="Calibri" pitchFamily="34" charset="-122"/>
                <a:cs typeface="Calibri" pitchFamily="34" charset="-120"/>
              </a:rPr>
              <a:t>4.  Repeat 2–3 until the assignments stop changing</a:t>
            </a:r>
            <a:endParaRPr lang="en-US" sz="1150" dirty="0"/>
          </a:p>
        </p:txBody>
      </p:sp>
      <p:sp>
        <p:nvSpPr>
          <p:cNvPr id="7" name="Shape 5"/>
          <p:cNvSpPr/>
          <p:nvPr/>
        </p:nvSpPr>
        <p:spPr>
          <a:xfrm>
            <a:off x="5394960" y="1234440"/>
            <a:ext cx="3291840" cy="2834640"/>
          </a:xfrm>
          <a:prstGeom prst="roundRect">
            <a:avLst>
              <a:gd name="adj" fmla="val 1290"/>
            </a:avLst>
          </a:prstGeom>
          <a:blipFill dpi="0" rotWithShape="1">
            <a:blip r:embed="rId3">
              <a:extLst>
                <a:ext uri="{28A0092B-C50C-407E-A947-70E740481C1C}">
                  <a14:useLocalDpi xmlns:a14="http://schemas.microsoft.com/office/drawing/2010/main" val="0"/>
                </a:ext>
              </a:extLst>
            </a:blip>
            <a:srcRect/>
            <a:stretch>
              <a:fillRect/>
            </a:stretch>
          </a:blipFill>
          <a:ln w="9525">
            <a:solidFill>
              <a:srgbClr val="D8DFE8"/>
            </a:solidFill>
            <a:prstDash val="solid"/>
          </a:ln>
        </p:spPr>
        <p:txBody>
          <a:bodyPr/>
          <a:lstStyle/>
          <a:p>
            <a:endParaRPr lang="en-US"/>
          </a:p>
        </p:txBody>
      </p:sp>
      <p:sp>
        <p:nvSpPr>
          <p:cNvPr id="9" name="Shape 7"/>
          <p:cNvSpPr/>
          <p:nvPr/>
        </p:nvSpPr>
        <p:spPr>
          <a:xfrm>
            <a:off x="457200" y="4206240"/>
            <a:ext cx="8229600" cy="530352"/>
          </a:xfrm>
          <a:prstGeom prst="roundRect">
            <a:avLst>
              <a:gd name="adj" fmla="val 6897"/>
            </a:avLst>
          </a:prstGeom>
          <a:solidFill>
            <a:srgbClr val="E8F4ED"/>
          </a:solidFill>
          <a:ln w="12700">
            <a:solidFill>
              <a:srgbClr val="1B7A46"/>
            </a:solidFill>
            <a:prstDash val="solid"/>
          </a:ln>
        </p:spPr>
        <p:txBody>
          <a:bodyPr/>
          <a:lstStyle/>
          <a:p>
            <a:endParaRPr lang="en-US"/>
          </a:p>
        </p:txBody>
      </p:sp>
      <p:sp>
        <p:nvSpPr>
          <p:cNvPr id="10" name="Text 8"/>
          <p:cNvSpPr txBox="1"/>
          <p:nvPr/>
        </p:nvSpPr>
        <p:spPr>
          <a:xfrm>
            <a:off x="640080" y="4206240"/>
            <a:ext cx="7863840" cy="530352"/>
          </a:xfrm>
          <a:prstGeom prst="rect">
            <a:avLst/>
          </a:prstGeom>
          <a:noFill/>
          <a:ln/>
        </p:spPr>
        <p:txBody>
          <a:bodyPr wrap="square" lIns="0" tIns="0" rIns="0" bIns="0" rtlCol="0" anchor="ctr"/>
          <a:lstStyle/>
          <a:p>
            <a:pPr marL="0" indent="0">
              <a:buNone/>
            </a:pPr>
            <a:r>
              <a:rPr lang="en-US" sz="1200" b="1" dirty="0">
                <a:solidFill>
                  <a:srgbClr val="1B7A46"/>
                </a:solidFill>
                <a:latin typeface="Calibri" pitchFamily="34" charset="0"/>
                <a:ea typeface="Calibri" pitchFamily="34" charset="-122"/>
                <a:cs typeface="Calibri" pitchFamily="34" charset="-120"/>
              </a:rPr>
              <a:t>Two steps, alternating. Neither is complicated — the interesting part is what they are jointly optimizing.</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457200" y="384048"/>
            <a:ext cx="118872" cy="118872"/>
          </a:xfrm>
          <a:prstGeom prst="ellipse">
            <a:avLst/>
          </a:prstGeom>
          <a:solidFill>
            <a:srgbClr val="FFC72C"/>
          </a:solidFill>
          <a:ln w="12700">
            <a:solidFill>
              <a:srgbClr val="FFC72C"/>
            </a:solidFill>
            <a:prstDash val="solid"/>
          </a:ln>
        </p:spPr>
        <p:txBody>
          <a:bodyPr/>
          <a:lstStyle/>
          <a:p>
            <a:endParaRPr lang="en-US"/>
          </a:p>
        </p:txBody>
      </p:sp>
      <p:sp>
        <p:nvSpPr>
          <p:cNvPr id="3" name="Text 1"/>
          <p:cNvSpPr txBox="1"/>
          <p:nvPr/>
        </p:nvSpPr>
        <p:spPr>
          <a:xfrm>
            <a:off x="658368" y="329184"/>
            <a:ext cx="8028432" cy="237744"/>
          </a:xfrm>
          <a:prstGeom prst="rect">
            <a:avLst/>
          </a:prstGeom>
          <a:noFill/>
          <a:ln/>
        </p:spPr>
        <p:txBody>
          <a:bodyPr wrap="square" lIns="0" tIns="0" rIns="0" bIns="0" rtlCol="0" anchor="ctr"/>
          <a:lstStyle/>
          <a:p>
            <a:pPr marL="0" indent="0">
              <a:buNone/>
            </a:pPr>
            <a:r>
              <a:rPr lang="en-US" sz="1050" b="1" kern="0" spc="140" dirty="0">
                <a:solidFill>
                  <a:srgbClr val="5A6472"/>
                </a:solidFill>
                <a:latin typeface="Calibri" pitchFamily="34" charset="0"/>
                <a:ea typeface="Calibri" pitchFamily="34" charset="-122"/>
                <a:cs typeface="Calibri" pitchFamily="34" charset="-120"/>
              </a:rPr>
              <a:t>CONCEPT</a:t>
            </a:r>
            <a:endParaRPr lang="en-US" sz="1050" dirty="0"/>
          </a:p>
        </p:txBody>
      </p:sp>
      <p:sp>
        <p:nvSpPr>
          <p:cNvPr id="4" name="Text 2"/>
          <p:cNvSpPr txBox="1"/>
          <p:nvPr/>
        </p:nvSpPr>
        <p:spPr>
          <a:xfrm>
            <a:off x="457200" y="603504"/>
            <a:ext cx="8229600" cy="56692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What K-Means is actually minimizing</a:t>
            </a:r>
            <a:endParaRPr lang="en-US" sz="3000" dirty="0"/>
          </a:p>
        </p:txBody>
      </p:sp>
      <p:sp>
        <p:nvSpPr>
          <p:cNvPr id="5" name="Shape 3"/>
          <p:cNvSpPr/>
          <p:nvPr/>
        </p:nvSpPr>
        <p:spPr>
          <a:xfrm>
            <a:off x="457200" y="1234440"/>
            <a:ext cx="8229600" cy="658368"/>
          </a:xfrm>
          <a:prstGeom prst="roundRect">
            <a:avLst>
              <a:gd name="adj" fmla="val 5556"/>
            </a:avLst>
          </a:prstGeom>
          <a:solidFill>
            <a:srgbClr val="F1F4F8"/>
          </a:solidFill>
          <a:ln w="9525">
            <a:solidFill>
              <a:srgbClr val="D8DFE8"/>
            </a:solidFill>
            <a:prstDash val="solid"/>
          </a:ln>
        </p:spPr>
        <p:txBody>
          <a:bodyPr/>
          <a:lstStyle/>
          <a:p>
            <a:endParaRPr lang="en-US"/>
          </a:p>
        </p:txBody>
      </p:sp>
      <p:sp>
        <p:nvSpPr>
          <p:cNvPr id="6" name="Text 4"/>
          <p:cNvSpPr txBox="1"/>
          <p:nvPr/>
        </p:nvSpPr>
        <p:spPr>
          <a:xfrm>
            <a:off x="685800" y="1234440"/>
            <a:ext cx="7772400" cy="658368"/>
          </a:xfrm>
          <a:prstGeom prst="rect">
            <a:avLst/>
          </a:prstGeom>
          <a:noFill/>
          <a:ln/>
        </p:spPr>
        <p:txBody>
          <a:bodyPr wrap="square" lIns="0" tIns="0" rIns="0" bIns="0" rtlCol="0" anchor="ctr"/>
          <a:lstStyle/>
          <a:p>
            <a:pPr marL="0" indent="0">
              <a:buNone/>
            </a:pPr>
            <a:r>
              <a:rPr lang="en-US" sz="1450" dirty="0">
                <a:solidFill>
                  <a:srgbClr val="1A5FB4"/>
                </a:solidFill>
                <a:latin typeface="Cambria" pitchFamily="34" charset="0"/>
                <a:ea typeface="Cambria" pitchFamily="34" charset="-122"/>
                <a:cs typeface="Cambria" pitchFamily="34" charset="-120"/>
              </a:rPr>
              <a:t>SSE(c, z)  =  Σᵢ ‖xᵢ − c[zᵢ]‖²</a:t>
            </a:r>
            <a:r>
              <a:rPr lang="en-US" sz="1150" dirty="0">
                <a:solidFill>
                  <a:srgbClr val="5A6472"/>
                </a:solidFill>
                <a:latin typeface="Calibri" pitchFamily="34" charset="0"/>
                <a:ea typeface="Calibri" pitchFamily="34" charset="-122"/>
                <a:cs typeface="Calibri" pitchFamily="34" charset="-120"/>
              </a:rPr>
              <a:t>          the total squared distance from every point to its own centroid</a:t>
            </a:r>
            <a:endParaRPr lang="en-US" sz="1450" dirty="0"/>
          </a:p>
        </p:txBody>
      </p:sp>
      <p:sp>
        <p:nvSpPr>
          <p:cNvPr id="7" name="Shape 5"/>
          <p:cNvSpPr/>
          <p:nvPr/>
        </p:nvSpPr>
        <p:spPr>
          <a:xfrm>
            <a:off x="457200" y="2057400"/>
            <a:ext cx="4041648" cy="1051560"/>
          </a:xfrm>
          <a:prstGeom prst="roundRect">
            <a:avLst>
              <a:gd name="adj" fmla="val 3478"/>
            </a:avLst>
          </a:prstGeom>
          <a:solidFill>
            <a:srgbClr val="F1F4F8"/>
          </a:solidFill>
          <a:ln w="9525">
            <a:solidFill>
              <a:srgbClr val="D8DFE8"/>
            </a:solidFill>
            <a:prstDash val="solid"/>
          </a:ln>
        </p:spPr>
        <p:txBody>
          <a:bodyPr/>
          <a:lstStyle/>
          <a:p>
            <a:endParaRPr lang="en-US"/>
          </a:p>
        </p:txBody>
      </p:sp>
      <p:sp>
        <p:nvSpPr>
          <p:cNvPr id="8" name="Text 6"/>
          <p:cNvSpPr txBox="1"/>
          <p:nvPr/>
        </p:nvSpPr>
        <p:spPr>
          <a:xfrm>
            <a:off x="640080" y="2057400"/>
            <a:ext cx="3675888" cy="1051560"/>
          </a:xfrm>
          <a:prstGeom prst="rect">
            <a:avLst/>
          </a:prstGeom>
          <a:noFill/>
          <a:ln/>
        </p:spPr>
        <p:txBody>
          <a:bodyPr wrap="square" lIns="0" tIns="0" rIns="0" bIns="0" rtlCol="0" anchor="ctr"/>
          <a:lstStyle/>
          <a:p>
            <a:pPr marL="0" indent="0">
              <a:spcAft>
                <a:spcPts val="500"/>
              </a:spcAft>
              <a:buNone/>
            </a:pPr>
            <a:r>
              <a:rPr lang="en-US" sz="1250" b="1" dirty="0">
                <a:solidFill>
                  <a:srgbClr val="1A5FB4"/>
                </a:solidFill>
                <a:latin typeface="Calibri" pitchFamily="34" charset="0"/>
                <a:ea typeface="Calibri" pitchFamily="34" charset="-122"/>
                <a:cs typeface="Calibri" pitchFamily="34" charset="-120"/>
              </a:rPr>
              <a:t>The assignment step</a:t>
            </a:r>
            <a:endParaRPr lang="en-US" sz="1250" dirty="0"/>
          </a:p>
          <a:p>
            <a:pPr marL="0" indent="0">
              <a:spcAft>
                <a:spcPts val="500"/>
              </a:spcAft>
              <a:buNone/>
            </a:pPr>
            <a:r>
              <a:rPr lang="en-US" sz="1200" dirty="0">
                <a:solidFill>
                  <a:srgbClr val="1B2430"/>
                </a:solidFill>
                <a:latin typeface="Calibri" pitchFamily="34" charset="0"/>
                <a:ea typeface="Calibri" pitchFamily="34" charset="-122"/>
                <a:cs typeface="Calibri" pitchFamily="34" charset="-120"/>
              </a:rPr>
              <a:t>minimizes SSE with the centroids held fixed — each point simply picks the centroid nearest to it.</a:t>
            </a:r>
            <a:endParaRPr lang="en-US" sz="1250" dirty="0"/>
          </a:p>
        </p:txBody>
      </p:sp>
      <p:sp>
        <p:nvSpPr>
          <p:cNvPr id="9" name="Shape 7"/>
          <p:cNvSpPr/>
          <p:nvPr/>
        </p:nvSpPr>
        <p:spPr>
          <a:xfrm>
            <a:off x="4645152" y="2057400"/>
            <a:ext cx="4041648" cy="1051560"/>
          </a:xfrm>
          <a:prstGeom prst="roundRect">
            <a:avLst>
              <a:gd name="adj" fmla="val 3478"/>
            </a:avLst>
          </a:prstGeom>
          <a:solidFill>
            <a:srgbClr val="F1F4F8"/>
          </a:solidFill>
          <a:ln w="9525">
            <a:solidFill>
              <a:srgbClr val="D8DFE8"/>
            </a:solidFill>
            <a:prstDash val="solid"/>
          </a:ln>
        </p:spPr>
        <p:txBody>
          <a:bodyPr/>
          <a:lstStyle/>
          <a:p>
            <a:endParaRPr lang="en-US"/>
          </a:p>
        </p:txBody>
      </p:sp>
      <p:sp>
        <p:nvSpPr>
          <p:cNvPr id="10" name="Text 8"/>
          <p:cNvSpPr txBox="1"/>
          <p:nvPr/>
        </p:nvSpPr>
        <p:spPr>
          <a:xfrm>
            <a:off x="4828032" y="2057400"/>
            <a:ext cx="3675888" cy="1051560"/>
          </a:xfrm>
          <a:prstGeom prst="rect">
            <a:avLst/>
          </a:prstGeom>
          <a:noFill/>
          <a:ln/>
        </p:spPr>
        <p:txBody>
          <a:bodyPr wrap="square" lIns="0" tIns="0" rIns="0" bIns="0" rtlCol="0" anchor="ctr"/>
          <a:lstStyle/>
          <a:p>
            <a:pPr marL="0" indent="0">
              <a:spcAft>
                <a:spcPts val="500"/>
              </a:spcAft>
              <a:buNone/>
            </a:pPr>
            <a:r>
              <a:rPr lang="en-US" sz="1250" b="1" dirty="0">
                <a:solidFill>
                  <a:srgbClr val="1A5FB4"/>
                </a:solidFill>
                <a:latin typeface="Calibri" pitchFamily="34" charset="0"/>
                <a:ea typeface="Calibri" pitchFamily="34" charset="-122"/>
                <a:cs typeface="Calibri" pitchFamily="34" charset="-120"/>
              </a:rPr>
              <a:t>The update step</a:t>
            </a:r>
            <a:endParaRPr lang="en-US" sz="1250" dirty="0"/>
          </a:p>
          <a:p>
            <a:pPr marL="0" indent="0">
              <a:spcAft>
                <a:spcPts val="500"/>
              </a:spcAft>
              <a:buNone/>
            </a:pPr>
            <a:r>
              <a:rPr lang="en-US" sz="1200" dirty="0">
                <a:solidFill>
                  <a:srgbClr val="1B2430"/>
                </a:solidFill>
                <a:latin typeface="Calibri" pitchFamily="34" charset="0"/>
                <a:ea typeface="Calibri" pitchFamily="34" charset="-122"/>
                <a:cs typeface="Calibri" pitchFamily="34" charset="-120"/>
              </a:rPr>
              <a:t>minimizes SSE with the assignments held fixed — the mean is the point that minimizes squared distance to a set.</a:t>
            </a:r>
            <a:endParaRPr lang="en-US" sz="1250" dirty="0"/>
          </a:p>
        </p:txBody>
      </p:sp>
      <p:sp>
        <p:nvSpPr>
          <p:cNvPr id="11" name="Shape 9"/>
          <p:cNvSpPr/>
          <p:nvPr/>
        </p:nvSpPr>
        <p:spPr>
          <a:xfrm>
            <a:off x="457200" y="3246120"/>
            <a:ext cx="8229600" cy="1188720"/>
          </a:xfrm>
          <a:prstGeom prst="roundRect">
            <a:avLst>
              <a:gd name="adj" fmla="val 3077"/>
            </a:avLst>
          </a:prstGeom>
          <a:solidFill>
            <a:srgbClr val="E8F4ED"/>
          </a:solidFill>
          <a:ln w="9525">
            <a:solidFill>
              <a:srgbClr val="1B7A46"/>
            </a:solidFill>
            <a:prstDash val="solid"/>
          </a:ln>
        </p:spPr>
        <p:txBody>
          <a:bodyPr/>
          <a:lstStyle/>
          <a:p>
            <a:endParaRPr lang="en-US"/>
          </a:p>
        </p:txBody>
      </p:sp>
      <p:sp>
        <p:nvSpPr>
          <p:cNvPr id="12" name="Text 10"/>
          <p:cNvSpPr txBox="1"/>
          <p:nvPr/>
        </p:nvSpPr>
        <p:spPr>
          <a:xfrm>
            <a:off x="685800" y="3246120"/>
            <a:ext cx="7772400" cy="1188720"/>
          </a:xfrm>
          <a:prstGeom prst="rect">
            <a:avLst/>
          </a:prstGeom>
          <a:noFill/>
          <a:ln/>
        </p:spPr>
        <p:txBody>
          <a:bodyPr wrap="square" lIns="0" tIns="0" rIns="0" bIns="0" rtlCol="0" anchor="ctr"/>
          <a:lstStyle/>
          <a:p>
            <a:pPr marL="0" indent="0">
              <a:spcAft>
                <a:spcPts val="500"/>
              </a:spcAft>
              <a:buNone/>
            </a:pPr>
            <a:r>
              <a:rPr lang="en-US" sz="1200" b="1" dirty="0">
                <a:solidFill>
                  <a:srgbClr val="1B7A46"/>
                </a:solidFill>
                <a:latin typeface="Calibri" pitchFamily="34" charset="0"/>
                <a:ea typeface="Calibri" pitchFamily="34" charset="-122"/>
                <a:cs typeface="Calibri" pitchFamily="34" charset="-120"/>
              </a:rPr>
              <a:t>So SSE can only ever go down, and it is bounded below by zero — which is the whole convergence proof.</a:t>
            </a:r>
            <a:endParaRPr lang="en-US" sz="1200" dirty="0"/>
          </a:p>
          <a:p>
            <a:pPr marL="0" indent="0">
              <a:spcAft>
                <a:spcPts val="500"/>
              </a:spcAft>
              <a:buNone/>
            </a:pPr>
            <a:r>
              <a:rPr lang="en-US" sz="1150" dirty="0">
                <a:solidFill>
                  <a:srgbClr val="1B2430"/>
                </a:solidFill>
                <a:latin typeface="Calibri" pitchFamily="34" charset="0"/>
                <a:ea typeface="Calibri" pitchFamily="34" charset="-122"/>
                <a:cs typeface="Calibri" pitchFamily="34" charset="-120"/>
              </a:rPr>
              <a:t>Notice this is the same squared-error objective as MSE in linear regression. We just cannot reach it with gradient descent, because z is a discrete choice rather than a continuous parameter.</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457200" y="384048"/>
            <a:ext cx="118872" cy="118872"/>
          </a:xfrm>
          <a:prstGeom prst="ellipse">
            <a:avLst/>
          </a:prstGeom>
          <a:solidFill>
            <a:srgbClr val="FFC72C"/>
          </a:solidFill>
          <a:ln w="12700">
            <a:solidFill>
              <a:srgbClr val="FFC72C"/>
            </a:solidFill>
            <a:prstDash val="solid"/>
          </a:ln>
        </p:spPr>
        <p:txBody>
          <a:bodyPr/>
          <a:lstStyle/>
          <a:p>
            <a:endParaRPr lang="en-US"/>
          </a:p>
        </p:txBody>
      </p:sp>
      <p:sp>
        <p:nvSpPr>
          <p:cNvPr id="3" name="Text 1"/>
          <p:cNvSpPr txBox="1"/>
          <p:nvPr/>
        </p:nvSpPr>
        <p:spPr>
          <a:xfrm>
            <a:off x="658368" y="329184"/>
            <a:ext cx="8028432" cy="237744"/>
          </a:xfrm>
          <a:prstGeom prst="rect">
            <a:avLst/>
          </a:prstGeom>
          <a:noFill/>
          <a:ln/>
        </p:spPr>
        <p:txBody>
          <a:bodyPr wrap="square" lIns="0" tIns="0" rIns="0" bIns="0" rtlCol="0" anchor="ctr"/>
          <a:lstStyle/>
          <a:p>
            <a:pPr marL="0" indent="0">
              <a:buNone/>
            </a:pPr>
            <a:r>
              <a:rPr lang="en-US" sz="1050" b="1" kern="0" spc="140" dirty="0">
                <a:solidFill>
                  <a:srgbClr val="5A6472"/>
                </a:solidFill>
                <a:latin typeface="Calibri" pitchFamily="34" charset="0"/>
                <a:ea typeface="Calibri" pitchFamily="34" charset="-122"/>
                <a:cs typeface="Calibri" pitchFamily="34" charset="-120"/>
              </a:rPr>
              <a:t>CONCEPT</a:t>
            </a:r>
            <a:endParaRPr lang="en-US" sz="1050" dirty="0"/>
          </a:p>
        </p:txBody>
      </p:sp>
      <p:sp>
        <p:nvSpPr>
          <p:cNvPr id="4" name="Text 2"/>
          <p:cNvSpPr txBox="1"/>
          <p:nvPr/>
        </p:nvSpPr>
        <p:spPr>
          <a:xfrm>
            <a:off x="457200" y="603504"/>
            <a:ext cx="8229600" cy="566928"/>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Distance has units — and units decide the answer</a:t>
            </a:r>
            <a:endParaRPr lang="en-US" sz="2500" dirty="0"/>
          </a:p>
        </p:txBody>
      </p:sp>
      <p:sp>
        <p:nvSpPr>
          <p:cNvPr id="5" name="Shape 3"/>
          <p:cNvSpPr/>
          <p:nvPr/>
        </p:nvSpPr>
        <p:spPr>
          <a:xfrm>
            <a:off x="457200" y="1261872"/>
            <a:ext cx="3749040" cy="1371600"/>
          </a:xfrm>
          <a:prstGeom prst="roundRect">
            <a:avLst>
              <a:gd name="adj" fmla="val 2667"/>
            </a:avLst>
          </a:prstGeom>
          <a:solidFill>
            <a:srgbClr val="F1F4F8"/>
          </a:solidFill>
          <a:ln w="9525">
            <a:solidFill>
              <a:srgbClr val="D8DFE8"/>
            </a:solidFill>
            <a:prstDash val="solid"/>
          </a:ln>
        </p:spPr>
        <p:txBody>
          <a:bodyPr/>
          <a:lstStyle/>
          <a:p>
            <a:endParaRPr lang="en-US"/>
          </a:p>
        </p:txBody>
      </p:sp>
      <p:sp>
        <p:nvSpPr>
          <p:cNvPr id="6" name="Text 4"/>
          <p:cNvSpPr txBox="1"/>
          <p:nvPr/>
        </p:nvSpPr>
        <p:spPr>
          <a:xfrm>
            <a:off x="640080" y="1399032"/>
            <a:ext cx="3383280" cy="1097280"/>
          </a:xfrm>
          <a:prstGeom prst="rect">
            <a:avLst/>
          </a:prstGeom>
          <a:noFill/>
          <a:ln/>
        </p:spPr>
        <p:txBody>
          <a:bodyPr wrap="square" lIns="0" tIns="0" rIns="0" bIns="0" rtlCol="0" anchor="ctr"/>
          <a:lstStyle/>
          <a:p>
            <a:pPr marL="0" indent="0">
              <a:spcAft>
                <a:spcPts val="300"/>
              </a:spcAft>
              <a:buNone/>
            </a:pPr>
            <a:r>
              <a:rPr lang="en-US" sz="1250" b="1" dirty="0">
                <a:solidFill>
                  <a:srgbClr val="1A5FB4"/>
                </a:solidFill>
                <a:latin typeface="Calibri" pitchFamily="34" charset="0"/>
                <a:ea typeface="Calibri" pitchFamily="34" charset="-122"/>
                <a:cs typeface="Calibri" pitchFamily="34" charset="-120"/>
              </a:rPr>
              <a:t>The penguins, unscaled</a:t>
            </a:r>
            <a:endParaRPr lang="en-US" sz="1250" dirty="0"/>
          </a:p>
          <a:p>
            <a:pPr marL="0" indent="0">
              <a:spcAft>
                <a:spcPts val="300"/>
              </a:spcAft>
              <a:buNone/>
            </a:pPr>
            <a:r>
              <a:rPr lang="en-US" sz="1150" dirty="0">
                <a:solidFill>
                  <a:srgbClr val="1B2430"/>
                </a:solidFill>
                <a:latin typeface="Calibri" pitchFamily="34" charset="0"/>
                <a:ea typeface="Calibri" pitchFamily="34" charset="-122"/>
                <a:cs typeface="Calibri" pitchFamily="34" charset="-120"/>
              </a:rPr>
              <a:t>bill_length ≈ 44 mm</a:t>
            </a:r>
            <a:endParaRPr lang="en-US" sz="1250" dirty="0"/>
          </a:p>
          <a:p>
            <a:pPr marL="0" indent="0">
              <a:spcAft>
                <a:spcPts val="300"/>
              </a:spcAft>
              <a:buNone/>
            </a:pPr>
            <a:r>
              <a:rPr lang="en-US" sz="1150" dirty="0">
                <a:solidFill>
                  <a:srgbClr val="1B2430"/>
                </a:solidFill>
                <a:latin typeface="Calibri" pitchFamily="34" charset="0"/>
                <a:ea typeface="Calibri" pitchFamily="34" charset="-122"/>
                <a:cs typeface="Calibri" pitchFamily="34" charset="-120"/>
              </a:rPr>
              <a:t>bill_depth ≈ 17 mm</a:t>
            </a:r>
            <a:endParaRPr lang="en-US" sz="1250" dirty="0"/>
          </a:p>
          <a:p>
            <a:pPr marL="0" indent="0">
              <a:spcAft>
                <a:spcPts val="300"/>
              </a:spcAft>
              <a:buNone/>
            </a:pPr>
            <a:r>
              <a:rPr lang="en-US" sz="1150" dirty="0">
                <a:solidFill>
                  <a:srgbClr val="1B2430"/>
                </a:solidFill>
                <a:latin typeface="Calibri" pitchFamily="34" charset="0"/>
                <a:ea typeface="Calibri" pitchFamily="34" charset="-122"/>
                <a:cs typeface="Calibri" pitchFamily="34" charset="-120"/>
              </a:rPr>
              <a:t>flipper_length ≈ 201 mm</a:t>
            </a:r>
            <a:endParaRPr lang="en-US" sz="1250" dirty="0"/>
          </a:p>
          <a:p>
            <a:pPr marL="0" indent="0">
              <a:spcAft>
                <a:spcPts val="300"/>
              </a:spcAft>
              <a:buNone/>
            </a:pPr>
            <a:r>
              <a:rPr lang="en-US" sz="1150" dirty="0">
                <a:solidFill>
                  <a:srgbClr val="1B2430"/>
                </a:solidFill>
                <a:latin typeface="Calibri" pitchFamily="34" charset="0"/>
                <a:ea typeface="Calibri" pitchFamily="34" charset="-122"/>
                <a:cs typeface="Calibri" pitchFamily="34" charset="-120"/>
              </a:rPr>
              <a:t>body_mass ≈ 4200 g</a:t>
            </a:r>
            <a:endParaRPr lang="en-US" sz="1250" dirty="0"/>
          </a:p>
        </p:txBody>
      </p:sp>
      <p:sp>
        <p:nvSpPr>
          <p:cNvPr id="7" name="Text 5"/>
          <p:cNvSpPr txBox="1"/>
          <p:nvPr/>
        </p:nvSpPr>
        <p:spPr>
          <a:xfrm>
            <a:off x="4434840" y="1261872"/>
            <a:ext cx="4251960" cy="1371600"/>
          </a:xfrm>
          <a:prstGeom prst="rect">
            <a:avLst/>
          </a:prstGeom>
          <a:noFill/>
          <a:ln/>
        </p:spPr>
        <p:txBody>
          <a:bodyPr wrap="square" lIns="0" tIns="0" rIns="0" bIns="0" rtlCol="0" anchor="ctr"/>
          <a:lstStyle/>
          <a:p>
            <a:pPr marL="0" indent="0">
              <a:buNone/>
            </a:pPr>
            <a:r>
              <a:rPr lang="en-US" sz="1200" dirty="0">
                <a:solidFill>
                  <a:srgbClr val="AEBBCE"/>
                </a:solidFill>
                <a:latin typeface="Calibri" pitchFamily="34" charset="0"/>
                <a:ea typeface="Calibri" pitchFamily="34" charset="-122"/>
                <a:cs typeface="Calibri" pitchFamily="34" charset="-120"/>
              </a:rPr>
              <a:t>Squared differences in body mass are thousands of times larger than anything else, so the Euclidean distance is effectively body mass alone. K-Means dutifully splits the penguins into heavy, medium and light.</a:t>
            </a:r>
            <a:endParaRPr lang="en-US" sz="1200" dirty="0"/>
          </a:p>
        </p:txBody>
      </p:sp>
      <p:sp>
        <p:nvSpPr>
          <p:cNvPr id="8" name="Shape 6"/>
          <p:cNvSpPr/>
          <p:nvPr/>
        </p:nvSpPr>
        <p:spPr>
          <a:xfrm>
            <a:off x="457200" y="2912196"/>
            <a:ext cx="8229600" cy="1084291"/>
          </a:xfrm>
          <a:prstGeom prst="roundRect">
            <a:avLst>
              <a:gd name="adj" fmla="val 2759"/>
            </a:avLst>
          </a:prstGeom>
          <a:blipFill dpi="0" rotWithShape="1">
            <a:blip r:embed="rId3">
              <a:extLst>
                <a:ext uri="{28A0092B-C50C-407E-A947-70E740481C1C}">
                  <a14:useLocalDpi xmlns:a14="http://schemas.microsoft.com/office/drawing/2010/main" val="0"/>
                </a:ext>
              </a:extLst>
            </a:blip>
            <a:srcRect/>
            <a:stretch>
              <a:fillRect/>
            </a:stretch>
          </a:blipFill>
          <a:ln w="9525">
            <a:solidFill>
              <a:srgbClr val="D8DFE8"/>
            </a:solidFill>
            <a:prstDash val="solid"/>
          </a:ln>
        </p:spPr>
        <p:txBody>
          <a:bodyPr/>
          <a:lstStyle/>
          <a:p>
            <a:endParaRPr lang="en-US"/>
          </a:p>
        </p:txBody>
      </p:sp>
      <p:sp>
        <p:nvSpPr>
          <p:cNvPr id="10" name="Shape 8"/>
          <p:cNvSpPr/>
          <p:nvPr/>
        </p:nvSpPr>
        <p:spPr>
          <a:xfrm>
            <a:off x="457200" y="4206240"/>
            <a:ext cx="8229600" cy="530352"/>
          </a:xfrm>
          <a:prstGeom prst="roundRect">
            <a:avLst>
              <a:gd name="adj" fmla="val 6897"/>
            </a:avLst>
          </a:prstGeom>
          <a:solidFill>
            <a:srgbClr val="E8F4ED"/>
          </a:solidFill>
          <a:ln w="12700">
            <a:solidFill>
              <a:srgbClr val="1B7A46"/>
            </a:solidFill>
            <a:prstDash val="solid"/>
          </a:ln>
        </p:spPr>
        <p:txBody>
          <a:bodyPr/>
          <a:lstStyle/>
          <a:p>
            <a:endParaRPr lang="en-US"/>
          </a:p>
        </p:txBody>
      </p:sp>
      <p:sp>
        <p:nvSpPr>
          <p:cNvPr id="11" name="Text 9"/>
          <p:cNvSpPr txBox="1"/>
          <p:nvPr/>
        </p:nvSpPr>
        <p:spPr>
          <a:xfrm>
            <a:off x="640080" y="4206240"/>
            <a:ext cx="7863840" cy="530352"/>
          </a:xfrm>
          <a:prstGeom prst="rect">
            <a:avLst/>
          </a:prstGeom>
          <a:noFill/>
          <a:ln/>
        </p:spPr>
        <p:txBody>
          <a:bodyPr wrap="square" lIns="0" tIns="0" rIns="0" bIns="0" rtlCol="0" anchor="ctr"/>
          <a:lstStyle/>
          <a:p>
            <a:pPr marL="0" indent="0">
              <a:buNone/>
            </a:pPr>
            <a:r>
              <a:rPr lang="en-US" sz="1200" b="1" dirty="0">
                <a:solidFill>
                  <a:srgbClr val="1B7A46"/>
                </a:solidFill>
                <a:latin typeface="Calibri" pitchFamily="34" charset="0"/>
                <a:ea typeface="Calibri" pitchFamily="34" charset="-122"/>
                <a:cs typeface="Calibri" pitchFamily="34" charset="-120"/>
              </a:rPr>
              <a:t>Standardize every feature first. Same algorithm, same data, completely different clusters.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12233F"/>
        </a:solidFill>
        <a:effectLst/>
      </p:bgPr>
    </p:bg>
    <p:spTree>
      <p:nvGrpSpPr>
        <p:cNvPr id="1" name=""/>
        <p:cNvGrpSpPr/>
        <p:nvPr/>
      </p:nvGrpSpPr>
      <p:grpSpPr>
        <a:xfrm>
          <a:off x="0" y="0"/>
          <a:ext cx="0" cy="0"/>
          <a:chOff x="0" y="0"/>
          <a:chExt cx="0" cy="0"/>
        </a:xfrm>
      </p:grpSpPr>
      <p:sp>
        <p:nvSpPr>
          <p:cNvPr id="2" name="Shape 0"/>
          <p:cNvSpPr/>
          <p:nvPr/>
        </p:nvSpPr>
        <p:spPr>
          <a:xfrm>
            <a:off x="457200" y="1572768"/>
            <a:ext cx="841248" cy="841248"/>
          </a:xfrm>
          <a:prstGeom prst="ellipse">
            <a:avLst/>
          </a:prstGeom>
          <a:solidFill>
            <a:srgbClr val="FFC72C"/>
          </a:solidFill>
          <a:ln w="12700">
            <a:solidFill>
              <a:srgbClr val="FFC72C"/>
            </a:solidFill>
            <a:prstDash val="solid"/>
          </a:ln>
        </p:spPr>
        <p:txBody>
          <a:bodyPr/>
          <a:lstStyle/>
          <a:p>
            <a:endParaRPr lang="en-US"/>
          </a:p>
        </p:txBody>
      </p:sp>
      <p:sp>
        <p:nvSpPr>
          <p:cNvPr id="3" name="Text 1"/>
          <p:cNvSpPr txBox="1"/>
          <p:nvPr/>
        </p:nvSpPr>
        <p:spPr>
          <a:xfrm>
            <a:off x="457200" y="1572768"/>
            <a:ext cx="841248" cy="841248"/>
          </a:xfrm>
          <a:prstGeom prst="rect">
            <a:avLst/>
          </a:prstGeom>
          <a:noFill/>
          <a:ln/>
        </p:spPr>
        <p:txBody>
          <a:bodyPr wrap="square" lIns="0" tIns="0" rIns="0" bIns="0" rtlCol="0" anchor="ctr"/>
          <a:lstStyle/>
          <a:p>
            <a:pPr marL="0" indent="0" algn="ctr">
              <a:buNone/>
            </a:pPr>
            <a:r>
              <a:rPr lang="en-US" sz="3400" b="1" dirty="0">
                <a:solidFill>
                  <a:srgbClr val="12233F"/>
                </a:solidFill>
                <a:latin typeface="Cambria" pitchFamily="34" charset="0"/>
                <a:ea typeface="Cambria" pitchFamily="34" charset="-122"/>
                <a:cs typeface="Cambria" pitchFamily="34" charset="-120"/>
              </a:rPr>
              <a:t>3</a:t>
            </a:r>
            <a:endParaRPr lang="en-US" sz="3400" dirty="0"/>
          </a:p>
        </p:txBody>
      </p:sp>
      <p:sp>
        <p:nvSpPr>
          <p:cNvPr id="4" name="Text 2"/>
          <p:cNvSpPr txBox="1"/>
          <p:nvPr/>
        </p:nvSpPr>
        <p:spPr>
          <a:xfrm>
            <a:off x="1572768" y="1627632"/>
            <a:ext cx="7114032" cy="475488"/>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Optimizing K-Means</a:t>
            </a:r>
            <a:endParaRPr lang="en-US" sz="3200" dirty="0"/>
          </a:p>
        </p:txBody>
      </p:sp>
      <p:sp>
        <p:nvSpPr>
          <p:cNvPr id="5" name="Text 3"/>
          <p:cNvSpPr txBox="1"/>
          <p:nvPr/>
        </p:nvSpPr>
        <p:spPr>
          <a:xfrm>
            <a:off x="1572768" y="2139696"/>
            <a:ext cx="7114032" cy="347472"/>
          </a:xfrm>
          <a:prstGeom prst="rect">
            <a:avLst/>
          </a:prstGeom>
          <a:noFill/>
          <a:ln/>
        </p:spPr>
        <p:txBody>
          <a:bodyPr wrap="square" lIns="0" tIns="0" rIns="0" bIns="0" rtlCol="0" anchor="ctr"/>
          <a:lstStyle/>
          <a:p>
            <a:pPr marL="0" indent="0">
              <a:buNone/>
            </a:pPr>
            <a:r>
              <a:rPr lang="en-US" sz="1350" dirty="0">
                <a:solidFill>
                  <a:srgbClr val="AEBBCE"/>
                </a:solidFill>
                <a:latin typeface="Calibri" pitchFamily="34" charset="0"/>
                <a:ea typeface="Calibri" pitchFamily="34" charset="-122"/>
                <a:cs typeface="Calibri" pitchFamily="34" charset="-120"/>
              </a:rPr>
              <a:t>Local minima, K-Means++, and choosing K</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457200" y="384048"/>
            <a:ext cx="118872" cy="118872"/>
          </a:xfrm>
          <a:prstGeom prst="ellipse">
            <a:avLst/>
          </a:prstGeom>
          <a:solidFill>
            <a:srgbClr val="FFC72C"/>
          </a:solidFill>
          <a:ln w="12700">
            <a:solidFill>
              <a:srgbClr val="FFC72C"/>
            </a:solidFill>
            <a:prstDash val="solid"/>
          </a:ln>
        </p:spPr>
        <p:txBody>
          <a:bodyPr/>
          <a:lstStyle/>
          <a:p>
            <a:endParaRPr lang="en-US"/>
          </a:p>
        </p:txBody>
      </p:sp>
      <p:sp>
        <p:nvSpPr>
          <p:cNvPr id="3" name="Text 1"/>
          <p:cNvSpPr txBox="1"/>
          <p:nvPr/>
        </p:nvSpPr>
        <p:spPr>
          <a:xfrm>
            <a:off x="658368" y="329184"/>
            <a:ext cx="8028432" cy="237744"/>
          </a:xfrm>
          <a:prstGeom prst="rect">
            <a:avLst/>
          </a:prstGeom>
          <a:noFill/>
          <a:ln/>
        </p:spPr>
        <p:txBody>
          <a:bodyPr wrap="square" lIns="0" tIns="0" rIns="0" bIns="0" rtlCol="0" anchor="ctr"/>
          <a:lstStyle/>
          <a:p>
            <a:pPr marL="0" indent="0">
              <a:buNone/>
            </a:pPr>
            <a:r>
              <a:rPr lang="en-US" sz="1050" b="1" kern="0" spc="140" dirty="0">
                <a:solidFill>
                  <a:srgbClr val="5A6472"/>
                </a:solidFill>
                <a:latin typeface="Calibri" pitchFamily="34" charset="0"/>
                <a:ea typeface="Calibri" pitchFamily="34" charset="-122"/>
                <a:cs typeface="Calibri" pitchFamily="34" charset="-120"/>
              </a:rPr>
              <a:t>CONCEPT</a:t>
            </a:r>
            <a:endParaRPr lang="en-US" sz="1050" dirty="0"/>
          </a:p>
        </p:txBody>
      </p:sp>
      <p:sp>
        <p:nvSpPr>
          <p:cNvPr id="4" name="Text 2"/>
          <p:cNvSpPr txBox="1"/>
          <p:nvPr/>
        </p:nvSpPr>
        <p:spPr>
          <a:xfrm>
            <a:off x="457200" y="603504"/>
            <a:ext cx="8229600" cy="56692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Converged does not mean correct</a:t>
            </a:r>
            <a:endParaRPr lang="en-US" sz="3000" dirty="0"/>
          </a:p>
        </p:txBody>
      </p:sp>
      <p:sp>
        <p:nvSpPr>
          <p:cNvPr id="5" name="Text 3"/>
          <p:cNvSpPr txBox="1"/>
          <p:nvPr/>
        </p:nvSpPr>
        <p:spPr>
          <a:xfrm>
            <a:off x="457200" y="1207008"/>
            <a:ext cx="8229600" cy="502920"/>
          </a:xfrm>
          <a:prstGeom prst="rect">
            <a:avLst/>
          </a:prstGeom>
          <a:noFill/>
          <a:ln/>
        </p:spPr>
        <p:txBody>
          <a:bodyPr wrap="square" lIns="0" tIns="0" rIns="0" bIns="0" rtlCol="0" anchor="ctr"/>
          <a:lstStyle/>
          <a:p>
            <a:pPr marL="0" indent="0">
              <a:buNone/>
            </a:pPr>
            <a:r>
              <a:rPr lang="en-US" sz="1300" dirty="0">
                <a:solidFill>
                  <a:srgbClr val="AEBBCE"/>
                </a:solidFill>
                <a:latin typeface="Calibri" pitchFamily="34" charset="0"/>
                <a:ea typeface="Calibri" pitchFamily="34" charset="-122"/>
                <a:cs typeface="Calibri" pitchFamily="34" charset="-120"/>
              </a:rPr>
              <a:t>K-Means is only guaranteed to reach a local minimum of the SSE, not the global one. It is highly sensitive to where the centroids start.</a:t>
            </a:r>
            <a:endParaRPr lang="en-US" sz="1300" dirty="0"/>
          </a:p>
        </p:txBody>
      </p:sp>
      <p:sp>
        <p:nvSpPr>
          <p:cNvPr id="6" name="Shape 4"/>
          <p:cNvSpPr/>
          <p:nvPr/>
        </p:nvSpPr>
        <p:spPr>
          <a:xfrm>
            <a:off x="457200" y="1773936"/>
            <a:ext cx="8229600" cy="1170432"/>
          </a:xfrm>
          <a:prstGeom prst="roundRect">
            <a:avLst>
              <a:gd name="adj" fmla="val 3125"/>
            </a:avLst>
          </a:prstGeom>
          <a:solidFill>
            <a:srgbClr val="F1F4F8"/>
          </a:solidFill>
          <a:ln w="9525">
            <a:solidFill>
              <a:srgbClr val="D8DFE8"/>
            </a:solidFill>
            <a:prstDash val="solid"/>
          </a:ln>
        </p:spPr>
        <p:txBody>
          <a:bodyPr/>
          <a:lstStyle/>
          <a:p>
            <a:endParaRPr lang="en-US"/>
          </a:p>
        </p:txBody>
      </p:sp>
      <p:sp>
        <p:nvSpPr>
          <p:cNvPr id="7" name="Text 5"/>
          <p:cNvSpPr txBox="1"/>
          <p:nvPr/>
        </p:nvSpPr>
        <p:spPr>
          <a:xfrm>
            <a:off x="685800" y="1938528"/>
            <a:ext cx="7772400" cy="896112"/>
          </a:xfrm>
          <a:prstGeom prst="rect">
            <a:avLst/>
          </a:prstGeom>
          <a:noFill/>
          <a:ln/>
        </p:spPr>
        <p:txBody>
          <a:bodyPr wrap="square" lIns="0" tIns="0" rIns="0" bIns="0" rtlCol="0" anchor="t"/>
          <a:lstStyle/>
          <a:p>
            <a:pPr marL="0" indent="0">
              <a:spcAft>
                <a:spcPts val="500"/>
              </a:spcAft>
              <a:buNone/>
            </a:pPr>
            <a:r>
              <a:rPr lang="en-US" sz="1400" b="1" dirty="0">
                <a:solidFill>
                  <a:srgbClr val="1A5FB4"/>
                </a:solidFill>
                <a:latin typeface="Calibri" pitchFamily="34" charset="0"/>
                <a:ea typeface="Calibri" pitchFamily="34" charset="-122"/>
                <a:cs typeface="Calibri" pitchFamily="34" charset="-120"/>
              </a:rPr>
              <a:t>Why it cannot escape</a:t>
            </a:r>
            <a:endParaRPr lang="en-US" sz="1400" dirty="0"/>
          </a:p>
          <a:p>
            <a:pPr marL="0" indent="0">
              <a:spcAft>
                <a:spcPts val="500"/>
              </a:spcAft>
              <a:buNone/>
            </a:pPr>
            <a:r>
              <a:rPr lang="en-US" sz="1200" dirty="0">
                <a:solidFill>
                  <a:srgbClr val="1B2430"/>
                </a:solidFill>
                <a:latin typeface="Calibri" pitchFamily="34" charset="0"/>
                <a:ea typeface="Calibri" pitchFamily="34" charset="-122"/>
                <a:cs typeface="Calibri" pitchFamily="34" charset="-120"/>
              </a:rPr>
              <a:t>Getting out of a local well would require the algorithm to temporarily accept a worse SSE and climb back out. But we just proved both steps can only decrease SSE. K-Means has no mechanism to go uphill, so wherever it lands, it stays.</a:t>
            </a:r>
            <a:endParaRPr lang="en-US" sz="1400" dirty="0"/>
          </a:p>
        </p:txBody>
      </p:sp>
      <p:sp>
        <p:nvSpPr>
          <p:cNvPr id="8" name="Shape 6"/>
          <p:cNvSpPr/>
          <p:nvPr/>
        </p:nvSpPr>
        <p:spPr>
          <a:xfrm>
            <a:off x="457200" y="3063240"/>
            <a:ext cx="8229600" cy="1005840"/>
          </a:xfrm>
          <a:prstGeom prst="roundRect">
            <a:avLst>
              <a:gd name="adj" fmla="val 3636"/>
            </a:avLst>
          </a:prstGeom>
          <a:solidFill>
            <a:srgbClr val="F1F4F8"/>
          </a:solidFill>
          <a:ln w="9525">
            <a:solidFill>
              <a:srgbClr val="D8DFE8"/>
            </a:solidFill>
            <a:prstDash val="solid"/>
          </a:ln>
        </p:spPr>
        <p:txBody>
          <a:bodyPr/>
          <a:lstStyle/>
          <a:p>
            <a:endParaRPr lang="en-US"/>
          </a:p>
        </p:txBody>
      </p:sp>
      <p:sp>
        <p:nvSpPr>
          <p:cNvPr id="9" name="Text 7"/>
          <p:cNvSpPr txBox="1"/>
          <p:nvPr/>
        </p:nvSpPr>
        <p:spPr>
          <a:xfrm>
            <a:off x="685800" y="3227832"/>
            <a:ext cx="7772400" cy="731520"/>
          </a:xfrm>
          <a:prstGeom prst="rect">
            <a:avLst/>
          </a:prstGeom>
          <a:noFill/>
          <a:ln/>
        </p:spPr>
        <p:txBody>
          <a:bodyPr wrap="square" lIns="0" tIns="0" rIns="0" bIns="0" rtlCol="0" anchor="t"/>
          <a:lstStyle/>
          <a:p>
            <a:pPr marL="0" indent="0">
              <a:spcAft>
                <a:spcPts val="500"/>
              </a:spcAft>
              <a:buNone/>
            </a:pPr>
            <a:r>
              <a:rPr lang="en-US" sz="1250" b="1" dirty="0">
                <a:solidFill>
                  <a:srgbClr val="1A5FB4"/>
                </a:solidFill>
                <a:latin typeface="Calibri" pitchFamily="34" charset="0"/>
                <a:ea typeface="Calibri" pitchFamily="34" charset="-122"/>
                <a:cs typeface="Calibri" pitchFamily="34" charset="-120"/>
              </a:rPr>
              <a:t>The cheap fix:  restart it</a:t>
            </a:r>
            <a:endParaRPr lang="en-US" sz="1250" dirty="0"/>
          </a:p>
          <a:p>
            <a:pPr marL="0" indent="0">
              <a:spcAft>
                <a:spcPts val="500"/>
              </a:spcAft>
              <a:buNone/>
            </a:pPr>
            <a:r>
              <a:rPr lang="en-US" sz="1200" dirty="0">
                <a:solidFill>
                  <a:srgbClr val="1B2430"/>
                </a:solidFill>
                <a:latin typeface="Calibri" pitchFamily="34" charset="0"/>
                <a:ea typeface="Calibri" pitchFamily="34" charset="-122"/>
                <a:cs typeface="Calibri" pitchFamily="34" charset="-120"/>
              </a:rPr>
              <a:t>Run K-Means several times from different random initializations and keep whichever run reached the lowest SSE. In scikit-learn this is the n_init parameter, and it defaults to 10 for exactly this reason.</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457200" y="384048"/>
            <a:ext cx="118872" cy="118872"/>
          </a:xfrm>
          <a:prstGeom prst="ellipse">
            <a:avLst/>
          </a:prstGeom>
          <a:solidFill>
            <a:srgbClr val="FFC72C"/>
          </a:solidFill>
          <a:ln w="12700">
            <a:solidFill>
              <a:srgbClr val="FFC72C"/>
            </a:solidFill>
            <a:prstDash val="solid"/>
          </a:ln>
        </p:spPr>
        <p:txBody>
          <a:bodyPr/>
          <a:lstStyle/>
          <a:p>
            <a:endParaRPr lang="en-US"/>
          </a:p>
        </p:txBody>
      </p:sp>
      <p:sp>
        <p:nvSpPr>
          <p:cNvPr id="3" name="Text 1"/>
          <p:cNvSpPr txBox="1"/>
          <p:nvPr/>
        </p:nvSpPr>
        <p:spPr>
          <a:xfrm>
            <a:off x="658368" y="329184"/>
            <a:ext cx="8028432" cy="237744"/>
          </a:xfrm>
          <a:prstGeom prst="rect">
            <a:avLst/>
          </a:prstGeom>
          <a:noFill/>
          <a:ln/>
        </p:spPr>
        <p:txBody>
          <a:bodyPr wrap="square" lIns="0" tIns="0" rIns="0" bIns="0" rtlCol="0" anchor="ctr"/>
          <a:lstStyle/>
          <a:p>
            <a:pPr marL="0" indent="0">
              <a:buNone/>
            </a:pPr>
            <a:r>
              <a:rPr lang="en-US" sz="1050" b="1" kern="0" spc="140" dirty="0">
                <a:solidFill>
                  <a:srgbClr val="5A6472"/>
                </a:solidFill>
                <a:latin typeface="Calibri" pitchFamily="34" charset="0"/>
                <a:ea typeface="Calibri" pitchFamily="34" charset="-122"/>
                <a:cs typeface="Calibri" pitchFamily="34" charset="-120"/>
              </a:rPr>
              <a:t>CONCEPT</a:t>
            </a:r>
            <a:endParaRPr lang="en-US" sz="1050" dirty="0"/>
          </a:p>
        </p:txBody>
      </p:sp>
      <p:sp>
        <p:nvSpPr>
          <p:cNvPr id="4" name="Text 2"/>
          <p:cNvSpPr txBox="1"/>
          <p:nvPr/>
        </p:nvSpPr>
        <p:spPr>
          <a:xfrm>
            <a:off x="457200" y="603504"/>
            <a:ext cx="8229600" cy="56692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K-Means++ : start them far apart</a:t>
            </a:r>
            <a:endParaRPr lang="en-US" sz="3000" dirty="0"/>
          </a:p>
        </p:txBody>
      </p:sp>
      <p:sp>
        <p:nvSpPr>
          <p:cNvPr id="5" name="Text 3"/>
          <p:cNvSpPr txBox="1"/>
          <p:nvPr/>
        </p:nvSpPr>
        <p:spPr>
          <a:xfrm>
            <a:off x="457200" y="1188720"/>
            <a:ext cx="8229600" cy="365760"/>
          </a:xfrm>
          <a:prstGeom prst="rect">
            <a:avLst/>
          </a:prstGeom>
          <a:noFill/>
          <a:ln/>
        </p:spPr>
        <p:txBody>
          <a:bodyPr wrap="square" lIns="0" tIns="0" rIns="0" bIns="0" rtlCol="0" anchor="ctr"/>
          <a:lstStyle/>
          <a:p>
            <a:pPr marL="0" indent="0">
              <a:buNone/>
            </a:pPr>
            <a:r>
              <a:rPr lang="en-US" sz="1250" dirty="0">
                <a:solidFill>
                  <a:srgbClr val="AEBBCE"/>
                </a:solidFill>
                <a:latin typeface="Calibri" pitchFamily="34" charset="0"/>
                <a:ea typeface="Calibri" pitchFamily="34" charset="-122"/>
                <a:cs typeface="Calibri" pitchFamily="34" charset="-120"/>
              </a:rPr>
              <a:t>An enhanced initialization that spreads the starting centroids out, so the algorithm is far less likely to fall into a bad local minimum.</a:t>
            </a:r>
            <a:endParaRPr lang="en-US" sz="1250" dirty="0"/>
          </a:p>
        </p:txBody>
      </p:sp>
      <p:sp>
        <p:nvSpPr>
          <p:cNvPr id="6" name="Shape 4"/>
          <p:cNvSpPr/>
          <p:nvPr/>
        </p:nvSpPr>
        <p:spPr>
          <a:xfrm>
            <a:off x="457200" y="1682496"/>
            <a:ext cx="292608" cy="292608"/>
          </a:xfrm>
          <a:prstGeom prst="ellipse">
            <a:avLst/>
          </a:prstGeom>
          <a:solidFill>
            <a:srgbClr val="FFC72C"/>
          </a:solidFill>
          <a:ln w="12700">
            <a:solidFill>
              <a:srgbClr val="FFC72C"/>
            </a:solidFill>
            <a:prstDash val="solid"/>
          </a:ln>
        </p:spPr>
        <p:txBody>
          <a:bodyPr/>
          <a:lstStyle/>
          <a:p>
            <a:endParaRPr lang="en-US"/>
          </a:p>
        </p:txBody>
      </p:sp>
      <p:sp>
        <p:nvSpPr>
          <p:cNvPr id="7" name="Text 5"/>
          <p:cNvSpPr txBox="1"/>
          <p:nvPr/>
        </p:nvSpPr>
        <p:spPr>
          <a:xfrm>
            <a:off x="457200" y="1682496"/>
            <a:ext cx="292608" cy="292608"/>
          </a:xfrm>
          <a:prstGeom prst="rect">
            <a:avLst/>
          </a:prstGeom>
          <a:noFill/>
          <a:ln/>
        </p:spPr>
        <p:txBody>
          <a:bodyPr wrap="square" lIns="0" tIns="0" rIns="0" bIns="0" rtlCol="0" anchor="ctr"/>
          <a:lstStyle/>
          <a:p>
            <a:pPr marL="0" indent="0" algn="ctr">
              <a:buNone/>
            </a:pPr>
            <a:r>
              <a:rPr lang="en-US" sz="1200" b="1" dirty="0">
                <a:solidFill>
                  <a:srgbClr val="12233F"/>
                </a:solidFill>
                <a:latin typeface="Cambria" pitchFamily="34" charset="0"/>
                <a:ea typeface="Cambria" pitchFamily="34" charset="-122"/>
                <a:cs typeface="Cambria" pitchFamily="34" charset="-120"/>
              </a:rPr>
              <a:t>1</a:t>
            </a:r>
            <a:endParaRPr lang="en-US" sz="1200" dirty="0"/>
          </a:p>
        </p:txBody>
      </p:sp>
      <p:sp>
        <p:nvSpPr>
          <p:cNvPr id="8" name="Text 6"/>
          <p:cNvSpPr txBox="1"/>
          <p:nvPr/>
        </p:nvSpPr>
        <p:spPr>
          <a:xfrm>
            <a:off x="896112" y="1645920"/>
            <a:ext cx="7790688" cy="38404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Pick the first center:  </a:t>
            </a:r>
            <a:r>
              <a:rPr lang="en-US" sz="1200" dirty="0">
                <a:solidFill>
                  <a:srgbClr val="AEBBCE"/>
                </a:solidFill>
                <a:latin typeface="Calibri" pitchFamily="34" charset="0"/>
                <a:ea typeface="Calibri" pitchFamily="34" charset="-122"/>
                <a:cs typeface="Calibri" pitchFamily="34" charset="-120"/>
              </a:rPr>
              <a:t>select exactly one datapoint uniformly at random</a:t>
            </a:r>
            <a:endParaRPr lang="en-US" sz="1250" dirty="0"/>
          </a:p>
        </p:txBody>
      </p:sp>
      <p:sp>
        <p:nvSpPr>
          <p:cNvPr id="9" name="Shape 7"/>
          <p:cNvSpPr/>
          <p:nvPr/>
        </p:nvSpPr>
        <p:spPr>
          <a:xfrm>
            <a:off x="457200" y="2194560"/>
            <a:ext cx="292608" cy="292608"/>
          </a:xfrm>
          <a:prstGeom prst="ellipse">
            <a:avLst/>
          </a:prstGeom>
          <a:solidFill>
            <a:srgbClr val="FFC72C"/>
          </a:solidFill>
          <a:ln w="12700">
            <a:solidFill>
              <a:srgbClr val="FFC72C"/>
            </a:solidFill>
            <a:prstDash val="solid"/>
          </a:ln>
        </p:spPr>
        <p:txBody>
          <a:bodyPr/>
          <a:lstStyle/>
          <a:p>
            <a:endParaRPr lang="en-US"/>
          </a:p>
        </p:txBody>
      </p:sp>
      <p:sp>
        <p:nvSpPr>
          <p:cNvPr id="10" name="Text 8"/>
          <p:cNvSpPr txBox="1"/>
          <p:nvPr/>
        </p:nvSpPr>
        <p:spPr>
          <a:xfrm>
            <a:off x="457200" y="2194560"/>
            <a:ext cx="292608" cy="292608"/>
          </a:xfrm>
          <a:prstGeom prst="rect">
            <a:avLst/>
          </a:prstGeom>
          <a:noFill/>
          <a:ln/>
        </p:spPr>
        <p:txBody>
          <a:bodyPr wrap="square" lIns="0" tIns="0" rIns="0" bIns="0" rtlCol="0" anchor="ctr"/>
          <a:lstStyle/>
          <a:p>
            <a:pPr marL="0" indent="0" algn="ctr">
              <a:buNone/>
            </a:pPr>
            <a:r>
              <a:rPr lang="en-US" sz="1200" b="1" dirty="0">
                <a:solidFill>
                  <a:srgbClr val="12233F"/>
                </a:solidFill>
                <a:latin typeface="Cambria" pitchFamily="34" charset="0"/>
                <a:ea typeface="Cambria" pitchFamily="34" charset="-122"/>
                <a:cs typeface="Cambria" pitchFamily="34" charset="-120"/>
              </a:rPr>
              <a:t>2</a:t>
            </a:r>
            <a:endParaRPr lang="en-US" sz="1200" dirty="0"/>
          </a:p>
        </p:txBody>
      </p:sp>
      <p:sp>
        <p:nvSpPr>
          <p:cNvPr id="11" name="Text 9"/>
          <p:cNvSpPr txBox="1"/>
          <p:nvPr/>
        </p:nvSpPr>
        <p:spPr>
          <a:xfrm>
            <a:off x="896112" y="2157984"/>
            <a:ext cx="7790688" cy="38404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Compute distances:  </a:t>
            </a:r>
            <a:r>
              <a:rPr lang="en-US" sz="1200" dirty="0">
                <a:solidFill>
                  <a:srgbClr val="AEBBCE"/>
                </a:solidFill>
                <a:latin typeface="Calibri" pitchFamily="34" charset="0"/>
                <a:ea typeface="Calibri" pitchFamily="34" charset="-122"/>
                <a:cs typeface="Calibri" pitchFamily="34" charset="-120"/>
              </a:rPr>
              <a:t>for every remaining point x, find D(x), the distance to the nearest centroid chosen so far</a:t>
            </a:r>
            <a:endParaRPr lang="en-US" sz="1250" dirty="0"/>
          </a:p>
        </p:txBody>
      </p:sp>
      <p:sp>
        <p:nvSpPr>
          <p:cNvPr id="12" name="Shape 10"/>
          <p:cNvSpPr/>
          <p:nvPr/>
        </p:nvSpPr>
        <p:spPr>
          <a:xfrm>
            <a:off x="457200" y="2706624"/>
            <a:ext cx="292608" cy="292608"/>
          </a:xfrm>
          <a:prstGeom prst="ellipse">
            <a:avLst/>
          </a:prstGeom>
          <a:solidFill>
            <a:srgbClr val="FFC72C"/>
          </a:solidFill>
          <a:ln w="12700">
            <a:solidFill>
              <a:srgbClr val="FFC72C"/>
            </a:solidFill>
            <a:prstDash val="solid"/>
          </a:ln>
        </p:spPr>
        <p:txBody>
          <a:bodyPr/>
          <a:lstStyle/>
          <a:p>
            <a:endParaRPr lang="en-US"/>
          </a:p>
        </p:txBody>
      </p:sp>
      <p:sp>
        <p:nvSpPr>
          <p:cNvPr id="13" name="Text 11"/>
          <p:cNvSpPr txBox="1"/>
          <p:nvPr/>
        </p:nvSpPr>
        <p:spPr>
          <a:xfrm>
            <a:off x="457200" y="2706624"/>
            <a:ext cx="292608" cy="292608"/>
          </a:xfrm>
          <a:prstGeom prst="rect">
            <a:avLst/>
          </a:prstGeom>
          <a:noFill/>
          <a:ln/>
        </p:spPr>
        <p:txBody>
          <a:bodyPr wrap="square" lIns="0" tIns="0" rIns="0" bIns="0" rtlCol="0" anchor="ctr"/>
          <a:lstStyle/>
          <a:p>
            <a:pPr marL="0" indent="0" algn="ctr">
              <a:buNone/>
            </a:pPr>
            <a:r>
              <a:rPr lang="en-US" sz="1200" b="1" dirty="0">
                <a:solidFill>
                  <a:srgbClr val="12233F"/>
                </a:solidFill>
                <a:latin typeface="Cambria" pitchFamily="34" charset="0"/>
                <a:ea typeface="Cambria" pitchFamily="34" charset="-122"/>
                <a:cs typeface="Cambria" pitchFamily="34" charset="-120"/>
              </a:rPr>
              <a:t>3</a:t>
            </a:r>
            <a:endParaRPr lang="en-US" sz="1200" dirty="0"/>
          </a:p>
        </p:txBody>
      </p:sp>
      <p:sp>
        <p:nvSpPr>
          <p:cNvPr id="14" name="Text 12"/>
          <p:cNvSpPr txBox="1"/>
          <p:nvPr/>
        </p:nvSpPr>
        <p:spPr>
          <a:xfrm>
            <a:off x="896112" y="2670048"/>
            <a:ext cx="7790688" cy="38404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Pick the next center:  </a:t>
            </a:r>
            <a:r>
              <a:rPr lang="en-US" sz="1200" dirty="0">
                <a:solidFill>
                  <a:srgbClr val="AEBBCE"/>
                </a:solidFill>
                <a:latin typeface="Calibri" pitchFamily="34" charset="0"/>
                <a:ea typeface="Calibri" pitchFamily="34" charset="-122"/>
                <a:cs typeface="Calibri" pitchFamily="34" charset="-120"/>
              </a:rPr>
              <a:t>choose a new point with probability proportional to D(x)²</a:t>
            </a:r>
            <a:endParaRPr lang="en-US" sz="1250" dirty="0"/>
          </a:p>
        </p:txBody>
      </p:sp>
      <p:sp>
        <p:nvSpPr>
          <p:cNvPr id="15" name="Shape 13"/>
          <p:cNvSpPr/>
          <p:nvPr/>
        </p:nvSpPr>
        <p:spPr>
          <a:xfrm>
            <a:off x="457200" y="3218688"/>
            <a:ext cx="292608" cy="292608"/>
          </a:xfrm>
          <a:prstGeom prst="ellipse">
            <a:avLst/>
          </a:prstGeom>
          <a:solidFill>
            <a:srgbClr val="FFC72C"/>
          </a:solidFill>
          <a:ln w="12700">
            <a:solidFill>
              <a:srgbClr val="FFC72C"/>
            </a:solidFill>
            <a:prstDash val="solid"/>
          </a:ln>
        </p:spPr>
        <p:txBody>
          <a:bodyPr/>
          <a:lstStyle/>
          <a:p>
            <a:endParaRPr lang="en-US"/>
          </a:p>
        </p:txBody>
      </p:sp>
      <p:sp>
        <p:nvSpPr>
          <p:cNvPr id="16" name="Text 14"/>
          <p:cNvSpPr txBox="1"/>
          <p:nvPr/>
        </p:nvSpPr>
        <p:spPr>
          <a:xfrm>
            <a:off x="457200" y="3218688"/>
            <a:ext cx="292608" cy="292608"/>
          </a:xfrm>
          <a:prstGeom prst="rect">
            <a:avLst/>
          </a:prstGeom>
          <a:noFill/>
          <a:ln/>
        </p:spPr>
        <p:txBody>
          <a:bodyPr wrap="square" lIns="0" tIns="0" rIns="0" bIns="0" rtlCol="0" anchor="ctr"/>
          <a:lstStyle/>
          <a:p>
            <a:pPr marL="0" indent="0" algn="ctr">
              <a:buNone/>
            </a:pPr>
            <a:r>
              <a:rPr lang="en-US" sz="1200" b="1" dirty="0">
                <a:solidFill>
                  <a:srgbClr val="12233F"/>
                </a:solidFill>
                <a:latin typeface="Cambria" pitchFamily="34" charset="0"/>
                <a:ea typeface="Cambria" pitchFamily="34" charset="-122"/>
                <a:cs typeface="Cambria" pitchFamily="34" charset="-120"/>
              </a:rPr>
              <a:t>4</a:t>
            </a:r>
            <a:endParaRPr lang="en-US" sz="1200" dirty="0"/>
          </a:p>
        </p:txBody>
      </p:sp>
      <p:sp>
        <p:nvSpPr>
          <p:cNvPr id="17" name="Text 15"/>
          <p:cNvSpPr txBox="1"/>
          <p:nvPr/>
        </p:nvSpPr>
        <p:spPr>
          <a:xfrm>
            <a:off x="896112" y="3182112"/>
            <a:ext cx="7790688" cy="38404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Repeat:  </a:t>
            </a:r>
            <a:r>
              <a:rPr lang="en-US" sz="1200" dirty="0">
                <a:solidFill>
                  <a:srgbClr val="AEBBCE"/>
                </a:solidFill>
                <a:latin typeface="Calibri" pitchFamily="34" charset="0"/>
                <a:ea typeface="Calibri" pitchFamily="34" charset="-122"/>
                <a:cs typeface="Calibri" pitchFamily="34" charset="-120"/>
              </a:rPr>
              <a:t>steps 2 and 3 until all K centroids are established</a:t>
            </a:r>
            <a:endParaRPr lang="en-US" sz="1250" dirty="0"/>
          </a:p>
        </p:txBody>
      </p:sp>
      <p:sp>
        <p:nvSpPr>
          <p:cNvPr id="18" name="Shape 16"/>
          <p:cNvSpPr/>
          <p:nvPr/>
        </p:nvSpPr>
        <p:spPr>
          <a:xfrm>
            <a:off x="457200" y="3730752"/>
            <a:ext cx="292608" cy="292608"/>
          </a:xfrm>
          <a:prstGeom prst="ellipse">
            <a:avLst/>
          </a:prstGeom>
          <a:solidFill>
            <a:srgbClr val="FFC72C"/>
          </a:solidFill>
          <a:ln w="12700">
            <a:solidFill>
              <a:srgbClr val="FFC72C"/>
            </a:solidFill>
            <a:prstDash val="solid"/>
          </a:ln>
        </p:spPr>
        <p:txBody>
          <a:bodyPr/>
          <a:lstStyle/>
          <a:p>
            <a:endParaRPr lang="en-US"/>
          </a:p>
        </p:txBody>
      </p:sp>
      <p:sp>
        <p:nvSpPr>
          <p:cNvPr id="19" name="Text 17"/>
          <p:cNvSpPr txBox="1"/>
          <p:nvPr/>
        </p:nvSpPr>
        <p:spPr>
          <a:xfrm>
            <a:off x="457200" y="3730752"/>
            <a:ext cx="292608" cy="292608"/>
          </a:xfrm>
          <a:prstGeom prst="rect">
            <a:avLst/>
          </a:prstGeom>
          <a:noFill/>
          <a:ln/>
        </p:spPr>
        <p:txBody>
          <a:bodyPr wrap="square" lIns="0" tIns="0" rIns="0" bIns="0" rtlCol="0" anchor="ctr"/>
          <a:lstStyle/>
          <a:p>
            <a:pPr marL="0" indent="0" algn="ctr">
              <a:buNone/>
            </a:pPr>
            <a:r>
              <a:rPr lang="en-US" sz="1200" b="1" dirty="0">
                <a:solidFill>
                  <a:srgbClr val="12233F"/>
                </a:solidFill>
                <a:latin typeface="Cambria" pitchFamily="34" charset="0"/>
                <a:ea typeface="Cambria" pitchFamily="34" charset="-122"/>
                <a:cs typeface="Cambria" pitchFamily="34" charset="-120"/>
              </a:rPr>
              <a:t>5</a:t>
            </a:r>
            <a:endParaRPr lang="en-US" sz="1200" dirty="0"/>
          </a:p>
        </p:txBody>
      </p:sp>
      <p:sp>
        <p:nvSpPr>
          <p:cNvPr id="20" name="Text 18"/>
          <p:cNvSpPr txBox="1"/>
          <p:nvPr/>
        </p:nvSpPr>
        <p:spPr>
          <a:xfrm>
            <a:off x="896112" y="3694176"/>
            <a:ext cx="7790688" cy="38404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Run K-Means:  </a:t>
            </a:r>
            <a:r>
              <a:rPr lang="en-US" sz="1200" dirty="0">
                <a:solidFill>
                  <a:srgbClr val="AEBBCE"/>
                </a:solidFill>
                <a:latin typeface="Calibri" pitchFamily="34" charset="0"/>
                <a:ea typeface="Calibri" pitchFamily="34" charset="-122"/>
                <a:cs typeface="Calibri" pitchFamily="34" charset="-120"/>
              </a:rPr>
              <a:t>proceed with the standard assign / update loop from there</a:t>
            </a:r>
            <a:endParaRPr lang="en-US" sz="1250" dirty="0"/>
          </a:p>
        </p:txBody>
      </p:sp>
      <p:sp>
        <p:nvSpPr>
          <p:cNvPr id="21" name="Shape 19"/>
          <p:cNvSpPr/>
          <p:nvPr/>
        </p:nvSpPr>
        <p:spPr>
          <a:xfrm>
            <a:off x="457200" y="4206240"/>
            <a:ext cx="8229600" cy="530352"/>
          </a:xfrm>
          <a:prstGeom prst="roundRect">
            <a:avLst>
              <a:gd name="adj" fmla="val 6897"/>
            </a:avLst>
          </a:prstGeom>
          <a:solidFill>
            <a:srgbClr val="E8F4ED"/>
          </a:solidFill>
          <a:ln w="12700">
            <a:solidFill>
              <a:srgbClr val="1B7A46"/>
            </a:solidFill>
            <a:prstDash val="solid"/>
          </a:ln>
        </p:spPr>
        <p:txBody>
          <a:bodyPr/>
          <a:lstStyle/>
          <a:p>
            <a:endParaRPr lang="en-US"/>
          </a:p>
        </p:txBody>
      </p:sp>
      <p:sp>
        <p:nvSpPr>
          <p:cNvPr id="22" name="Text 20"/>
          <p:cNvSpPr txBox="1"/>
          <p:nvPr/>
        </p:nvSpPr>
        <p:spPr>
          <a:xfrm>
            <a:off x="640080" y="4206240"/>
            <a:ext cx="7863840" cy="530352"/>
          </a:xfrm>
          <a:prstGeom prst="rect">
            <a:avLst/>
          </a:prstGeom>
          <a:noFill/>
          <a:ln/>
        </p:spPr>
        <p:txBody>
          <a:bodyPr wrap="square" lIns="0" tIns="0" rIns="0" bIns="0" rtlCol="0" anchor="ctr"/>
          <a:lstStyle/>
          <a:p>
            <a:pPr marL="0" indent="0">
              <a:buNone/>
            </a:pPr>
            <a:r>
              <a:rPr lang="en-US" sz="1200" b="1" dirty="0">
                <a:solidFill>
                  <a:srgbClr val="1B7A46"/>
                </a:solidFill>
                <a:latin typeface="Calibri" pitchFamily="34" charset="0"/>
                <a:ea typeface="Calibri" pitchFamily="34" charset="-122"/>
                <a:cs typeface="Calibri" pitchFamily="34" charset="-120"/>
              </a:rPr>
              <a:t>Squaring the distance is the trick: a point twice as far away is four times as likely to be chosen, so the centroids scatter.</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457200" y="384048"/>
            <a:ext cx="118872" cy="118872"/>
          </a:xfrm>
          <a:prstGeom prst="ellipse">
            <a:avLst/>
          </a:prstGeom>
          <a:solidFill>
            <a:srgbClr val="FFC72C"/>
          </a:solidFill>
          <a:ln w="12700">
            <a:solidFill>
              <a:srgbClr val="FFC72C"/>
            </a:solidFill>
            <a:prstDash val="solid"/>
          </a:ln>
        </p:spPr>
        <p:txBody>
          <a:bodyPr/>
          <a:lstStyle/>
          <a:p>
            <a:endParaRPr lang="en-US"/>
          </a:p>
        </p:txBody>
      </p:sp>
      <p:sp>
        <p:nvSpPr>
          <p:cNvPr id="3" name="Text 1"/>
          <p:cNvSpPr txBox="1"/>
          <p:nvPr/>
        </p:nvSpPr>
        <p:spPr>
          <a:xfrm>
            <a:off x="658368" y="329184"/>
            <a:ext cx="8028432" cy="237744"/>
          </a:xfrm>
          <a:prstGeom prst="rect">
            <a:avLst/>
          </a:prstGeom>
          <a:noFill/>
          <a:ln/>
        </p:spPr>
        <p:txBody>
          <a:bodyPr wrap="square" lIns="0" tIns="0" rIns="0" bIns="0" rtlCol="0" anchor="ctr"/>
          <a:lstStyle/>
          <a:p>
            <a:pPr marL="0" indent="0">
              <a:buNone/>
            </a:pPr>
            <a:r>
              <a:rPr lang="en-US" sz="1050" b="1" kern="0" spc="140" dirty="0">
                <a:solidFill>
                  <a:srgbClr val="5A6472"/>
                </a:solidFill>
                <a:latin typeface="Calibri" pitchFamily="34" charset="0"/>
                <a:ea typeface="Calibri" pitchFamily="34" charset="-122"/>
                <a:cs typeface="Calibri" pitchFamily="34" charset="-120"/>
              </a:rPr>
              <a:t>CONCEPT</a:t>
            </a:r>
            <a:endParaRPr lang="en-US" sz="1050" dirty="0"/>
          </a:p>
        </p:txBody>
      </p:sp>
      <p:sp>
        <p:nvSpPr>
          <p:cNvPr id="4" name="Text 2"/>
          <p:cNvSpPr txBox="1"/>
          <p:nvPr/>
        </p:nvSpPr>
        <p:spPr>
          <a:xfrm>
            <a:off x="457200" y="603504"/>
            <a:ext cx="8229600" cy="56692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Choosing K : a trap you have seen before</a:t>
            </a:r>
            <a:endParaRPr lang="en-US" sz="3000" dirty="0"/>
          </a:p>
        </p:txBody>
      </p:sp>
      <p:sp>
        <p:nvSpPr>
          <p:cNvPr id="5" name="Shape 3"/>
          <p:cNvSpPr/>
          <p:nvPr/>
        </p:nvSpPr>
        <p:spPr>
          <a:xfrm>
            <a:off x="457200" y="1207008"/>
            <a:ext cx="4343400" cy="1554480"/>
          </a:xfrm>
          <a:prstGeom prst="roundRect">
            <a:avLst>
              <a:gd name="adj" fmla="val 2353"/>
            </a:avLst>
          </a:prstGeom>
          <a:solidFill>
            <a:srgbClr val="F1F4F8"/>
          </a:solidFill>
          <a:ln w="9525">
            <a:solidFill>
              <a:srgbClr val="D8DFE8"/>
            </a:solidFill>
            <a:prstDash val="solid"/>
          </a:ln>
        </p:spPr>
        <p:txBody>
          <a:bodyPr/>
          <a:lstStyle/>
          <a:p>
            <a:endParaRPr lang="en-US"/>
          </a:p>
        </p:txBody>
      </p:sp>
      <p:sp>
        <p:nvSpPr>
          <p:cNvPr id="6" name="Text 4"/>
          <p:cNvSpPr txBox="1"/>
          <p:nvPr/>
        </p:nvSpPr>
        <p:spPr>
          <a:xfrm>
            <a:off x="640080" y="1371600"/>
            <a:ext cx="3977640" cy="1280160"/>
          </a:xfrm>
          <a:prstGeom prst="rect">
            <a:avLst/>
          </a:prstGeom>
          <a:noFill/>
          <a:ln/>
        </p:spPr>
        <p:txBody>
          <a:bodyPr wrap="square" lIns="0" tIns="0" rIns="0" bIns="0" rtlCol="0" anchor="ctr"/>
          <a:lstStyle/>
          <a:p>
            <a:pPr marL="0" indent="0">
              <a:spcAft>
                <a:spcPts val="500"/>
              </a:spcAft>
              <a:buNone/>
            </a:pPr>
            <a:r>
              <a:rPr lang="en-US" sz="1250" b="1" dirty="0">
                <a:solidFill>
                  <a:srgbClr val="1A5FB4"/>
                </a:solidFill>
                <a:latin typeface="Calibri" pitchFamily="34" charset="0"/>
                <a:ea typeface="Calibri" pitchFamily="34" charset="-122"/>
                <a:cs typeface="Calibri" pitchFamily="34" charset="-120"/>
              </a:rPr>
              <a:t>SSE always decreases as K grows</a:t>
            </a:r>
            <a:endParaRPr lang="en-US" sz="1250" dirty="0"/>
          </a:p>
          <a:p>
            <a:pPr marL="0" indent="0">
              <a:spcAft>
                <a:spcPts val="500"/>
              </a:spcAft>
              <a:buNone/>
            </a:pPr>
            <a:r>
              <a:rPr lang="en-US" sz="1150" dirty="0">
                <a:solidFill>
                  <a:srgbClr val="1B2430"/>
                </a:solidFill>
                <a:latin typeface="Calibri" pitchFamily="34" charset="0"/>
                <a:ea typeface="Calibri" pitchFamily="34" charset="-122"/>
                <a:cs typeface="Calibri" pitchFamily="34" charset="-120"/>
              </a:rPr>
              <a:t>More centroids means every point is closer to one of them. At K = n every point is its own cluster and SSE is exactly zero.</a:t>
            </a:r>
            <a:endParaRPr lang="en-US" sz="1250" dirty="0"/>
          </a:p>
          <a:p>
            <a:pPr marL="0" indent="0">
              <a:spcAft>
                <a:spcPts val="500"/>
              </a:spcAft>
              <a:buNone/>
            </a:pPr>
            <a:r>
              <a:rPr lang="en-US" sz="1150" b="1" dirty="0">
                <a:solidFill>
                  <a:srgbClr val="12233F"/>
                </a:solidFill>
                <a:latin typeface="Calibri" pitchFamily="34" charset="0"/>
                <a:ea typeface="Calibri" pitchFamily="34" charset="-122"/>
                <a:cs typeface="Calibri" pitchFamily="34" charset="-120"/>
              </a:rPr>
              <a:t>“Pick the K with lowest SSE” always answers “the biggest one.”</a:t>
            </a:r>
            <a:endParaRPr lang="en-US" sz="1250" dirty="0"/>
          </a:p>
        </p:txBody>
      </p:sp>
      <p:sp>
        <p:nvSpPr>
          <p:cNvPr id="7" name="Shape 5"/>
          <p:cNvSpPr/>
          <p:nvPr/>
        </p:nvSpPr>
        <p:spPr>
          <a:xfrm>
            <a:off x="4983480" y="1207008"/>
            <a:ext cx="3703320" cy="1554480"/>
          </a:xfrm>
          <a:prstGeom prst="roundRect">
            <a:avLst>
              <a:gd name="adj" fmla="val 2353"/>
            </a:avLst>
          </a:prstGeom>
          <a:solidFill>
            <a:srgbClr val="F1F4F8"/>
          </a:solidFill>
          <a:ln w="9525">
            <a:solidFill>
              <a:srgbClr val="D8DFE8"/>
            </a:solidFill>
            <a:prstDash val="solid"/>
          </a:ln>
        </p:spPr>
        <p:txBody>
          <a:bodyPr/>
          <a:lstStyle/>
          <a:p>
            <a:endParaRPr lang="en-US"/>
          </a:p>
        </p:txBody>
      </p:sp>
      <p:sp>
        <p:nvSpPr>
          <p:cNvPr id="8" name="Text 6"/>
          <p:cNvSpPr txBox="1"/>
          <p:nvPr/>
        </p:nvSpPr>
        <p:spPr>
          <a:xfrm>
            <a:off x="5166360" y="1371600"/>
            <a:ext cx="3337560" cy="1280160"/>
          </a:xfrm>
          <a:prstGeom prst="rect">
            <a:avLst/>
          </a:prstGeom>
          <a:noFill/>
          <a:ln/>
        </p:spPr>
        <p:txBody>
          <a:bodyPr wrap="square" lIns="0" tIns="0" rIns="0" bIns="0" rtlCol="0" anchor="t"/>
          <a:lstStyle/>
          <a:p>
            <a:pPr marL="0" indent="0">
              <a:spcAft>
                <a:spcPts val="500"/>
              </a:spcAft>
              <a:buNone/>
            </a:pPr>
            <a:r>
              <a:rPr lang="en-US" sz="1250" b="1" dirty="0">
                <a:solidFill>
                  <a:srgbClr val="1A5FB4"/>
                </a:solidFill>
                <a:latin typeface="Calibri" pitchFamily="34" charset="0"/>
                <a:ea typeface="Calibri" pitchFamily="34" charset="-122"/>
                <a:cs typeface="Calibri" pitchFamily="34" charset="-120"/>
              </a:rPr>
              <a:t>Last quarter, Week 7</a:t>
            </a:r>
            <a:endParaRPr lang="en-US" sz="1250" dirty="0"/>
          </a:p>
          <a:p>
            <a:pPr marL="0" indent="0">
              <a:spcAft>
                <a:spcPts val="500"/>
              </a:spcAft>
              <a:buNone/>
            </a:pPr>
            <a:r>
              <a:rPr lang="en-US" sz="1200" dirty="0">
                <a:solidFill>
                  <a:srgbClr val="1B2430"/>
                </a:solidFill>
                <a:latin typeface="Calibri" pitchFamily="34" charset="0"/>
                <a:ea typeface="Calibri" pitchFamily="34" charset="-122"/>
                <a:cs typeface="Calibri" pitchFamily="34" charset="-120"/>
              </a:rPr>
              <a:t>Training MSE also fell forever as the polynomial degree m grew, so it could not choose m either. Same curve, same trap.</a:t>
            </a:r>
            <a:endParaRPr lang="en-US" sz="1250" dirty="0"/>
          </a:p>
        </p:txBody>
      </p:sp>
      <p:sp>
        <p:nvSpPr>
          <p:cNvPr id="9" name="Shape 7"/>
          <p:cNvSpPr/>
          <p:nvPr/>
        </p:nvSpPr>
        <p:spPr>
          <a:xfrm>
            <a:off x="457200" y="2889504"/>
            <a:ext cx="8229600" cy="1170432"/>
          </a:xfrm>
          <a:prstGeom prst="roundRect">
            <a:avLst>
              <a:gd name="adj" fmla="val 3125"/>
            </a:avLst>
          </a:prstGeom>
          <a:solidFill>
            <a:srgbClr val="E8F4ED"/>
          </a:solidFill>
          <a:ln w="9525">
            <a:solidFill>
              <a:srgbClr val="1B7A46"/>
            </a:solidFill>
            <a:prstDash val="solid"/>
          </a:ln>
        </p:spPr>
        <p:txBody>
          <a:bodyPr/>
          <a:lstStyle/>
          <a:p>
            <a:endParaRPr lang="en-US"/>
          </a:p>
        </p:txBody>
      </p:sp>
      <p:sp>
        <p:nvSpPr>
          <p:cNvPr id="10" name="Text 8"/>
          <p:cNvSpPr txBox="1"/>
          <p:nvPr/>
        </p:nvSpPr>
        <p:spPr>
          <a:xfrm>
            <a:off x="685800" y="2889504"/>
            <a:ext cx="7772400" cy="1170432"/>
          </a:xfrm>
          <a:prstGeom prst="rect">
            <a:avLst/>
          </a:prstGeom>
          <a:noFill/>
          <a:ln/>
        </p:spPr>
        <p:txBody>
          <a:bodyPr wrap="square" lIns="0" tIns="0" rIns="0" bIns="0" rtlCol="0" anchor="ctr"/>
          <a:lstStyle/>
          <a:p>
            <a:pPr marL="0" indent="0">
              <a:spcAft>
                <a:spcPts val="400"/>
              </a:spcAft>
              <a:buNone/>
            </a:pPr>
            <a:r>
              <a:rPr lang="en-US" sz="1300" b="1" dirty="0">
                <a:solidFill>
                  <a:srgbClr val="1B7A46"/>
                </a:solidFill>
                <a:latin typeface="Calibri" pitchFamily="34" charset="0"/>
                <a:ea typeface="Calibri" pitchFamily="34" charset="-122"/>
                <a:cs typeface="Calibri" pitchFamily="34" charset="-120"/>
              </a:rPr>
              <a:t>But this time cross-validation cannot rescue us.</a:t>
            </a:r>
            <a:endParaRPr lang="en-US" sz="1300" dirty="0"/>
          </a:p>
          <a:p>
            <a:pPr marL="0" indent="0">
              <a:spcAft>
                <a:spcPts val="400"/>
              </a:spcAft>
              <a:buNone/>
            </a:pPr>
            <a:r>
              <a:rPr lang="en-US" sz="1150" dirty="0">
                <a:solidFill>
                  <a:srgbClr val="1B2430"/>
                </a:solidFill>
                <a:latin typeface="Calibri" pitchFamily="34" charset="0"/>
                <a:ea typeface="Calibri" pitchFamily="34" charset="-122"/>
                <a:cs typeface="Calibri" pitchFamily="34" charset="-120"/>
              </a:rPr>
              <a:t>Holding out data only helps if the held-out points come with answers you can be scored against. They do not. There is no generalization error to estimate, because there is nothing to generalize to — so we are left with heuristics rather than estimators.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457200" y="384048"/>
            <a:ext cx="118872" cy="118872"/>
          </a:xfrm>
          <a:prstGeom prst="ellipse">
            <a:avLst/>
          </a:prstGeom>
          <a:solidFill>
            <a:srgbClr val="FFC72C"/>
          </a:solidFill>
          <a:ln w="12700">
            <a:solidFill>
              <a:srgbClr val="FFC72C"/>
            </a:solidFill>
            <a:prstDash val="solid"/>
          </a:ln>
        </p:spPr>
        <p:txBody>
          <a:bodyPr/>
          <a:lstStyle/>
          <a:p>
            <a:endParaRPr lang="en-US"/>
          </a:p>
        </p:txBody>
      </p:sp>
      <p:sp>
        <p:nvSpPr>
          <p:cNvPr id="3" name="Text 1"/>
          <p:cNvSpPr txBox="1"/>
          <p:nvPr/>
        </p:nvSpPr>
        <p:spPr>
          <a:xfrm>
            <a:off x="658368" y="329184"/>
            <a:ext cx="8028432" cy="237744"/>
          </a:xfrm>
          <a:prstGeom prst="rect">
            <a:avLst/>
          </a:prstGeom>
          <a:noFill/>
          <a:ln/>
        </p:spPr>
        <p:txBody>
          <a:bodyPr wrap="square" lIns="0" tIns="0" rIns="0" bIns="0" rtlCol="0" anchor="ctr"/>
          <a:lstStyle/>
          <a:p>
            <a:pPr marL="0" indent="0">
              <a:buNone/>
            </a:pPr>
            <a:r>
              <a:rPr lang="en-US" sz="1050" b="1" kern="0" spc="140" dirty="0">
                <a:solidFill>
                  <a:srgbClr val="5A6472"/>
                </a:solidFill>
                <a:latin typeface="Calibri" pitchFamily="34" charset="0"/>
                <a:ea typeface="Calibri" pitchFamily="34" charset="-122"/>
                <a:cs typeface="Calibri" pitchFamily="34" charset="-120"/>
              </a:rPr>
              <a:t>CONCEPT</a:t>
            </a:r>
            <a:endParaRPr lang="en-US" sz="1050" dirty="0"/>
          </a:p>
        </p:txBody>
      </p:sp>
      <p:sp>
        <p:nvSpPr>
          <p:cNvPr id="4" name="Text 2"/>
          <p:cNvSpPr txBox="1"/>
          <p:nvPr/>
        </p:nvSpPr>
        <p:spPr>
          <a:xfrm>
            <a:off x="457200" y="603504"/>
            <a:ext cx="8229600" cy="56692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Two heuristics for K</a:t>
            </a:r>
            <a:endParaRPr lang="en-US" sz="3000" dirty="0"/>
          </a:p>
        </p:txBody>
      </p:sp>
      <p:sp>
        <p:nvSpPr>
          <p:cNvPr id="5" name="Shape 3"/>
          <p:cNvSpPr/>
          <p:nvPr/>
        </p:nvSpPr>
        <p:spPr>
          <a:xfrm>
            <a:off x="457200" y="1207008"/>
            <a:ext cx="4343400" cy="1325880"/>
          </a:xfrm>
          <a:prstGeom prst="roundRect">
            <a:avLst>
              <a:gd name="adj" fmla="val 2759"/>
            </a:avLst>
          </a:prstGeom>
          <a:solidFill>
            <a:srgbClr val="F1F4F8"/>
          </a:solidFill>
          <a:ln w="9525">
            <a:solidFill>
              <a:srgbClr val="D8DFE8"/>
            </a:solidFill>
            <a:prstDash val="solid"/>
          </a:ln>
        </p:spPr>
        <p:txBody>
          <a:bodyPr/>
          <a:lstStyle/>
          <a:p>
            <a:endParaRPr lang="en-US"/>
          </a:p>
        </p:txBody>
      </p:sp>
      <p:sp>
        <p:nvSpPr>
          <p:cNvPr id="6" name="Text 4"/>
          <p:cNvSpPr txBox="1"/>
          <p:nvPr/>
        </p:nvSpPr>
        <p:spPr>
          <a:xfrm>
            <a:off x="640080" y="1207008"/>
            <a:ext cx="3977640" cy="1325880"/>
          </a:xfrm>
          <a:prstGeom prst="rect">
            <a:avLst/>
          </a:prstGeom>
          <a:noFill/>
          <a:ln/>
        </p:spPr>
        <p:txBody>
          <a:bodyPr wrap="square" lIns="0" tIns="0" rIns="0" bIns="0" rtlCol="0" anchor="ctr"/>
          <a:lstStyle/>
          <a:p>
            <a:pPr marL="0" indent="0">
              <a:spcAft>
                <a:spcPts val="500"/>
              </a:spcAft>
              <a:buNone/>
            </a:pPr>
            <a:r>
              <a:rPr lang="en-US" sz="1250" b="1" dirty="0">
                <a:solidFill>
                  <a:srgbClr val="1A5FB4"/>
                </a:solidFill>
                <a:latin typeface="Calibri" pitchFamily="34" charset="0"/>
                <a:ea typeface="Calibri" pitchFamily="34" charset="-122"/>
                <a:cs typeface="Calibri" pitchFamily="34" charset="-120"/>
              </a:rPr>
              <a:t>The elbow method</a:t>
            </a:r>
            <a:endParaRPr lang="en-US" sz="1250" dirty="0"/>
          </a:p>
          <a:p>
            <a:pPr marL="0" indent="0">
              <a:spcAft>
                <a:spcPts val="500"/>
              </a:spcAft>
              <a:buNone/>
            </a:pPr>
            <a:r>
              <a:rPr lang="en-US" sz="1200" dirty="0">
                <a:solidFill>
                  <a:srgbClr val="1B2430"/>
                </a:solidFill>
                <a:latin typeface="Calibri" pitchFamily="34" charset="0"/>
                <a:ea typeface="Calibri" pitchFamily="34" charset="-122"/>
                <a:cs typeface="Calibri" pitchFamily="34" charset="-120"/>
              </a:rPr>
              <a:t>Plot SSE against K and look for the point where the improvement flattens out. Adding clusters past there buys very little.</a:t>
            </a:r>
            <a:endParaRPr lang="en-US" sz="1250" dirty="0"/>
          </a:p>
        </p:txBody>
      </p:sp>
      <p:sp>
        <p:nvSpPr>
          <p:cNvPr id="7" name="Shape 5"/>
          <p:cNvSpPr/>
          <p:nvPr/>
        </p:nvSpPr>
        <p:spPr>
          <a:xfrm>
            <a:off x="4983480" y="1207008"/>
            <a:ext cx="3703320" cy="1325880"/>
          </a:xfrm>
          <a:prstGeom prst="roundRect">
            <a:avLst>
              <a:gd name="adj" fmla="val 2759"/>
            </a:avLst>
          </a:prstGeom>
          <a:solidFill>
            <a:srgbClr val="F1F4F8"/>
          </a:solidFill>
          <a:ln w="9525">
            <a:solidFill>
              <a:srgbClr val="D8DFE8"/>
            </a:solidFill>
            <a:prstDash val="solid"/>
          </a:ln>
        </p:spPr>
        <p:txBody>
          <a:bodyPr/>
          <a:lstStyle/>
          <a:p>
            <a:endParaRPr lang="en-US"/>
          </a:p>
        </p:txBody>
      </p:sp>
      <p:sp>
        <p:nvSpPr>
          <p:cNvPr id="8" name="Text 6"/>
          <p:cNvSpPr txBox="1"/>
          <p:nvPr/>
        </p:nvSpPr>
        <p:spPr>
          <a:xfrm>
            <a:off x="5166360" y="1207008"/>
            <a:ext cx="3337560" cy="1325880"/>
          </a:xfrm>
          <a:prstGeom prst="rect">
            <a:avLst/>
          </a:prstGeom>
          <a:noFill/>
          <a:ln/>
        </p:spPr>
        <p:txBody>
          <a:bodyPr wrap="square" lIns="0" tIns="0" rIns="0" bIns="0" rtlCol="0" anchor="ctr"/>
          <a:lstStyle/>
          <a:p>
            <a:pPr marL="0" indent="0">
              <a:spcAft>
                <a:spcPts val="400"/>
              </a:spcAft>
              <a:buNone/>
            </a:pPr>
            <a:r>
              <a:rPr lang="en-US" sz="1250" b="1" dirty="0">
                <a:solidFill>
                  <a:srgbClr val="1A5FB4"/>
                </a:solidFill>
                <a:latin typeface="Calibri" pitchFamily="34" charset="0"/>
                <a:ea typeface="Calibri" pitchFamily="34" charset="-122"/>
                <a:cs typeface="Calibri" pitchFamily="34" charset="-120"/>
              </a:rPr>
              <a:t>Silhouette score</a:t>
            </a:r>
            <a:endParaRPr lang="en-US" sz="1250" dirty="0"/>
          </a:p>
          <a:p>
            <a:pPr marL="0" indent="0">
              <a:spcAft>
                <a:spcPts val="400"/>
              </a:spcAft>
              <a:buNone/>
            </a:pPr>
            <a:r>
              <a:rPr lang="en-US" sz="1250" dirty="0">
                <a:solidFill>
                  <a:srgbClr val="1A5FB4"/>
                </a:solidFill>
                <a:latin typeface="Cambria" pitchFamily="34" charset="0"/>
                <a:ea typeface="Cambria" pitchFamily="34" charset="-122"/>
                <a:cs typeface="Cambria" pitchFamily="34" charset="-120"/>
              </a:rPr>
              <a:t>s = ( b − a ) / max( a, b )</a:t>
            </a:r>
            <a:endParaRPr lang="en-US" sz="1250" dirty="0"/>
          </a:p>
          <a:p>
            <a:pPr marL="0" indent="0">
              <a:spcAft>
                <a:spcPts val="400"/>
              </a:spcAft>
              <a:buNone/>
            </a:pPr>
            <a:r>
              <a:rPr lang="en-US" sz="1050" dirty="0">
                <a:solidFill>
                  <a:srgbClr val="1B2430"/>
                </a:solidFill>
                <a:latin typeface="Calibri" pitchFamily="34" charset="0"/>
                <a:ea typeface="Calibri" pitchFamily="34" charset="-122"/>
                <a:cs typeface="Calibri" pitchFamily="34" charset="-120"/>
              </a:rPr>
              <a:t>a = mean distance to its own cluster,  b = mean distance to the nearest other cluster. Average over all points; pick the K that scores highest.</a:t>
            </a:r>
            <a:endParaRPr lang="en-US" sz="1250" dirty="0"/>
          </a:p>
        </p:txBody>
      </p:sp>
      <p:sp>
        <p:nvSpPr>
          <p:cNvPr id="9" name="Shape 7"/>
          <p:cNvSpPr/>
          <p:nvPr/>
        </p:nvSpPr>
        <p:spPr>
          <a:xfrm>
            <a:off x="2491740" y="2651760"/>
            <a:ext cx="4160520" cy="1417320"/>
          </a:xfrm>
          <a:prstGeom prst="roundRect">
            <a:avLst>
              <a:gd name="adj" fmla="val 2581"/>
            </a:avLst>
          </a:prstGeom>
          <a:blipFill dpi="0" rotWithShape="1">
            <a:blip r:embed="rId3">
              <a:extLst>
                <a:ext uri="{28A0092B-C50C-407E-A947-70E740481C1C}">
                  <a14:useLocalDpi xmlns:a14="http://schemas.microsoft.com/office/drawing/2010/main" val="0"/>
                </a:ext>
              </a:extLst>
            </a:blip>
            <a:srcRect/>
            <a:stretch>
              <a:fillRect l="-4945" r="-4945"/>
            </a:stretch>
          </a:blipFill>
          <a:ln w="9525">
            <a:solidFill>
              <a:srgbClr val="D8DFE8"/>
            </a:solidFill>
            <a:prstDash val="solid"/>
          </a:ln>
        </p:spPr>
        <p:txBody>
          <a:bodyPr/>
          <a:lstStyle/>
          <a:p>
            <a:endParaRPr lang="en-US"/>
          </a:p>
        </p:txBody>
      </p:sp>
      <p:sp>
        <p:nvSpPr>
          <p:cNvPr id="11" name="Shape 9"/>
          <p:cNvSpPr/>
          <p:nvPr/>
        </p:nvSpPr>
        <p:spPr>
          <a:xfrm>
            <a:off x="457200" y="4206240"/>
            <a:ext cx="8229600" cy="530352"/>
          </a:xfrm>
          <a:prstGeom prst="roundRect">
            <a:avLst>
              <a:gd name="adj" fmla="val 6897"/>
            </a:avLst>
          </a:prstGeom>
          <a:solidFill>
            <a:srgbClr val="E8F4ED"/>
          </a:solidFill>
          <a:ln w="12700">
            <a:solidFill>
              <a:srgbClr val="1B7A46"/>
            </a:solidFill>
            <a:prstDash val="solid"/>
          </a:ln>
        </p:spPr>
        <p:txBody>
          <a:bodyPr/>
          <a:lstStyle/>
          <a:p>
            <a:endParaRPr lang="en-US"/>
          </a:p>
        </p:txBody>
      </p:sp>
      <p:sp>
        <p:nvSpPr>
          <p:cNvPr id="12" name="Text 10"/>
          <p:cNvSpPr txBox="1"/>
          <p:nvPr/>
        </p:nvSpPr>
        <p:spPr>
          <a:xfrm>
            <a:off x="640080" y="4206240"/>
            <a:ext cx="7863840" cy="530352"/>
          </a:xfrm>
          <a:prstGeom prst="rect">
            <a:avLst/>
          </a:prstGeom>
          <a:noFill/>
          <a:ln/>
        </p:spPr>
        <p:txBody>
          <a:bodyPr wrap="square" lIns="0" tIns="0" rIns="0" bIns="0" rtlCol="0" anchor="ctr"/>
          <a:lstStyle/>
          <a:p>
            <a:pPr marL="0" indent="0">
              <a:buNone/>
            </a:pPr>
            <a:r>
              <a:rPr lang="en-US" sz="1200" b="1" dirty="0">
                <a:solidFill>
                  <a:srgbClr val="1B7A46"/>
                </a:solidFill>
                <a:latin typeface="Calibri" pitchFamily="34" charset="0"/>
                <a:ea typeface="Calibri" pitchFamily="34" charset="-122"/>
                <a:cs typeface="Calibri" pitchFamily="34" charset="-120"/>
              </a:rPr>
              <a:t>Both are heuristics, not estimators — and on real data they will sometimes disagree with each other.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457200" y="384048"/>
            <a:ext cx="118872" cy="118872"/>
          </a:xfrm>
          <a:prstGeom prst="ellipse">
            <a:avLst/>
          </a:prstGeom>
          <a:solidFill>
            <a:srgbClr val="FFC72C"/>
          </a:solidFill>
          <a:ln w="12700">
            <a:solidFill>
              <a:srgbClr val="FFC72C"/>
            </a:solidFill>
            <a:prstDash val="solid"/>
          </a:ln>
        </p:spPr>
        <p:txBody>
          <a:bodyPr/>
          <a:lstStyle/>
          <a:p>
            <a:endParaRPr lang="en-US"/>
          </a:p>
        </p:txBody>
      </p:sp>
      <p:sp>
        <p:nvSpPr>
          <p:cNvPr id="3" name="Text 1"/>
          <p:cNvSpPr txBox="1"/>
          <p:nvPr/>
        </p:nvSpPr>
        <p:spPr>
          <a:xfrm>
            <a:off x="658368" y="329184"/>
            <a:ext cx="8028432" cy="237744"/>
          </a:xfrm>
          <a:prstGeom prst="rect">
            <a:avLst/>
          </a:prstGeom>
          <a:noFill/>
          <a:ln/>
        </p:spPr>
        <p:txBody>
          <a:bodyPr wrap="square" lIns="0" tIns="0" rIns="0" bIns="0" rtlCol="0" anchor="ctr"/>
          <a:lstStyle/>
          <a:p>
            <a:pPr marL="0" indent="0">
              <a:buNone/>
            </a:pPr>
            <a:r>
              <a:rPr lang="en-US" sz="1050" b="1" kern="0" spc="140" dirty="0">
                <a:solidFill>
                  <a:srgbClr val="5A6472"/>
                </a:solidFill>
                <a:latin typeface="Calibri" pitchFamily="34" charset="0"/>
                <a:ea typeface="Calibri" pitchFamily="34" charset="-122"/>
                <a:cs typeface="Calibri" pitchFamily="34" charset="-120"/>
              </a:rPr>
              <a:t>CONCEPT</a:t>
            </a:r>
            <a:endParaRPr lang="en-US" sz="1050" dirty="0"/>
          </a:p>
        </p:txBody>
      </p:sp>
      <p:sp>
        <p:nvSpPr>
          <p:cNvPr id="4" name="Text 2"/>
          <p:cNvSpPr txBox="1"/>
          <p:nvPr/>
        </p:nvSpPr>
        <p:spPr>
          <a:xfrm>
            <a:off x="457200" y="603504"/>
            <a:ext cx="8229600" cy="566928"/>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Where K-Means simply cannot help you</a:t>
            </a:r>
            <a:endParaRPr lang="en-US" sz="2500" dirty="0"/>
          </a:p>
        </p:txBody>
      </p:sp>
      <p:sp>
        <p:nvSpPr>
          <p:cNvPr id="5" name="Text 3"/>
          <p:cNvSpPr txBox="1"/>
          <p:nvPr/>
        </p:nvSpPr>
        <p:spPr>
          <a:xfrm>
            <a:off x="457200" y="1188720"/>
            <a:ext cx="8229600" cy="621792"/>
          </a:xfrm>
          <a:prstGeom prst="rect">
            <a:avLst/>
          </a:prstGeom>
          <a:noFill/>
          <a:ln/>
        </p:spPr>
        <p:txBody>
          <a:bodyPr wrap="square" lIns="0" tIns="0" rIns="0" bIns="0" rtlCol="0" anchor="ctr"/>
          <a:lstStyle/>
          <a:p>
            <a:pPr marL="0" indent="0">
              <a:buNone/>
            </a:pPr>
            <a:r>
              <a:rPr lang="en-US" sz="1250" dirty="0">
                <a:solidFill>
                  <a:srgbClr val="AEBBCE"/>
                </a:solidFill>
                <a:latin typeface="Calibri" pitchFamily="34" charset="0"/>
                <a:ea typeface="Calibri" pitchFamily="34" charset="-122"/>
                <a:cs typeface="Calibri" pitchFamily="34" charset="-120"/>
              </a:rPr>
              <a:t>K-Means minimizes squared distance to a single center point. That objective can only ever produce clusters that are compact, roughly spherical and roughly equal in size — because those are the only shapes a centroid can describe.</a:t>
            </a:r>
            <a:endParaRPr lang="en-US" sz="1250" dirty="0"/>
          </a:p>
        </p:txBody>
      </p:sp>
      <p:sp>
        <p:nvSpPr>
          <p:cNvPr id="6" name="Shape 4"/>
          <p:cNvSpPr/>
          <p:nvPr/>
        </p:nvSpPr>
        <p:spPr>
          <a:xfrm>
            <a:off x="1153597" y="1901952"/>
            <a:ext cx="2582726" cy="2148840"/>
          </a:xfrm>
          <a:prstGeom prst="roundRect">
            <a:avLst>
              <a:gd name="adj" fmla="val 1702"/>
            </a:avLst>
          </a:prstGeom>
          <a:blipFill dpi="0" rotWithShape="1">
            <a:blip r:embed="rId3">
              <a:extLst>
                <a:ext uri="{28A0092B-C50C-407E-A947-70E740481C1C}">
                  <a14:useLocalDpi xmlns:a14="http://schemas.microsoft.com/office/drawing/2010/main" val="0"/>
                </a:ext>
              </a:extLst>
            </a:blip>
            <a:srcRect/>
            <a:stretch>
              <a:fillRect/>
            </a:stretch>
          </a:blipFill>
          <a:ln w="9525">
            <a:solidFill>
              <a:srgbClr val="D8DFE8"/>
            </a:solidFill>
            <a:prstDash val="solid"/>
          </a:ln>
        </p:spPr>
        <p:txBody>
          <a:bodyPr/>
          <a:lstStyle/>
          <a:p>
            <a:endParaRPr lang="en-US"/>
          </a:p>
        </p:txBody>
      </p:sp>
      <p:sp>
        <p:nvSpPr>
          <p:cNvPr id="8" name="Shape 6"/>
          <p:cNvSpPr/>
          <p:nvPr/>
        </p:nvSpPr>
        <p:spPr>
          <a:xfrm>
            <a:off x="4663440" y="1901952"/>
            <a:ext cx="4023360" cy="2148840"/>
          </a:xfrm>
          <a:prstGeom prst="roundRect">
            <a:avLst>
              <a:gd name="adj" fmla="val 1702"/>
            </a:avLst>
          </a:prstGeom>
          <a:solidFill>
            <a:srgbClr val="F1F4F8"/>
          </a:solidFill>
          <a:ln w="9525">
            <a:solidFill>
              <a:srgbClr val="D8DFE8"/>
            </a:solidFill>
            <a:prstDash val="solid"/>
          </a:ln>
        </p:spPr>
        <p:txBody>
          <a:bodyPr/>
          <a:lstStyle/>
          <a:p>
            <a:endParaRPr lang="en-US"/>
          </a:p>
        </p:txBody>
      </p:sp>
      <p:sp>
        <p:nvSpPr>
          <p:cNvPr id="9" name="Text 7"/>
          <p:cNvSpPr txBox="1"/>
          <p:nvPr/>
        </p:nvSpPr>
        <p:spPr>
          <a:xfrm>
            <a:off x="4846320" y="2084832"/>
            <a:ext cx="3657600" cy="1828800"/>
          </a:xfrm>
          <a:prstGeom prst="rect">
            <a:avLst/>
          </a:prstGeom>
          <a:noFill/>
          <a:ln/>
        </p:spPr>
        <p:txBody>
          <a:bodyPr wrap="square" lIns="0" tIns="0" rIns="0" bIns="0" rtlCol="0" anchor="t"/>
          <a:lstStyle/>
          <a:p>
            <a:pPr marL="0" indent="0">
              <a:spcAft>
                <a:spcPts val="600"/>
              </a:spcAft>
              <a:buNone/>
            </a:pPr>
            <a:r>
              <a:rPr lang="en-US" sz="1400" b="1" dirty="0">
                <a:solidFill>
                  <a:srgbClr val="1A5FB4"/>
                </a:solidFill>
                <a:latin typeface="Calibri" pitchFamily="34" charset="0"/>
                <a:ea typeface="Calibri" pitchFamily="34" charset="-122"/>
                <a:cs typeface="Calibri" pitchFamily="34" charset="-120"/>
              </a:rPr>
              <a:t>Non-Standard Clusters</a:t>
            </a:r>
            <a:endParaRPr lang="en-US" sz="1400" dirty="0"/>
          </a:p>
          <a:p>
            <a:pPr marL="0" indent="0">
              <a:spcAft>
                <a:spcPts val="600"/>
              </a:spcAft>
              <a:buNone/>
            </a:pPr>
            <a:r>
              <a:rPr lang="en-US" sz="1200" dirty="0">
                <a:solidFill>
                  <a:srgbClr val="1B2430"/>
                </a:solidFill>
                <a:latin typeface="Calibri" pitchFamily="34" charset="0"/>
                <a:ea typeface="Calibri" pitchFamily="34" charset="-122"/>
                <a:cs typeface="Calibri" pitchFamily="34" charset="-120"/>
              </a:rPr>
              <a:t>Obvious to your eye. Impossible for K-Means, which draws a straight boundary halfway between two centroids and cuts the modified clusters.</a:t>
            </a:r>
            <a:endParaRPr lang="en-US" sz="1400" dirty="0"/>
          </a:p>
          <a:p>
            <a:pPr marL="0" indent="0">
              <a:spcAft>
                <a:spcPts val="600"/>
              </a:spcAft>
              <a:buNone/>
            </a:pPr>
            <a:r>
              <a:rPr lang="en-US" sz="1200" dirty="0">
                <a:solidFill>
                  <a:srgbClr val="1B2430"/>
                </a:solidFill>
                <a:latin typeface="Calibri" pitchFamily="34" charset="0"/>
                <a:ea typeface="Calibri" pitchFamily="34" charset="-122"/>
                <a:cs typeface="Calibri" pitchFamily="34" charset="-120"/>
              </a:rPr>
              <a:t>Take the elongated clusters, points in one sliver are not close to a common center. They are close to each other, yet in a form that K-means cannot easily differentiate.</a:t>
            </a:r>
            <a:endParaRPr lang="en-US" sz="1400" dirty="0"/>
          </a:p>
        </p:txBody>
      </p:sp>
      <p:sp>
        <p:nvSpPr>
          <p:cNvPr id="10" name="Shape 8"/>
          <p:cNvSpPr/>
          <p:nvPr/>
        </p:nvSpPr>
        <p:spPr>
          <a:xfrm>
            <a:off x="457200" y="4206240"/>
            <a:ext cx="8229600" cy="530352"/>
          </a:xfrm>
          <a:prstGeom prst="roundRect">
            <a:avLst>
              <a:gd name="adj" fmla="val 6897"/>
            </a:avLst>
          </a:prstGeom>
          <a:solidFill>
            <a:srgbClr val="E8F4ED"/>
          </a:solidFill>
          <a:ln w="12700">
            <a:solidFill>
              <a:srgbClr val="1B7A46"/>
            </a:solidFill>
            <a:prstDash val="solid"/>
          </a:ln>
        </p:spPr>
        <p:txBody>
          <a:bodyPr/>
          <a:lstStyle/>
          <a:p>
            <a:endParaRPr lang="en-US"/>
          </a:p>
        </p:txBody>
      </p:sp>
      <p:sp>
        <p:nvSpPr>
          <p:cNvPr id="11" name="Text 9"/>
          <p:cNvSpPr txBox="1"/>
          <p:nvPr/>
        </p:nvSpPr>
        <p:spPr>
          <a:xfrm>
            <a:off x="640080" y="4206240"/>
            <a:ext cx="7863840" cy="530352"/>
          </a:xfrm>
          <a:prstGeom prst="rect">
            <a:avLst/>
          </a:prstGeom>
          <a:noFill/>
          <a:ln/>
        </p:spPr>
        <p:txBody>
          <a:bodyPr wrap="square" lIns="0" tIns="0" rIns="0" bIns="0" rtlCol="0" anchor="ctr"/>
          <a:lstStyle/>
          <a:p>
            <a:pPr marL="0" indent="0">
              <a:buNone/>
            </a:pPr>
            <a:r>
              <a:rPr lang="en-US" sz="1200" b="1" dirty="0">
                <a:solidFill>
                  <a:srgbClr val="1B7A46"/>
                </a:solidFill>
                <a:latin typeface="Calibri" pitchFamily="34" charset="0"/>
                <a:ea typeface="Calibri" pitchFamily="34" charset="-122"/>
                <a:cs typeface="Calibri" pitchFamily="34" charset="-120"/>
              </a:rPr>
              <a:t>That failure is the entire reason the next section exists.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12233F"/>
        </a:solidFill>
        <a:effectLst/>
      </p:bgPr>
    </p:bg>
    <p:spTree>
      <p:nvGrpSpPr>
        <p:cNvPr id="1" name=""/>
        <p:cNvGrpSpPr/>
        <p:nvPr/>
      </p:nvGrpSpPr>
      <p:grpSpPr>
        <a:xfrm>
          <a:off x="0" y="0"/>
          <a:ext cx="0" cy="0"/>
          <a:chOff x="0" y="0"/>
          <a:chExt cx="0" cy="0"/>
        </a:xfrm>
      </p:grpSpPr>
      <p:sp>
        <p:nvSpPr>
          <p:cNvPr id="2" name="Shape 0"/>
          <p:cNvSpPr/>
          <p:nvPr/>
        </p:nvSpPr>
        <p:spPr>
          <a:xfrm>
            <a:off x="457200" y="1572768"/>
            <a:ext cx="841248" cy="841248"/>
          </a:xfrm>
          <a:prstGeom prst="ellipse">
            <a:avLst/>
          </a:prstGeom>
          <a:solidFill>
            <a:srgbClr val="FFC72C"/>
          </a:solidFill>
          <a:ln w="12700">
            <a:solidFill>
              <a:srgbClr val="FFC72C"/>
            </a:solidFill>
            <a:prstDash val="solid"/>
          </a:ln>
        </p:spPr>
        <p:txBody>
          <a:bodyPr/>
          <a:lstStyle/>
          <a:p>
            <a:endParaRPr lang="en-US"/>
          </a:p>
        </p:txBody>
      </p:sp>
      <p:sp>
        <p:nvSpPr>
          <p:cNvPr id="3" name="Text 1"/>
          <p:cNvSpPr txBox="1"/>
          <p:nvPr/>
        </p:nvSpPr>
        <p:spPr>
          <a:xfrm>
            <a:off x="457200" y="1572768"/>
            <a:ext cx="841248" cy="841248"/>
          </a:xfrm>
          <a:prstGeom prst="rect">
            <a:avLst/>
          </a:prstGeom>
          <a:noFill/>
          <a:ln/>
        </p:spPr>
        <p:txBody>
          <a:bodyPr wrap="square" lIns="0" tIns="0" rIns="0" bIns="0" rtlCol="0" anchor="ctr"/>
          <a:lstStyle/>
          <a:p>
            <a:pPr marL="0" indent="0" algn="ctr">
              <a:buNone/>
            </a:pPr>
            <a:r>
              <a:rPr lang="en-US" sz="3400" b="1" dirty="0">
                <a:solidFill>
                  <a:srgbClr val="12233F"/>
                </a:solidFill>
                <a:latin typeface="Cambria" pitchFamily="34" charset="0"/>
                <a:ea typeface="Cambria" pitchFamily="34" charset="-122"/>
                <a:cs typeface="Cambria" pitchFamily="34" charset="-120"/>
              </a:rPr>
              <a:t>4</a:t>
            </a:r>
            <a:endParaRPr lang="en-US" sz="3400" dirty="0"/>
          </a:p>
        </p:txBody>
      </p:sp>
      <p:sp>
        <p:nvSpPr>
          <p:cNvPr id="4" name="Text 2"/>
          <p:cNvSpPr txBox="1"/>
          <p:nvPr/>
        </p:nvSpPr>
        <p:spPr>
          <a:xfrm>
            <a:off x="1572768" y="1627632"/>
            <a:ext cx="7114032" cy="475488"/>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Hierarchical Clustering</a:t>
            </a:r>
            <a:endParaRPr lang="en-US" sz="3200" dirty="0"/>
          </a:p>
        </p:txBody>
      </p:sp>
      <p:sp>
        <p:nvSpPr>
          <p:cNvPr id="5" name="Text 3"/>
          <p:cNvSpPr txBox="1"/>
          <p:nvPr/>
        </p:nvSpPr>
        <p:spPr>
          <a:xfrm>
            <a:off x="1572768" y="2139696"/>
            <a:ext cx="7114032" cy="347472"/>
          </a:xfrm>
          <a:prstGeom prst="rect">
            <a:avLst/>
          </a:prstGeom>
          <a:noFill/>
          <a:ln/>
        </p:spPr>
        <p:txBody>
          <a:bodyPr wrap="square" lIns="0" tIns="0" rIns="0" bIns="0" rtlCol="0" anchor="ctr"/>
          <a:lstStyle/>
          <a:p>
            <a:pPr marL="0" indent="0">
              <a:buNone/>
            </a:pPr>
            <a:r>
              <a:rPr lang="en-US" sz="1350" dirty="0">
                <a:solidFill>
                  <a:srgbClr val="AEBBCE"/>
                </a:solidFill>
                <a:latin typeface="Calibri" pitchFamily="34" charset="0"/>
                <a:ea typeface="Calibri" pitchFamily="34" charset="-122"/>
                <a:cs typeface="Calibri" pitchFamily="34" charset="-120"/>
              </a:rPr>
              <a:t>Build the whole tree, cut it later</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457200" y="384048"/>
            <a:ext cx="118872" cy="118872"/>
          </a:xfrm>
          <a:prstGeom prst="ellipse">
            <a:avLst/>
          </a:prstGeom>
          <a:solidFill>
            <a:srgbClr val="FFC72C"/>
          </a:solidFill>
          <a:ln w="12700">
            <a:solidFill>
              <a:srgbClr val="FFC72C"/>
            </a:solidFill>
            <a:prstDash val="solid"/>
          </a:ln>
        </p:spPr>
        <p:txBody>
          <a:bodyPr/>
          <a:lstStyle/>
          <a:p>
            <a:endParaRPr lang="en-US"/>
          </a:p>
        </p:txBody>
      </p:sp>
      <p:sp>
        <p:nvSpPr>
          <p:cNvPr id="3" name="Text 1"/>
          <p:cNvSpPr txBox="1"/>
          <p:nvPr/>
        </p:nvSpPr>
        <p:spPr>
          <a:xfrm>
            <a:off x="658368" y="329184"/>
            <a:ext cx="8028432" cy="237744"/>
          </a:xfrm>
          <a:prstGeom prst="rect">
            <a:avLst/>
          </a:prstGeom>
          <a:noFill/>
          <a:ln/>
        </p:spPr>
        <p:txBody>
          <a:bodyPr wrap="square" lIns="0" tIns="0" rIns="0" bIns="0" rtlCol="0" anchor="ctr"/>
          <a:lstStyle/>
          <a:p>
            <a:pPr marL="0" indent="0">
              <a:buNone/>
            </a:pPr>
            <a:r>
              <a:rPr lang="en-US" sz="1050" b="1" kern="0" spc="140" dirty="0">
                <a:solidFill>
                  <a:srgbClr val="5A6472"/>
                </a:solidFill>
                <a:latin typeface="Calibri" pitchFamily="34" charset="0"/>
                <a:ea typeface="Calibri" pitchFamily="34" charset="-122"/>
                <a:cs typeface="Calibri" pitchFamily="34" charset="-120"/>
              </a:rPr>
              <a:t>CONCEPT</a:t>
            </a:r>
            <a:endParaRPr lang="en-US" sz="1050" dirty="0"/>
          </a:p>
        </p:txBody>
      </p:sp>
      <p:sp>
        <p:nvSpPr>
          <p:cNvPr id="4" name="Text 2"/>
          <p:cNvSpPr txBox="1"/>
          <p:nvPr/>
        </p:nvSpPr>
        <p:spPr>
          <a:xfrm>
            <a:off x="457200" y="603504"/>
            <a:ext cx="8229600" cy="56692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Do not choose K. Build every K at once.</a:t>
            </a:r>
            <a:endParaRPr lang="en-US" sz="3000" dirty="0"/>
          </a:p>
        </p:txBody>
      </p:sp>
      <p:sp>
        <p:nvSpPr>
          <p:cNvPr id="5" name="Shape 3"/>
          <p:cNvSpPr/>
          <p:nvPr/>
        </p:nvSpPr>
        <p:spPr>
          <a:xfrm>
            <a:off x="457200" y="1234440"/>
            <a:ext cx="8229600" cy="1371600"/>
          </a:xfrm>
          <a:prstGeom prst="roundRect">
            <a:avLst>
              <a:gd name="adj" fmla="val 2667"/>
            </a:avLst>
          </a:prstGeom>
          <a:solidFill>
            <a:srgbClr val="F1F4F8"/>
          </a:solidFill>
          <a:ln w="9525">
            <a:solidFill>
              <a:srgbClr val="D8DFE8"/>
            </a:solidFill>
            <a:prstDash val="solid"/>
          </a:ln>
        </p:spPr>
        <p:txBody>
          <a:bodyPr/>
          <a:lstStyle/>
          <a:p>
            <a:endParaRPr lang="en-US"/>
          </a:p>
        </p:txBody>
      </p:sp>
      <p:sp>
        <p:nvSpPr>
          <p:cNvPr id="6" name="Text 4"/>
          <p:cNvSpPr txBox="1"/>
          <p:nvPr/>
        </p:nvSpPr>
        <p:spPr>
          <a:xfrm>
            <a:off x="685800" y="1399032"/>
            <a:ext cx="7772400" cy="1078992"/>
          </a:xfrm>
          <a:prstGeom prst="rect">
            <a:avLst/>
          </a:prstGeom>
          <a:noFill/>
          <a:ln/>
        </p:spPr>
        <p:txBody>
          <a:bodyPr wrap="square" lIns="0" tIns="0" rIns="0" bIns="0" rtlCol="0" anchor="ctr"/>
          <a:lstStyle/>
          <a:p>
            <a:pPr marL="0" indent="0">
              <a:spcAft>
                <a:spcPts val="500"/>
              </a:spcAft>
              <a:buNone/>
            </a:pPr>
            <a:r>
              <a:rPr lang="en-US" sz="1350" b="1" dirty="0">
                <a:solidFill>
                  <a:srgbClr val="1A5FB4"/>
                </a:solidFill>
                <a:latin typeface="Calibri" pitchFamily="34" charset="0"/>
                <a:ea typeface="Calibri" pitchFamily="34" charset="-122"/>
                <a:cs typeface="Calibri" pitchFamily="34" charset="-120"/>
              </a:rPr>
              <a:t>Agglomerative clustering</a:t>
            </a:r>
            <a:endParaRPr lang="en-US" sz="1350" dirty="0"/>
          </a:p>
          <a:p>
            <a:pPr marL="0" indent="0">
              <a:spcAft>
                <a:spcPts val="500"/>
              </a:spcAft>
              <a:buNone/>
            </a:pPr>
            <a:r>
              <a:rPr lang="en-US" sz="1200" dirty="0">
                <a:solidFill>
                  <a:srgbClr val="1B2430"/>
                </a:solidFill>
                <a:latin typeface="Calibri" pitchFamily="34" charset="0"/>
                <a:ea typeface="Calibri" pitchFamily="34" charset="-122"/>
                <a:cs typeface="Calibri" pitchFamily="34" charset="-120"/>
              </a:rPr>
              <a:t>1.  Start with every point as its own cluster, and compute all pairwise distances.</a:t>
            </a:r>
            <a:endParaRPr lang="en-US" sz="1350" dirty="0"/>
          </a:p>
          <a:p>
            <a:pPr marL="0" indent="0">
              <a:spcAft>
                <a:spcPts val="500"/>
              </a:spcAft>
              <a:buNone/>
            </a:pPr>
            <a:r>
              <a:rPr lang="en-US" sz="1200" dirty="0">
                <a:solidFill>
                  <a:srgbClr val="1B2430"/>
                </a:solidFill>
                <a:latin typeface="Calibri" pitchFamily="34" charset="0"/>
                <a:ea typeface="Calibri" pitchFamily="34" charset="-122"/>
                <a:cs typeface="Calibri" pitchFamily="34" charset="-120"/>
              </a:rPr>
              <a:t>2.  Merge the two closest clusters.</a:t>
            </a:r>
            <a:endParaRPr lang="en-US" sz="1350" dirty="0"/>
          </a:p>
          <a:p>
            <a:pPr marL="0" indent="0">
              <a:spcAft>
                <a:spcPts val="500"/>
              </a:spcAft>
              <a:buNone/>
            </a:pPr>
            <a:r>
              <a:rPr lang="en-US" sz="1200" dirty="0">
                <a:solidFill>
                  <a:srgbClr val="1B2430"/>
                </a:solidFill>
                <a:latin typeface="Calibri" pitchFamily="34" charset="0"/>
                <a:ea typeface="Calibri" pitchFamily="34" charset="-122"/>
                <a:cs typeface="Calibri" pitchFamily="34" charset="-120"/>
              </a:rPr>
              <a:t>3.  Repeat until a single cluster remains.</a:t>
            </a:r>
            <a:endParaRPr lang="en-US" sz="1350" dirty="0"/>
          </a:p>
        </p:txBody>
      </p:sp>
      <p:sp>
        <p:nvSpPr>
          <p:cNvPr id="7" name="Shape 5"/>
          <p:cNvSpPr/>
          <p:nvPr/>
        </p:nvSpPr>
        <p:spPr>
          <a:xfrm>
            <a:off x="457200" y="2724912"/>
            <a:ext cx="8229600" cy="1325880"/>
          </a:xfrm>
          <a:prstGeom prst="roundRect">
            <a:avLst>
              <a:gd name="adj" fmla="val 2759"/>
            </a:avLst>
          </a:prstGeom>
          <a:solidFill>
            <a:srgbClr val="F1F4F8"/>
          </a:solidFill>
          <a:ln w="9525">
            <a:solidFill>
              <a:srgbClr val="D8DFE8"/>
            </a:solidFill>
            <a:prstDash val="solid"/>
          </a:ln>
        </p:spPr>
        <p:txBody>
          <a:bodyPr/>
          <a:lstStyle/>
          <a:p>
            <a:endParaRPr lang="en-US"/>
          </a:p>
        </p:txBody>
      </p:sp>
      <p:sp>
        <p:nvSpPr>
          <p:cNvPr id="8" name="Text 6"/>
          <p:cNvSpPr txBox="1"/>
          <p:nvPr/>
        </p:nvSpPr>
        <p:spPr>
          <a:xfrm>
            <a:off x="685800" y="2889504"/>
            <a:ext cx="7772400" cy="1024128"/>
          </a:xfrm>
          <a:prstGeom prst="rect">
            <a:avLst/>
          </a:prstGeom>
          <a:noFill/>
          <a:ln/>
        </p:spPr>
        <p:txBody>
          <a:bodyPr wrap="square" lIns="0" tIns="0" rIns="0" bIns="0" rtlCol="0" anchor="t"/>
          <a:lstStyle/>
          <a:p>
            <a:pPr marL="0" indent="0">
              <a:spcAft>
                <a:spcPts val="500"/>
              </a:spcAft>
              <a:buNone/>
            </a:pPr>
            <a:r>
              <a:rPr lang="en-US" sz="1400" b="1" dirty="0">
                <a:solidFill>
                  <a:srgbClr val="1A5FB4"/>
                </a:solidFill>
                <a:latin typeface="Calibri" pitchFamily="34" charset="0"/>
                <a:ea typeface="Calibri" pitchFamily="34" charset="-122"/>
                <a:cs typeface="Calibri" pitchFamily="34" charset="-120"/>
              </a:rPr>
              <a:t>The merge history is a tree — and the tree contains every K simultaneously.</a:t>
            </a:r>
            <a:endParaRPr lang="en-US" sz="1400" dirty="0"/>
          </a:p>
          <a:p>
            <a:pPr marL="0" indent="0">
              <a:spcAft>
                <a:spcPts val="500"/>
              </a:spcAft>
              <a:buNone/>
            </a:pPr>
            <a:r>
              <a:rPr lang="en-US" sz="1200" dirty="0">
                <a:solidFill>
                  <a:srgbClr val="1B2430"/>
                </a:solidFill>
                <a:latin typeface="Calibri" pitchFamily="34" charset="0"/>
                <a:ea typeface="Calibri" pitchFamily="34" charset="-122"/>
                <a:cs typeface="Calibri" pitchFamily="34" charset="-120"/>
              </a:rPr>
              <a:t>Cut the tree high and you get a few large clusters. Cut it low and you get many small ones. You run the algorithm once and then decide, with the structure of the data already in front of you. Especially useful for smaller datasets, where the quadratic cost is not a problem.</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457200" y="384048"/>
            <a:ext cx="118872" cy="118872"/>
          </a:xfrm>
          <a:prstGeom prst="ellipse">
            <a:avLst/>
          </a:prstGeom>
          <a:solidFill>
            <a:srgbClr val="FFC72C"/>
          </a:solidFill>
          <a:ln w="12700">
            <a:solidFill>
              <a:srgbClr val="FFC72C"/>
            </a:solidFill>
            <a:prstDash val="solid"/>
          </a:ln>
        </p:spPr>
        <p:txBody>
          <a:bodyPr/>
          <a:lstStyle/>
          <a:p>
            <a:endParaRPr lang="en-US"/>
          </a:p>
        </p:txBody>
      </p:sp>
      <p:sp>
        <p:nvSpPr>
          <p:cNvPr id="3" name="Text 1"/>
          <p:cNvSpPr txBox="1"/>
          <p:nvPr/>
        </p:nvSpPr>
        <p:spPr>
          <a:xfrm>
            <a:off x="658368" y="329184"/>
            <a:ext cx="8028432" cy="237744"/>
          </a:xfrm>
          <a:prstGeom prst="rect">
            <a:avLst/>
          </a:prstGeom>
          <a:noFill/>
          <a:ln/>
        </p:spPr>
        <p:txBody>
          <a:bodyPr wrap="square" lIns="0" tIns="0" rIns="0" bIns="0" rtlCol="0" anchor="ctr"/>
          <a:lstStyle/>
          <a:p>
            <a:pPr marL="0" indent="0">
              <a:buNone/>
            </a:pPr>
            <a:r>
              <a:rPr lang="en-US" sz="1050" b="1" kern="0" spc="140" dirty="0">
                <a:solidFill>
                  <a:srgbClr val="5A6472"/>
                </a:solidFill>
                <a:latin typeface="Calibri" pitchFamily="34" charset="0"/>
                <a:ea typeface="Calibri" pitchFamily="34" charset="-122"/>
                <a:cs typeface="Calibri" pitchFamily="34" charset="-120"/>
              </a:rPr>
              <a:t>CONCEPT</a:t>
            </a:r>
            <a:endParaRPr lang="en-US" sz="1050" dirty="0"/>
          </a:p>
        </p:txBody>
      </p:sp>
      <p:sp>
        <p:nvSpPr>
          <p:cNvPr id="4" name="Text 2"/>
          <p:cNvSpPr txBox="1"/>
          <p:nvPr/>
        </p:nvSpPr>
        <p:spPr>
          <a:xfrm>
            <a:off x="457200" y="603504"/>
            <a:ext cx="8229600" cy="566928"/>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“Closest” needs a definition: three linkages</a:t>
            </a:r>
            <a:endParaRPr lang="en-US" sz="2500" dirty="0"/>
          </a:p>
        </p:txBody>
      </p:sp>
      <p:sp>
        <p:nvSpPr>
          <p:cNvPr id="5" name="Text 3"/>
          <p:cNvSpPr txBox="1"/>
          <p:nvPr/>
        </p:nvSpPr>
        <p:spPr>
          <a:xfrm>
            <a:off x="457200" y="1188720"/>
            <a:ext cx="8229600" cy="384048"/>
          </a:xfrm>
          <a:prstGeom prst="rect">
            <a:avLst/>
          </a:prstGeom>
          <a:noFill/>
          <a:ln/>
        </p:spPr>
        <p:txBody>
          <a:bodyPr wrap="square" lIns="0" tIns="0" rIns="0" bIns="0" rtlCol="0" anchor="ctr"/>
          <a:lstStyle/>
          <a:p>
            <a:pPr marL="0" indent="0">
              <a:buNone/>
            </a:pPr>
            <a:r>
              <a:rPr lang="en-US" sz="1200" dirty="0">
                <a:solidFill>
                  <a:srgbClr val="AEBBCE"/>
                </a:solidFill>
                <a:latin typeface="Calibri" pitchFamily="34" charset="0"/>
                <a:ea typeface="Calibri" pitchFamily="34" charset="-122"/>
                <a:cs typeface="Calibri" pitchFamily="34" charset="-120"/>
              </a:rPr>
              <a:t>Distance between two points is obvious. Distance between two groups of points is a choice, and the choice changes what we define as </a:t>
            </a:r>
            <a:r>
              <a:rPr lang="en-US" sz="1200">
                <a:solidFill>
                  <a:srgbClr val="AEBBCE"/>
                </a:solidFill>
                <a:latin typeface="Calibri" pitchFamily="34" charset="0"/>
                <a:ea typeface="Calibri" pitchFamily="34" charset="-122"/>
                <a:cs typeface="Calibri" pitchFamily="34" charset="-120"/>
              </a:rPr>
              <a:t>a new cluster.</a:t>
            </a:r>
            <a:endParaRPr lang="en-US" sz="1200" dirty="0"/>
          </a:p>
        </p:txBody>
      </p:sp>
      <p:sp>
        <p:nvSpPr>
          <p:cNvPr id="6" name="Shape 4"/>
          <p:cNvSpPr/>
          <p:nvPr/>
        </p:nvSpPr>
        <p:spPr>
          <a:xfrm>
            <a:off x="457200" y="1682496"/>
            <a:ext cx="2697480" cy="2359152"/>
          </a:xfrm>
          <a:prstGeom prst="roundRect">
            <a:avLst>
              <a:gd name="adj" fmla="val 1550"/>
            </a:avLst>
          </a:prstGeom>
          <a:solidFill>
            <a:srgbClr val="F1F4F8"/>
          </a:solidFill>
          <a:ln w="9525">
            <a:solidFill>
              <a:srgbClr val="D8DFE8"/>
            </a:solidFill>
            <a:prstDash val="solid"/>
          </a:ln>
        </p:spPr>
        <p:txBody>
          <a:bodyPr/>
          <a:lstStyle/>
          <a:p>
            <a:endParaRPr lang="en-US"/>
          </a:p>
        </p:txBody>
      </p:sp>
      <p:sp>
        <p:nvSpPr>
          <p:cNvPr id="7" name="Text 5"/>
          <p:cNvSpPr txBox="1"/>
          <p:nvPr/>
        </p:nvSpPr>
        <p:spPr>
          <a:xfrm>
            <a:off x="621792" y="1847088"/>
            <a:ext cx="2368296" cy="2029968"/>
          </a:xfrm>
          <a:prstGeom prst="rect">
            <a:avLst/>
          </a:prstGeom>
          <a:noFill/>
          <a:ln/>
        </p:spPr>
        <p:txBody>
          <a:bodyPr wrap="square" lIns="0" tIns="0" rIns="0" bIns="0" rtlCol="0" anchor="ctr"/>
          <a:lstStyle/>
          <a:p>
            <a:pPr marL="0" indent="0">
              <a:spcAft>
                <a:spcPts val="600"/>
              </a:spcAft>
              <a:buNone/>
            </a:pPr>
            <a:r>
              <a:rPr lang="en-US" sz="1300" b="1" dirty="0">
                <a:solidFill>
                  <a:srgbClr val="1A5FB4"/>
                </a:solidFill>
                <a:latin typeface="Calibri" pitchFamily="34" charset="0"/>
                <a:ea typeface="Calibri" pitchFamily="34" charset="-122"/>
                <a:cs typeface="Calibri" pitchFamily="34" charset="-120"/>
              </a:rPr>
              <a:t>Single-link</a:t>
            </a:r>
            <a:endParaRPr lang="en-US" sz="1300" dirty="0"/>
          </a:p>
          <a:p>
            <a:pPr marL="0" indent="0">
              <a:spcAft>
                <a:spcPts val="600"/>
              </a:spcAft>
              <a:buNone/>
            </a:pPr>
            <a:r>
              <a:rPr lang="en-US" sz="1050" i="1" dirty="0">
                <a:solidFill>
                  <a:srgbClr val="5A6472"/>
                </a:solidFill>
                <a:latin typeface="Calibri" pitchFamily="34" charset="0"/>
                <a:ea typeface="Calibri" pitchFamily="34" charset="-122"/>
                <a:cs typeface="Calibri" pitchFamily="34" charset="-120"/>
              </a:rPr>
              <a:t>nearest neighbour</a:t>
            </a:r>
            <a:endParaRPr lang="en-US" sz="1300" dirty="0"/>
          </a:p>
          <a:p>
            <a:pPr marL="0" indent="0">
              <a:spcAft>
                <a:spcPts val="600"/>
              </a:spcAft>
              <a:buNone/>
            </a:pPr>
            <a:r>
              <a:rPr lang="en-US" sz="1100" dirty="0">
                <a:solidFill>
                  <a:srgbClr val="1B2430"/>
                </a:solidFill>
                <a:latin typeface="Calibri" pitchFamily="34" charset="0"/>
                <a:ea typeface="Calibri" pitchFamily="34" charset="-122"/>
                <a:cs typeface="Calibri" pitchFamily="34" charset="-120"/>
              </a:rPr>
              <a:t>Merge the two clusters holding the closest pair of points, one from each. Follows chains and finds long, non-compact shapes — this is what solves the crescents.</a:t>
            </a:r>
            <a:endParaRPr lang="en-US" sz="1300" dirty="0"/>
          </a:p>
        </p:txBody>
      </p:sp>
      <p:sp>
        <p:nvSpPr>
          <p:cNvPr id="8" name="Shape 6"/>
          <p:cNvSpPr/>
          <p:nvPr/>
        </p:nvSpPr>
        <p:spPr>
          <a:xfrm>
            <a:off x="3236976" y="1682496"/>
            <a:ext cx="2697480" cy="2359152"/>
          </a:xfrm>
          <a:prstGeom prst="roundRect">
            <a:avLst>
              <a:gd name="adj" fmla="val 1550"/>
            </a:avLst>
          </a:prstGeom>
          <a:solidFill>
            <a:srgbClr val="F1F4F8"/>
          </a:solidFill>
          <a:ln w="9525">
            <a:solidFill>
              <a:srgbClr val="D8DFE8"/>
            </a:solidFill>
            <a:prstDash val="solid"/>
          </a:ln>
        </p:spPr>
        <p:txBody>
          <a:bodyPr/>
          <a:lstStyle/>
          <a:p>
            <a:endParaRPr lang="en-US"/>
          </a:p>
        </p:txBody>
      </p:sp>
      <p:sp>
        <p:nvSpPr>
          <p:cNvPr id="9" name="Text 7"/>
          <p:cNvSpPr txBox="1"/>
          <p:nvPr/>
        </p:nvSpPr>
        <p:spPr>
          <a:xfrm>
            <a:off x="3401568" y="1847088"/>
            <a:ext cx="2368296" cy="2029968"/>
          </a:xfrm>
          <a:prstGeom prst="rect">
            <a:avLst/>
          </a:prstGeom>
          <a:noFill/>
          <a:ln/>
        </p:spPr>
        <p:txBody>
          <a:bodyPr wrap="square" lIns="0" tIns="0" rIns="0" bIns="0" rtlCol="0" anchor="ctr"/>
          <a:lstStyle/>
          <a:p>
            <a:pPr marL="0" indent="0">
              <a:spcAft>
                <a:spcPts val="600"/>
              </a:spcAft>
              <a:buNone/>
            </a:pPr>
            <a:r>
              <a:rPr lang="en-US" sz="1300" b="1" dirty="0">
                <a:solidFill>
                  <a:srgbClr val="1A5FB4"/>
                </a:solidFill>
                <a:latin typeface="Calibri" pitchFamily="34" charset="0"/>
                <a:ea typeface="Calibri" pitchFamily="34" charset="-122"/>
                <a:cs typeface="Calibri" pitchFamily="34" charset="-120"/>
              </a:rPr>
              <a:t>Complete-link</a:t>
            </a:r>
            <a:endParaRPr lang="en-US" sz="1300" dirty="0"/>
          </a:p>
          <a:p>
            <a:pPr marL="0" indent="0">
              <a:spcAft>
                <a:spcPts val="600"/>
              </a:spcAft>
              <a:buNone/>
            </a:pPr>
            <a:r>
              <a:rPr lang="en-US" sz="1050" i="1" dirty="0">
                <a:solidFill>
                  <a:srgbClr val="5A6472"/>
                </a:solidFill>
                <a:latin typeface="Calibri" pitchFamily="34" charset="0"/>
                <a:ea typeface="Calibri" pitchFamily="34" charset="-122"/>
                <a:cs typeface="Calibri" pitchFamily="34" charset="-120"/>
              </a:rPr>
              <a:t>furthest neighbour</a:t>
            </a:r>
            <a:endParaRPr lang="en-US" sz="1300" dirty="0"/>
          </a:p>
          <a:p>
            <a:pPr marL="0" indent="0">
              <a:spcAft>
                <a:spcPts val="600"/>
              </a:spcAft>
              <a:buNone/>
            </a:pPr>
            <a:r>
              <a:rPr lang="en-US" sz="1100" dirty="0">
                <a:solidFill>
                  <a:srgbClr val="1B2430"/>
                </a:solidFill>
                <a:latin typeface="Calibri" pitchFamily="34" charset="0"/>
                <a:ea typeface="Calibri" pitchFamily="34" charset="-122"/>
                <a:cs typeface="Calibri" pitchFamily="34" charset="-120"/>
              </a:rPr>
              <a:t>Merge the two clusters whose furthest pair is closest. Produces tight, compact, roughly equal-diameter clusters.</a:t>
            </a:r>
            <a:endParaRPr lang="en-US" sz="1300" dirty="0"/>
          </a:p>
        </p:txBody>
      </p:sp>
      <p:sp>
        <p:nvSpPr>
          <p:cNvPr id="10" name="Shape 8"/>
          <p:cNvSpPr/>
          <p:nvPr/>
        </p:nvSpPr>
        <p:spPr>
          <a:xfrm>
            <a:off x="6016752" y="1682496"/>
            <a:ext cx="2697480" cy="2359152"/>
          </a:xfrm>
          <a:prstGeom prst="roundRect">
            <a:avLst>
              <a:gd name="adj" fmla="val 1550"/>
            </a:avLst>
          </a:prstGeom>
          <a:solidFill>
            <a:srgbClr val="F1F4F8"/>
          </a:solidFill>
          <a:ln w="9525">
            <a:solidFill>
              <a:srgbClr val="D8DFE8"/>
            </a:solidFill>
            <a:prstDash val="solid"/>
          </a:ln>
        </p:spPr>
        <p:txBody>
          <a:bodyPr/>
          <a:lstStyle/>
          <a:p>
            <a:endParaRPr lang="en-US"/>
          </a:p>
        </p:txBody>
      </p:sp>
      <p:sp>
        <p:nvSpPr>
          <p:cNvPr id="11" name="Text 9"/>
          <p:cNvSpPr txBox="1"/>
          <p:nvPr/>
        </p:nvSpPr>
        <p:spPr>
          <a:xfrm>
            <a:off x="6181344" y="1847088"/>
            <a:ext cx="2368296" cy="2029968"/>
          </a:xfrm>
          <a:prstGeom prst="rect">
            <a:avLst/>
          </a:prstGeom>
          <a:noFill/>
          <a:ln/>
        </p:spPr>
        <p:txBody>
          <a:bodyPr wrap="square" lIns="0" tIns="0" rIns="0" bIns="0" rtlCol="0" anchor="ctr"/>
          <a:lstStyle/>
          <a:p>
            <a:pPr marL="0" indent="0">
              <a:spcAft>
                <a:spcPts val="600"/>
              </a:spcAft>
              <a:buNone/>
            </a:pPr>
            <a:r>
              <a:rPr lang="en-US" sz="1300" b="1" dirty="0">
                <a:solidFill>
                  <a:srgbClr val="1A5FB4"/>
                </a:solidFill>
                <a:latin typeface="Calibri" pitchFamily="34" charset="0"/>
                <a:ea typeface="Calibri" pitchFamily="34" charset="-122"/>
                <a:cs typeface="Calibri" pitchFamily="34" charset="-120"/>
              </a:rPr>
              <a:t>Average</a:t>
            </a:r>
            <a:endParaRPr lang="en-US" sz="1300" dirty="0"/>
          </a:p>
          <a:p>
            <a:pPr marL="0" indent="0">
              <a:spcAft>
                <a:spcPts val="600"/>
              </a:spcAft>
              <a:buNone/>
            </a:pPr>
            <a:r>
              <a:rPr lang="en-US" sz="1050" i="1" dirty="0">
                <a:solidFill>
                  <a:srgbClr val="5A6472"/>
                </a:solidFill>
                <a:latin typeface="Calibri" pitchFamily="34" charset="0"/>
                <a:ea typeface="Calibri" pitchFamily="34" charset="-122"/>
                <a:cs typeface="Calibri" pitchFamily="34" charset="-120"/>
              </a:rPr>
              <a:t>centroid distance</a:t>
            </a:r>
            <a:endParaRPr lang="en-US" sz="1300" dirty="0"/>
          </a:p>
          <a:p>
            <a:pPr marL="0" indent="0">
              <a:spcAft>
                <a:spcPts val="600"/>
              </a:spcAft>
              <a:buNone/>
            </a:pPr>
            <a:r>
              <a:rPr lang="en-US" sz="1100" dirty="0">
                <a:solidFill>
                  <a:srgbClr val="1B2430"/>
                </a:solidFill>
                <a:latin typeface="Calibri" pitchFamily="34" charset="0"/>
                <a:ea typeface="Calibri" pitchFamily="34" charset="-122"/>
                <a:cs typeface="Calibri" pitchFamily="34" charset="-120"/>
              </a:rPr>
              <a:t>Merge the two clusters whose centroids are closest. A middle ground between the two extremes.</a:t>
            </a:r>
            <a:endParaRPr lang="en-US" sz="1300" dirty="0"/>
          </a:p>
        </p:txBody>
      </p:sp>
      <p:sp>
        <p:nvSpPr>
          <p:cNvPr id="12" name="Shape 10"/>
          <p:cNvSpPr/>
          <p:nvPr/>
        </p:nvSpPr>
        <p:spPr>
          <a:xfrm>
            <a:off x="457200" y="4206240"/>
            <a:ext cx="8229600" cy="530352"/>
          </a:xfrm>
          <a:prstGeom prst="roundRect">
            <a:avLst>
              <a:gd name="adj" fmla="val 6897"/>
            </a:avLst>
          </a:prstGeom>
          <a:solidFill>
            <a:srgbClr val="E8F4ED"/>
          </a:solidFill>
          <a:ln w="12700">
            <a:solidFill>
              <a:srgbClr val="1B7A46"/>
            </a:solidFill>
            <a:prstDash val="solid"/>
          </a:ln>
        </p:spPr>
        <p:txBody>
          <a:bodyPr/>
          <a:lstStyle/>
          <a:p>
            <a:endParaRPr lang="en-US"/>
          </a:p>
        </p:txBody>
      </p:sp>
      <p:sp>
        <p:nvSpPr>
          <p:cNvPr id="13" name="Text 11"/>
          <p:cNvSpPr txBox="1"/>
          <p:nvPr/>
        </p:nvSpPr>
        <p:spPr>
          <a:xfrm>
            <a:off x="640080" y="4206240"/>
            <a:ext cx="7863840" cy="530352"/>
          </a:xfrm>
          <a:prstGeom prst="rect">
            <a:avLst/>
          </a:prstGeom>
          <a:noFill/>
          <a:ln/>
        </p:spPr>
        <p:txBody>
          <a:bodyPr wrap="square" lIns="0" tIns="0" rIns="0" bIns="0" rtlCol="0" anchor="ctr"/>
          <a:lstStyle/>
          <a:p>
            <a:pPr marL="0" indent="0">
              <a:buNone/>
            </a:pPr>
            <a:r>
              <a:rPr lang="en-US" sz="1200" b="1" dirty="0">
                <a:solidFill>
                  <a:srgbClr val="1B7A46"/>
                </a:solidFill>
                <a:latin typeface="Calibri" pitchFamily="34" charset="0"/>
                <a:ea typeface="Calibri" pitchFamily="34" charset="-122"/>
                <a:cs typeface="Calibri" pitchFamily="34" charset="-120"/>
              </a:rPr>
              <a:t>Same data, same algorithm, three different sets of clusters. Linkage is not a footnote.</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457200" y="384048"/>
            <a:ext cx="118872" cy="118872"/>
          </a:xfrm>
          <a:prstGeom prst="ellipse">
            <a:avLst/>
          </a:prstGeom>
          <a:solidFill>
            <a:srgbClr val="FFC72C"/>
          </a:solidFill>
          <a:ln w="12700">
            <a:solidFill>
              <a:srgbClr val="FFC72C"/>
            </a:solidFill>
            <a:prstDash val="solid"/>
          </a:ln>
        </p:spPr>
        <p:txBody>
          <a:bodyPr/>
          <a:lstStyle/>
          <a:p>
            <a:endParaRPr lang="en-US"/>
          </a:p>
        </p:txBody>
      </p:sp>
      <p:sp>
        <p:nvSpPr>
          <p:cNvPr id="3" name="Text 1"/>
          <p:cNvSpPr txBox="1"/>
          <p:nvPr/>
        </p:nvSpPr>
        <p:spPr>
          <a:xfrm>
            <a:off x="658368" y="329184"/>
            <a:ext cx="8028432" cy="237744"/>
          </a:xfrm>
          <a:prstGeom prst="rect">
            <a:avLst/>
          </a:prstGeom>
          <a:noFill/>
          <a:ln/>
        </p:spPr>
        <p:txBody>
          <a:bodyPr wrap="square" lIns="0" tIns="0" rIns="0" bIns="0" rtlCol="0" anchor="ctr"/>
          <a:lstStyle/>
          <a:p>
            <a:pPr marL="0" indent="0">
              <a:buNone/>
            </a:pPr>
            <a:r>
              <a:rPr lang="en-US" sz="1050" b="1" kern="0" spc="140" dirty="0">
                <a:solidFill>
                  <a:srgbClr val="5A6472"/>
                </a:solidFill>
                <a:latin typeface="Calibri" pitchFamily="34" charset="0"/>
                <a:ea typeface="Calibri" pitchFamily="34" charset="-122"/>
                <a:cs typeface="Calibri" pitchFamily="34" charset="-120"/>
              </a:rPr>
              <a:t>CONCEPT</a:t>
            </a:r>
            <a:endParaRPr lang="en-US" sz="1050" dirty="0"/>
          </a:p>
        </p:txBody>
      </p:sp>
      <p:sp>
        <p:nvSpPr>
          <p:cNvPr id="4" name="Text 2"/>
          <p:cNvSpPr txBox="1"/>
          <p:nvPr/>
        </p:nvSpPr>
        <p:spPr>
          <a:xfrm>
            <a:off x="457200" y="603504"/>
            <a:ext cx="8229600" cy="56692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Reading a dendrogram</a:t>
            </a:r>
            <a:endParaRPr lang="en-US" sz="3000" dirty="0"/>
          </a:p>
        </p:txBody>
      </p:sp>
      <p:sp>
        <p:nvSpPr>
          <p:cNvPr id="5" name="Shape 3"/>
          <p:cNvSpPr/>
          <p:nvPr/>
        </p:nvSpPr>
        <p:spPr>
          <a:xfrm>
            <a:off x="457200" y="1234440"/>
            <a:ext cx="4206240" cy="2816352"/>
          </a:xfrm>
          <a:prstGeom prst="roundRect">
            <a:avLst>
              <a:gd name="adj" fmla="val 1299"/>
            </a:avLst>
          </a:prstGeom>
          <a:blipFill dpi="0" rotWithShape="1">
            <a:blip r:embed="rId3">
              <a:extLst>
                <a:ext uri="{BEBA8EAE-BF5A-486C-A8C5-ECC9F3942E4B}">
                  <a14:imgProps xmlns:a14="http://schemas.microsoft.com/office/drawing/2010/main">
                    <a14:imgLayer r:embed="rId4">
                      <a14:imgEffect>
                        <a14:sharpenSoften amount="31000"/>
                      </a14:imgEffect>
                    </a14:imgLayer>
                  </a14:imgProps>
                </a:ext>
                <a:ext uri="{28A0092B-C50C-407E-A947-70E740481C1C}">
                  <a14:useLocalDpi xmlns:a14="http://schemas.microsoft.com/office/drawing/2010/main" val="0"/>
                </a:ext>
              </a:extLst>
            </a:blip>
            <a:srcRect/>
            <a:stretch>
              <a:fillRect/>
            </a:stretch>
          </a:blipFill>
          <a:ln w="9525">
            <a:solidFill>
              <a:srgbClr val="D8DFE8"/>
            </a:solidFill>
            <a:prstDash val="solid"/>
          </a:ln>
        </p:spPr>
        <p:txBody>
          <a:bodyPr/>
          <a:lstStyle/>
          <a:p>
            <a:endParaRPr lang="en-US"/>
          </a:p>
        </p:txBody>
      </p:sp>
      <p:sp>
        <p:nvSpPr>
          <p:cNvPr id="7" name="Shape 5"/>
          <p:cNvSpPr/>
          <p:nvPr/>
        </p:nvSpPr>
        <p:spPr>
          <a:xfrm>
            <a:off x="4937760" y="1453896"/>
            <a:ext cx="100584" cy="100584"/>
          </a:xfrm>
          <a:prstGeom prst="ellipse">
            <a:avLst/>
          </a:prstGeom>
          <a:solidFill>
            <a:srgbClr val="FFC72C"/>
          </a:solidFill>
          <a:ln w="12700">
            <a:solidFill>
              <a:srgbClr val="FFC72C"/>
            </a:solidFill>
            <a:prstDash val="solid"/>
          </a:ln>
        </p:spPr>
        <p:txBody>
          <a:bodyPr/>
          <a:lstStyle/>
          <a:p>
            <a:endParaRPr lang="en-US"/>
          </a:p>
        </p:txBody>
      </p:sp>
      <p:sp>
        <p:nvSpPr>
          <p:cNvPr id="8" name="Text 6"/>
          <p:cNvSpPr txBox="1"/>
          <p:nvPr/>
        </p:nvSpPr>
        <p:spPr>
          <a:xfrm>
            <a:off x="5157216" y="1371600"/>
            <a:ext cx="3529584" cy="539496"/>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Leaves</a:t>
            </a:r>
            <a:r>
              <a:rPr lang="en-US" sz="1200" dirty="0">
                <a:solidFill>
                  <a:srgbClr val="AEBBCE"/>
                </a:solidFill>
                <a:latin typeface="Calibri" pitchFamily="34" charset="0"/>
                <a:ea typeface="Calibri" pitchFamily="34" charset="-122"/>
                <a:cs typeface="Calibri" pitchFamily="34" charset="-120"/>
              </a:rPr>
              <a:t>   one per datapoint, at the bottom</a:t>
            </a:r>
            <a:endParaRPr lang="en-US" sz="1300" dirty="0"/>
          </a:p>
        </p:txBody>
      </p:sp>
      <p:sp>
        <p:nvSpPr>
          <p:cNvPr id="9" name="Shape 7"/>
          <p:cNvSpPr/>
          <p:nvPr/>
        </p:nvSpPr>
        <p:spPr>
          <a:xfrm>
            <a:off x="4937760" y="2020824"/>
            <a:ext cx="100584" cy="100584"/>
          </a:xfrm>
          <a:prstGeom prst="ellipse">
            <a:avLst/>
          </a:prstGeom>
          <a:solidFill>
            <a:srgbClr val="FFC72C"/>
          </a:solidFill>
          <a:ln w="12700">
            <a:solidFill>
              <a:srgbClr val="FFC72C"/>
            </a:solidFill>
            <a:prstDash val="solid"/>
          </a:ln>
        </p:spPr>
        <p:txBody>
          <a:bodyPr/>
          <a:lstStyle/>
          <a:p>
            <a:endParaRPr lang="en-US"/>
          </a:p>
        </p:txBody>
      </p:sp>
      <p:sp>
        <p:nvSpPr>
          <p:cNvPr id="10" name="Text 8"/>
          <p:cNvSpPr txBox="1"/>
          <p:nvPr/>
        </p:nvSpPr>
        <p:spPr>
          <a:xfrm>
            <a:off x="5157216" y="1938528"/>
            <a:ext cx="3529584" cy="539496"/>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Each join</a:t>
            </a:r>
            <a:r>
              <a:rPr lang="en-US" sz="1200" dirty="0">
                <a:solidFill>
                  <a:srgbClr val="AEBBCE"/>
                </a:solidFill>
                <a:latin typeface="Calibri" pitchFamily="34" charset="0"/>
                <a:ea typeface="Calibri" pitchFamily="34" charset="-122"/>
                <a:cs typeface="Calibri" pitchFamily="34" charset="-120"/>
              </a:rPr>
              <a:t>   two clusters merging</a:t>
            </a:r>
            <a:endParaRPr lang="en-US" sz="1300" dirty="0"/>
          </a:p>
        </p:txBody>
      </p:sp>
      <p:sp>
        <p:nvSpPr>
          <p:cNvPr id="11" name="Shape 9"/>
          <p:cNvSpPr/>
          <p:nvPr/>
        </p:nvSpPr>
        <p:spPr>
          <a:xfrm>
            <a:off x="4937760" y="2587752"/>
            <a:ext cx="100584" cy="100584"/>
          </a:xfrm>
          <a:prstGeom prst="ellipse">
            <a:avLst/>
          </a:prstGeom>
          <a:solidFill>
            <a:srgbClr val="FFC72C"/>
          </a:solidFill>
          <a:ln w="12700">
            <a:solidFill>
              <a:srgbClr val="FFC72C"/>
            </a:solidFill>
            <a:prstDash val="solid"/>
          </a:ln>
        </p:spPr>
        <p:txBody>
          <a:bodyPr/>
          <a:lstStyle/>
          <a:p>
            <a:endParaRPr lang="en-US"/>
          </a:p>
        </p:txBody>
      </p:sp>
      <p:sp>
        <p:nvSpPr>
          <p:cNvPr id="12" name="Text 10"/>
          <p:cNvSpPr txBox="1"/>
          <p:nvPr/>
        </p:nvSpPr>
        <p:spPr>
          <a:xfrm>
            <a:off x="5157216" y="2505456"/>
            <a:ext cx="3529584" cy="539496"/>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Height of a join</a:t>
            </a:r>
            <a:r>
              <a:rPr lang="en-US" sz="1200" dirty="0">
                <a:solidFill>
                  <a:srgbClr val="AEBBCE"/>
                </a:solidFill>
                <a:latin typeface="Calibri" pitchFamily="34" charset="0"/>
                <a:ea typeface="Calibri" pitchFamily="34" charset="-122"/>
                <a:cs typeface="Calibri" pitchFamily="34" charset="-120"/>
              </a:rPr>
              <a:t>   how dissimilar they were when merged</a:t>
            </a:r>
            <a:endParaRPr lang="en-US" sz="1300" dirty="0"/>
          </a:p>
        </p:txBody>
      </p:sp>
      <p:sp>
        <p:nvSpPr>
          <p:cNvPr id="13" name="Shape 11"/>
          <p:cNvSpPr/>
          <p:nvPr/>
        </p:nvSpPr>
        <p:spPr>
          <a:xfrm>
            <a:off x="4937760" y="3154680"/>
            <a:ext cx="100584" cy="100584"/>
          </a:xfrm>
          <a:prstGeom prst="ellipse">
            <a:avLst/>
          </a:prstGeom>
          <a:solidFill>
            <a:srgbClr val="FFC72C"/>
          </a:solidFill>
          <a:ln w="12700">
            <a:solidFill>
              <a:srgbClr val="FFC72C"/>
            </a:solidFill>
            <a:prstDash val="solid"/>
          </a:ln>
        </p:spPr>
        <p:txBody>
          <a:bodyPr/>
          <a:lstStyle/>
          <a:p>
            <a:endParaRPr lang="en-US"/>
          </a:p>
        </p:txBody>
      </p:sp>
      <p:sp>
        <p:nvSpPr>
          <p:cNvPr id="14" name="Text 12"/>
          <p:cNvSpPr txBox="1"/>
          <p:nvPr/>
        </p:nvSpPr>
        <p:spPr>
          <a:xfrm>
            <a:off x="5157216" y="3072384"/>
            <a:ext cx="3529584" cy="539496"/>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A long vertical edge</a:t>
            </a:r>
            <a:r>
              <a:rPr lang="en-US" sz="1200" dirty="0">
                <a:solidFill>
                  <a:srgbClr val="AEBBCE"/>
                </a:solidFill>
                <a:latin typeface="Calibri" pitchFamily="34" charset="0"/>
                <a:ea typeface="Calibri" pitchFamily="34" charset="-122"/>
                <a:cs typeface="Calibri" pitchFamily="34" charset="-120"/>
              </a:rPr>
              <a:t>   a merge that had to reach a long way — evidence of a real gap in the data</a:t>
            </a:r>
            <a:endParaRPr lang="en-US" sz="1300" dirty="0"/>
          </a:p>
        </p:txBody>
      </p:sp>
      <p:sp>
        <p:nvSpPr>
          <p:cNvPr id="15" name="Shape 13"/>
          <p:cNvSpPr/>
          <p:nvPr/>
        </p:nvSpPr>
        <p:spPr>
          <a:xfrm>
            <a:off x="4937760" y="3721608"/>
            <a:ext cx="100584" cy="100584"/>
          </a:xfrm>
          <a:prstGeom prst="ellipse">
            <a:avLst/>
          </a:prstGeom>
          <a:solidFill>
            <a:srgbClr val="FFC72C"/>
          </a:solidFill>
          <a:ln w="12700">
            <a:solidFill>
              <a:srgbClr val="FFC72C"/>
            </a:solidFill>
            <a:prstDash val="solid"/>
          </a:ln>
        </p:spPr>
        <p:txBody>
          <a:bodyPr/>
          <a:lstStyle/>
          <a:p>
            <a:endParaRPr lang="en-US"/>
          </a:p>
        </p:txBody>
      </p:sp>
      <p:sp>
        <p:nvSpPr>
          <p:cNvPr id="16" name="Text 14"/>
          <p:cNvSpPr txBox="1"/>
          <p:nvPr/>
        </p:nvSpPr>
        <p:spPr>
          <a:xfrm>
            <a:off x="5157216" y="3639312"/>
            <a:ext cx="3529584" cy="539496"/>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Cutting horizontally</a:t>
            </a:r>
            <a:r>
              <a:rPr lang="en-US" sz="1200" dirty="0">
                <a:solidFill>
                  <a:srgbClr val="AEBBCE"/>
                </a:solidFill>
                <a:latin typeface="Calibri" pitchFamily="34" charset="0"/>
                <a:ea typeface="Calibri" pitchFamily="34" charset="-122"/>
                <a:cs typeface="Calibri" pitchFamily="34" charset="-120"/>
              </a:rPr>
              <a:t>   everything below the line becomes one cluster; the height you cut at chooses K</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457200" y="384048"/>
            <a:ext cx="118872" cy="118872"/>
          </a:xfrm>
          <a:prstGeom prst="ellipse">
            <a:avLst/>
          </a:prstGeom>
          <a:solidFill>
            <a:srgbClr val="FFC72C"/>
          </a:solidFill>
          <a:ln w="12700">
            <a:solidFill>
              <a:srgbClr val="FFC72C"/>
            </a:solidFill>
            <a:prstDash val="solid"/>
          </a:ln>
        </p:spPr>
        <p:txBody>
          <a:bodyPr/>
          <a:lstStyle/>
          <a:p>
            <a:endParaRPr lang="en-US"/>
          </a:p>
        </p:txBody>
      </p:sp>
      <p:sp>
        <p:nvSpPr>
          <p:cNvPr id="3" name="Text 1"/>
          <p:cNvSpPr txBox="1"/>
          <p:nvPr/>
        </p:nvSpPr>
        <p:spPr>
          <a:xfrm>
            <a:off x="658368" y="329184"/>
            <a:ext cx="8028432" cy="237744"/>
          </a:xfrm>
          <a:prstGeom prst="rect">
            <a:avLst/>
          </a:prstGeom>
          <a:noFill/>
          <a:ln/>
        </p:spPr>
        <p:txBody>
          <a:bodyPr wrap="square" lIns="0" tIns="0" rIns="0" bIns="0" rtlCol="0" anchor="ctr"/>
          <a:lstStyle/>
          <a:p>
            <a:pPr marL="0" indent="0">
              <a:buNone/>
            </a:pPr>
            <a:r>
              <a:rPr lang="en-US" sz="1050" b="1" kern="0" spc="140" dirty="0">
                <a:solidFill>
                  <a:srgbClr val="5A6472"/>
                </a:solidFill>
                <a:latin typeface="Calibri" pitchFamily="34" charset="0"/>
                <a:ea typeface="Calibri" pitchFamily="34" charset="-122"/>
                <a:cs typeface="Calibri" pitchFamily="34" charset="-120"/>
              </a:rPr>
              <a:t>CONCEPT</a:t>
            </a:r>
            <a:endParaRPr lang="en-US" sz="1050" dirty="0"/>
          </a:p>
        </p:txBody>
      </p:sp>
      <p:sp>
        <p:nvSpPr>
          <p:cNvPr id="4" name="Text 2"/>
          <p:cNvSpPr txBox="1"/>
          <p:nvPr/>
        </p:nvSpPr>
        <p:spPr>
          <a:xfrm>
            <a:off x="457200" y="603504"/>
            <a:ext cx="8229600" cy="56692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Which one, when</a:t>
            </a:r>
            <a:endParaRPr lang="en-US" sz="3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2414016"/>
        </p:xfrm>
        <a:graphic>
          <a:graphicData uri="http://schemas.openxmlformats.org/drawingml/2006/table">
            <a:tbl>
              <a:tblPr/>
              <a:tblGrid>
                <a:gridCol w="219456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402336">
                <a:tc>
                  <a:txBody>
                    <a:bodyPr/>
                    <a:lstStyle/>
                    <a:p>
                      <a:pPr marL="0" indent="0">
                        <a:buNone/>
                      </a:pPr>
                      <a:endParaRPr lang="en-US" sz="1150" dirty="0">
                        <a:latin typeface="Calibri" charset="0"/>
                        <a:ea typeface="Calibri" charset="0"/>
                        <a:cs typeface="Calibri" charset="0"/>
                      </a:endParaRPr>
                    </a:p>
                  </a:txBody>
                  <a:tcPr marL="73152" marR="73152" marT="73152" marB="73152"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000000"/>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K-Means</a:t>
                      </a:r>
                      <a:endParaRPr lang="en-US" sz="1150" dirty="0">
                        <a:latin typeface="Calibri" charset="0"/>
                        <a:ea typeface="Calibri" charset="0"/>
                        <a:cs typeface="Calibri" charset="0"/>
                      </a:endParaRPr>
                    </a:p>
                  </a:txBody>
                  <a:tcPr marL="73152" marR="73152" marT="73152" marB="73152"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12233F"/>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Hierarchical</a:t>
                      </a:r>
                      <a:endParaRPr lang="en-US" sz="1150" dirty="0">
                        <a:latin typeface="Calibri" charset="0"/>
                        <a:ea typeface="Calibri" charset="0"/>
                        <a:cs typeface="Calibri" charset="0"/>
                      </a:endParaRPr>
                    </a:p>
                  </a:txBody>
                  <a:tcPr marL="73152" marR="73152" marT="73152" marB="73152"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12233F"/>
                    </a:solidFill>
                  </a:tcPr>
                </a:tc>
                <a:extLst>
                  <a:ext uri="{0D108BD9-81ED-4DB2-BD59-A6C34878D82A}">
                    <a16:rowId xmlns:a16="http://schemas.microsoft.com/office/drawing/2014/main" val="10000"/>
                  </a:ext>
                </a:extLst>
              </a:tr>
              <a:tr h="402336">
                <a:tc>
                  <a:txBody>
                    <a:bodyPr/>
                    <a:lstStyle/>
                    <a:p>
                      <a:pPr marL="0" indent="0">
                        <a:buNone/>
                      </a:pPr>
                      <a:r>
                        <a:rPr lang="en-US" sz="1150" dirty="0">
                          <a:solidFill>
                            <a:srgbClr val="1B2430"/>
                          </a:solidFill>
                          <a:latin typeface="Calibri" pitchFamily="34" charset="0"/>
                          <a:ea typeface="Calibri" pitchFamily="34" charset="-122"/>
                          <a:cs typeface="Calibri" pitchFamily="34" charset="-120"/>
                        </a:rPr>
                        <a:t>K is chosen</a:t>
                      </a:r>
                      <a:endParaRPr lang="en-US" sz="1150" dirty="0">
                        <a:latin typeface="Calibri" charset="0"/>
                        <a:ea typeface="Calibri" charset="0"/>
                        <a:cs typeface="Calibri" charset="0"/>
                      </a:endParaRPr>
                    </a:p>
                  </a:txBody>
                  <a:tcPr marL="73152" marR="73152" marT="73152" marB="73152"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tc>
                  <a:txBody>
                    <a:bodyPr/>
                    <a:lstStyle/>
                    <a:p>
                      <a:pPr marL="0" indent="0">
                        <a:buNone/>
                      </a:pPr>
                      <a:r>
                        <a:rPr lang="en-US" sz="1150" dirty="0">
                          <a:solidFill>
                            <a:srgbClr val="1B2430"/>
                          </a:solidFill>
                          <a:latin typeface="Calibri" pitchFamily="34" charset="0"/>
                          <a:ea typeface="Calibri" pitchFamily="34" charset="-122"/>
                          <a:cs typeface="Calibri" pitchFamily="34" charset="-120"/>
                        </a:rPr>
                        <a:t>before you run it</a:t>
                      </a:r>
                      <a:endParaRPr lang="en-US" sz="1150" dirty="0">
                        <a:latin typeface="Calibri" charset="0"/>
                        <a:ea typeface="Calibri" charset="0"/>
                        <a:cs typeface="Calibri" charset="0"/>
                      </a:endParaRPr>
                    </a:p>
                  </a:txBody>
                  <a:tcPr marL="73152" marR="73152" marT="73152" marB="73152"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tc>
                  <a:txBody>
                    <a:bodyPr/>
                    <a:lstStyle/>
                    <a:p>
                      <a:pPr marL="0" indent="0">
                        <a:buNone/>
                      </a:pPr>
                      <a:r>
                        <a:rPr lang="en-US" sz="1150" dirty="0">
                          <a:solidFill>
                            <a:srgbClr val="1B2430"/>
                          </a:solidFill>
                          <a:latin typeface="Calibri" pitchFamily="34" charset="0"/>
                          <a:ea typeface="Calibri" pitchFamily="34" charset="-122"/>
                          <a:cs typeface="Calibri" pitchFamily="34" charset="-120"/>
                        </a:rPr>
                        <a:t>afterwards, by cutting the tree</a:t>
                      </a:r>
                      <a:endParaRPr lang="en-US" sz="1150" dirty="0">
                        <a:latin typeface="Calibri" charset="0"/>
                        <a:ea typeface="Calibri" charset="0"/>
                        <a:cs typeface="Calibri" charset="0"/>
                      </a:endParaRPr>
                    </a:p>
                  </a:txBody>
                  <a:tcPr marL="73152" marR="73152" marT="73152" marB="73152"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extLst>
                  <a:ext uri="{0D108BD9-81ED-4DB2-BD59-A6C34878D82A}">
                    <a16:rowId xmlns:a16="http://schemas.microsoft.com/office/drawing/2014/main" val="10001"/>
                  </a:ext>
                </a:extLst>
              </a:tr>
              <a:tr h="402336">
                <a:tc>
                  <a:txBody>
                    <a:bodyPr/>
                    <a:lstStyle/>
                    <a:p>
                      <a:pPr marL="0" indent="0">
                        <a:buNone/>
                      </a:pPr>
                      <a:r>
                        <a:rPr lang="en-US" sz="1150" dirty="0">
                          <a:solidFill>
                            <a:srgbClr val="1B2430"/>
                          </a:solidFill>
                          <a:latin typeface="Calibri" pitchFamily="34" charset="0"/>
                          <a:ea typeface="Calibri" pitchFamily="34" charset="-122"/>
                          <a:cs typeface="Calibri" pitchFamily="34" charset="-120"/>
                        </a:rPr>
                        <a:t>Cluster shapes</a:t>
                      </a:r>
                      <a:endParaRPr lang="en-US" sz="1150" dirty="0">
                        <a:latin typeface="Calibri" charset="0"/>
                        <a:ea typeface="Calibri" charset="0"/>
                        <a:cs typeface="Calibri" charset="0"/>
                      </a:endParaRPr>
                    </a:p>
                  </a:txBody>
                  <a:tcPr marL="73152" marR="73152" marT="73152" marB="73152"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tc>
                  <a:txBody>
                    <a:bodyPr/>
                    <a:lstStyle/>
                    <a:p>
                      <a:pPr marL="0" indent="0">
                        <a:buNone/>
                      </a:pPr>
                      <a:r>
                        <a:rPr lang="en-US" sz="1150" dirty="0">
                          <a:solidFill>
                            <a:srgbClr val="1B2430"/>
                          </a:solidFill>
                          <a:latin typeface="Calibri" pitchFamily="34" charset="0"/>
                          <a:ea typeface="Calibri" pitchFamily="34" charset="-122"/>
                          <a:cs typeface="Calibri" pitchFamily="34" charset="-120"/>
                        </a:rPr>
                        <a:t>compact and roughly spherical</a:t>
                      </a:r>
                      <a:endParaRPr lang="en-US" sz="1150" dirty="0">
                        <a:latin typeface="Calibri" charset="0"/>
                        <a:ea typeface="Calibri" charset="0"/>
                        <a:cs typeface="Calibri" charset="0"/>
                      </a:endParaRPr>
                    </a:p>
                  </a:txBody>
                  <a:tcPr marL="73152" marR="73152" marT="73152" marB="73152"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tc>
                  <a:txBody>
                    <a:bodyPr/>
                    <a:lstStyle/>
                    <a:p>
                      <a:pPr marL="0" indent="0">
                        <a:buNone/>
                      </a:pPr>
                      <a:r>
                        <a:rPr lang="en-US" sz="1150" dirty="0">
                          <a:solidFill>
                            <a:srgbClr val="1B2430"/>
                          </a:solidFill>
                          <a:latin typeface="Calibri" pitchFamily="34" charset="0"/>
                          <a:ea typeface="Calibri" pitchFamily="34" charset="-122"/>
                          <a:cs typeface="Calibri" pitchFamily="34" charset="-120"/>
                        </a:rPr>
                        <a:t>any shape, with single-link</a:t>
                      </a:r>
                      <a:endParaRPr lang="en-US" sz="1150" dirty="0">
                        <a:latin typeface="Calibri" charset="0"/>
                        <a:ea typeface="Calibri" charset="0"/>
                        <a:cs typeface="Calibri" charset="0"/>
                      </a:endParaRPr>
                    </a:p>
                  </a:txBody>
                  <a:tcPr marL="73152" marR="73152" marT="73152" marB="73152"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extLst>
                  <a:ext uri="{0D108BD9-81ED-4DB2-BD59-A6C34878D82A}">
                    <a16:rowId xmlns:a16="http://schemas.microsoft.com/office/drawing/2014/main" val="10002"/>
                  </a:ext>
                </a:extLst>
              </a:tr>
              <a:tr h="402336">
                <a:tc>
                  <a:txBody>
                    <a:bodyPr/>
                    <a:lstStyle/>
                    <a:p>
                      <a:pPr marL="0" indent="0">
                        <a:buNone/>
                      </a:pPr>
                      <a:r>
                        <a:rPr lang="en-US" sz="1150" dirty="0">
                          <a:solidFill>
                            <a:srgbClr val="1B2430"/>
                          </a:solidFill>
                          <a:latin typeface="Calibri" pitchFamily="34" charset="0"/>
                          <a:ea typeface="Calibri" pitchFamily="34" charset="-122"/>
                          <a:cs typeface="Calibri" pitchFamily="34" charset="-120"/>
                        </a:rPr>
                        <a:t>Cost in n</a:t>
                      </a:r>
                      <a:endParaRPr lang="en-US" sz="1150" dirty="0">
                        <a:latin typeface="Calibri" charset="0"/>
                        <a:ea typeface="Calibri" charset="0"/>
                        <a:cs typeface="Calibri" charset="0"/>
                      </a:endParaRPr>
                    </a:p>
                  </a:txBody>
                  <a:tcPr marL="73152" marR="73152" marT="73152" marB="73152"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tc>
                  <a:txBody>
                    <a:bodyPr/>
                    <a:lstStyle/>
                    <a:p>
                      <a:pPr marL="0" indent="0">
                        <a:buNone/>
                      </a:pPr>
                      <a:r>
                        <a:rPr lang="en-US" sz="1150" dirty="0">
                          <a:solidFill>
                            <a:srgbClr val="1B2430"/>
                          </a:solidFill>
                          <a:latin typeface="Calibri" pitchFamily="34" charset="0"/>
                          <a:ea typeface="Calibri" pitchFamily="34" charset="-122"/>
                          <a:cs typeface="Calibri" pitchFamily="34" charset="-120"/>
                        </a:rPr>
                        <a:t>linear</a:t>
                      </a:r>
                      <a:endParaRPr lang="en-US" sz="1150" dirty="0">
                        <a:latin typeface="Calibri" charset="0"/>
                        <a:ea typeface="Calibri" charset="0"/>
                        <a:cs typeface="Calibri" charset="0"/>
                      </a:endParaRPr>
                    </a:p>
                  </a:txBody>
                  <a:tcPr marL="73152" marR="73152" marT="73152" marB="73152"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tc>
                  <a:txBody>
                    <a:bodyPr/>
                    <a:lstStyle/>
                    <a:p>
                      <a:pPr marL="0" indent="0">
                        <a:buNone/>
                      </a:pPr>
                      <a:r>
                        <a:rPr lang="en-US" sz="1150" dirty="0">
                          <a:solidFill>
                            <a:srgbClr val="1B2430"/>
                          </a:solidFill>
                          <a:latin typeface="Calibri" pitchFamily="34" charset="0"/>
                          <a:ea typeface="Calibri" pitchFamily="34" charset="-122"/>
                          <a:cs typeface="Calibri" pitchFamily="34" charset="-120"/>
                        </a:rPr>
                        <a:t>at least quadratic</a:t>
                      </a:r>
                      <a:endParaRPr lang="en-US" sz="1150" dirty="0">
                        <a:latin typeface="Calibri" charset="0"/>
                        <a:ea typeface="Calibri" charset="0"/>
                        <a:cs typeface="Calibri" charset="0"/>
                      </a:endParaRPr>
                    </a:p>
                  </a:txBody>
                  <a:tcPr marL="73152" marR="73152" marT="73152" marB="73152"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extLst>
                  <a:ext uri="{0D108BD9-81ED-4DB2-BD59-A6C34878D82A}">
                    <a16:rowId xmlns:a16="http://schemas.microsoft.com/office/drawing/2014/main" val="10003"/>
                  </a:ext>
                </a:extLst>
              </a:tr>
              <a:tr h="402336">
                <a:tc>
                  <a:txBody>
                    <a:bodyPr/>
                    <a:lstStyle/>
                    <a:p>
                      <a:pPr marL="0" indent="0">
                        <a:buNone/>
                      </a:pPr>
                      <a:r>
                        <a:rPr lang="en-US" sz="1150" dirty="0">
                          <a:solidFill>
                            <a:srgbClr val="1B2430"/>
                          </a:solidFill>
                          <a:latin typeface="Calibri" pitchFamily="34" charset="0"/>
                          <a:ea typeface="Calibri" pitchFamily="34" charset="-122"/>
                          <a:cs typeface="Calibri" pitchFamily="34" charset="-120"/>
                        </a:rPr>
                        <a:t>Same answer twice?</a:t>
                      </a:r>
                      <a:endParaRPr lang="en-US" sz="1150" dirty="0">
                        <a:latin typeface="Calibri" charset="0"/>
                        <a:ea typeface="Calibri" charset="0"/>
                        <a:cs typeface="Calibri" charset="0"/>
                      </a:endParaRPr>
                    </a:p>
                  </a:txBody>
                  <a:tcPr marL="73152" marR="73152" marT="73152" marB="73152"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tc>
                  <a:txBody>
                    <a:bodyPr/>
                    <a:lstStyle/>
                    <a:p>
                      <a:pPr marL="0" indent="0">
                        <a:buNone/>
                      </a:pPr>
                      <a:r>
                        <a:rPr lang="en-US" sz="1150" dirty="0">
                          <a:solidFill>
                            <a:srgbClr val="1B2430"/>
                          </a:solidFill>
                          <a:latin typeface="Calibri" pitchFamily="34" charset="0"/>
                          <a:ea typeface="Calibri" pitchFamily="34" charset="-122"/>
                          <a:cs typeface="Calibri" pitchFamily="34" charset="-120"/>
                        </a:rPr>
                        <a:t>no — depends on initialization</a:t>
                      </a:r>
                      <a:endParaRPr lang="en-US" sz="1150" dirty="0">
                        <a:latin typeface="Calibri" charset="0"/>
                        <a:ea typeface="Calibri" charset="0"/>
                        <a:cs typeface="Calibri" charset="0"/>
                      </a:endParaRPr>
                    </a:p>
                  </a:txBody>
                  <a:tcPr marL="73152" marR="73152" marT="73152" marB="73152"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tc>
                  <a:txBody>
                    <a:bodyPr/>
                    <a:lstStyle/>
                    <a:p>
                      <a:pPr marL="0" indent="0">
                        <a:buNone/>
                      </a:pPr>
                      <a:r>
                        <a:rPr lang="en-US" sz="1150" dirty="0">
                          <a:solidFill>
                            <a:srgbClr val="1B2430"/>
                          </a:solidFill>
                          <a:latin typeface="Calibri" pitchFamily="34" charset="0"/>
                          <a:ea typeface="Calibri" pitchFamily="34" charset="-122"/>
                          <a:cs typeface="Calibri" pitchFamily="34" charset="-120"/>
                        </a:rPr>
                        <a:t>yes, deterministic</a:t>
                      </a:r>
                      <a:endParaRPr lang="en-US" sz="1150" dirty="0">
                        <a:latin typeface="Calibri" charset="0"/>
                        <a:ea typeface="Calibri" charset="0"/>
                        <a:cs typeface="Calibri" charset="0"/>
                      </a:endParaRPr>
                    </a:p>
                  </a:txBody>
                  <a:tcPr marL="73152" marR="73152" marT="73152" marB="73152"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extLst>
                  <a:ext uri="{0D108BD9-81ED-4DB2-BD59-A6C34878D82A}">
                    <a16:rowId xmlns:a16="http://schemas.microsoft.com/office/drawing/2014/main" val="10004"/>
                  </a:ext>
                </a:extLst>
              </a:tr>
              <a:tr h="402336">
                <a:tc>
                  <a:txBody>
                    <a:bodyPr/>
                    <a:lstStyle/>
                    <a:p>
                      <a:pPr marL="0" indent="0">
                        <a:buNone/>
                      </a:pPr>
                      <a:r>
                        <a:rPr lang="en-US" sz="1150" dirty="0">
                          <a:solidFill>
                            <a:srgbClr val="1B2430"/>
                          </a:solidFill>
                          <a:latin typeface="Calibri" pitchFamily="34" charset="0"/>
                          <a:ea typeface="Calibri" pitchFamily="34" charset="-122"/>
                          <a:cs typeface="Calibri" pitchFamily="34" charset="-120"/>
                        </a:rPr>
                        <a:t>What you get out</a:t>
                      </a:r>
                      <a:endParaRPr lang="en-US" sz="1150" dirty="0">
                        <a:latin typeface="Calibri" charset="0"/>
                        <a:ea typeface="Calibri" charset="0"/>
                        <a:cs typeface="Calibri" charset="0"/>
                      </a:endParaRPr>
                    </a:p>
                  </a:txBody>
                  <a:tcPr marL="73152" marR="73152" marT="73152" marB="73152"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tc>
                  <a:txBody>
                    <a:bodyPr/>
                    <a:lstStyle/>
                    <a:p>
                      <a:pPr marL="0" indent="0">
                        <a:buNone/>
                      </a:pPr>
                      <a:r>
                        <a:rPr lang="en-US" sz="1150" dirty="0">
                          <a:solidFill>
                            <a:srgbClr val="1B2430"/>
                          </a:solidFill>
                          <a:latin typeface="Calibri" pitchFamily="34" charset="0"/>
                          <a:ea typeface="Calibri" pitchFamily="34" charset="-122"/>
                          <a:cs typeface="Calibri" pitchFamily="34" charset="-120"/>
                        </a:rPr>
                        <a:t>one partition</a:t>
                      </a:r>
                      <a:endParaRPr lang="en-US" sz="1150" dirty="0">
                        <a:latin typeface="Calibri" charset="0"/>
                        <a:ea typeface="Calibri" charset="0"/>
                        <a:cs typeface="Calibri" charset="0"/>
                      </a:endParaRPr>
                    </a:p>
                  </a:txBody>
                  <a:tcPr marL="73152" marR="73152" marT="73152" marB="73152"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tc>
                  <a:txBody>
                    <a:bodyPr/>
                    <a:lstStyle/>
                    <a:p>
                      <a:pPr marL="0" indent="0">
                        <a:buNone/>
                      </a:pPr>
                      <a:r>
                        <a:rPr lang="en-US" sz="1150" dirty="0">
                          <a:solidFill>
                            <a:srgbClr val="1B2430"/>
                          </a:solidFill>
                          <a:latin typeface="Calibri" pitchFamily="34" charset="0"/>
                          <a:ea typeface="Calibri" pitchFamily="34" charset="-122"/>
                          <a:cs typeface="Calibri" pitchFamily="34" charset="-120"/>
                        </a:rPr>
                        <a:t>the entire hierarchy</a:t>
                      </a:r>
                      <a:endParaRPr lang="en-US" sz="1150" dirty="0">
                        <a:latin typeface="Calibri" charset="0"/>
                        <a:ea typeface="Calibri" charset="0"/>
                        <a:cs typeface="Calibri" charset="0"/>
                      </a:endParaRPr>
                    </a:p>
                  </a:txBody>
                  <a:tcPr marL="73152" marR="73152" marT="73152" marB="73152"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extLst>
                  <a:ext uri="{0D108BD9-81ED-4DB2-BD59-A6C34878D82A}">
                    <a16:rowId xmlns:a16="http://schemas.microsoft.com/office/drawing/2014/main" val="10005"/>
                  </a:ext>
                </a:extLst>
              </a:tr>
            </a:tbl>
          </a:graphicData>
        </a:graphic>
      </p:graphicFrame>
      <p:sp>
        <p:nvSpPr>
          <p:cNvPr id="6" name="Shape 3"/>
          <p:cNvSpPr/>
          <p:nvPr/>
        </p:nvSpPr>
        <p:spPr>
          <a:xfrm>
            <a:off x="457200" y="4206240"/>
            <a:ext cx="8229600" cy="530352"/>
          </a:xfrm>
          <a:prstGeom prst="roundRect">
            <a:avLst>
              <a:gd name="adj" fmla="val 6897"/>
            </a:avLst>
          </a:prstGeom>
          <a:solidFill>
            <a:srgbClr val="E8F4ED"/>
          </a:solidFill>
          <a:ln w="12700">
            <a:solidFill>
              <a:srgbClr val="1B7A46"/>
            </a:solidFill>
            <a:prstDash val="solid"/>
          </a:ln>
        </p:spPr>
        <p:txBody>
          <a:bodyPr/>
          <a:lstStyle/>
          <a:p>
            <a:endParaRPr lang="en-US"/>
          </a:p>
        </p:txBody>
      </p:sp>
      <p:sp>
        <p:nvSpPr>
          <p:cNvPr id="7" name="Text 4"/>
          <p:cNvSpPr txBox="1"/>
          <p:nvPr/>
        </p:nvSpPr>
        <p:spPr>
          <a:xfrm>
            <a:off x="640080" y="4206240"/>
            <a:ext cx="7863840" cy="530352"/>
          </a:xfrm>
          <a:prstGeom prst="rect">
            <a:avLst/>
          </a:prstGeom>
          <a:noFill/>
          <a:ln/>
        </p:spPr>
        <p:txBody>
          <a:bodyPr wrap="square" lIns="0" tIns="0" rIns="0" bIns="0" rtlCol="0" anchor="ctr"/>
          <a:lstStyle/>
          <a:p>
            <a:pPr marL="0" indent="0">
              <a:buNone/>
            </a:pPr>
            <a:r>
              <a:rPr lang="en-US" sz="1200" b="1" dirty="0">
                <a:solidFill>
                  <a:srgbClr val="1B7A46"/>
                </a:solidFill>
                <a:latin typeface="Calibri" pitchFamily="34" charset="0"/>
                <a:ea typeface="Calibri" pitchFamily="34" charset="-122"/>
                <a:cs typeface="Calibri" pitchFamily="34" charset="-120"/>
              </a:rPr>
              <a:t>Large n and a known K → K-Means.   Small n, unknown K, or non-compact structure → hierarchical.</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12233F"/>
        </a:solidFill>
        <a:effectLst/>
      </p:bgPr>
    </p:bg>
    <p:spTree>
      <p:nvGrpSpPr>
        <p:cNvPr id="1" name=""/>
        <p:cNvGrpSpPr/>
        <p:nvPr/>
      </p:nvGrpSpPr>
      <p:grpSpPr>
        <a:xfrm>
          <a:off x="0" y="0"/>
          <a:ext cx="0" cy="0"/>
          <a:chOff x="0" y="0"/>
          <a:chExt cx="0" cy="0"/>
        </a:xfrm>
      </p:grpSpPr>
      <p:sp>
        <p:nvSpPr>
          <p:cNvPr id="2" name="Shape 0"/>
          <p:cNvSpPr/>
          <p:nvPr/>
        </p:nvSpPr>
        <p:spPr>
          <a:xfrm>
            <a:off x="457200" y="1572768"/>
            <a:ext cx="841248" cy="841248"/>
          </a:xfrm>
          <a:prstGeom prst="ellipse">
            <a:avLst/>
          </a:prstGeom>
          <a:solidFill>
            <a:srgbClr val="FFC72C"/>
          </a:solidFill>
          <a:ln w="12700">
            <a:solidFill>
              <a:srgbClr val="FFC72C"/>
            </a:solidFill>
            <a:prstDash val="solid"/>
          </a:ln>
        </p:spPr>
        <p:txBody>
          <a:bodyPr/>
          <a:lstStyle/>
          <a:p>
            <a:endParaRPr lang="en-US"/>
          </a:p>
        </p:txBody>
      </p:sp>
      <p:sp>
        <p:nvSpPr>
          <p:cNvPr id="3" name="Text 1"/>
          <p:cNvSpPr txBox="1"/>
          <p:nvPr/>
        </p:nvSpPr>
        <p:spPr>
          <a:xfrm>
            <a:off x="457200" y="1572768"/>
            <a:ext cx="841248" cy="841248"/>
          </a:xfrm>
          <a:prstGeom prst="rect">
            <a:avLst/>
          </a:prstGeom>
          <a:noFill/>
          <a:ln/>
        </p:spPr>
        <p:txBody>
          <a:bodyPr wrap="square" lIns="0" tIns="0" rIns="0" bIns="0" rtlCol="0" anchor="ctr"/>
          <a:lstStyle/>
          <a:p>
            <a:pPr marL="0" indent="0" algn="ctr">
              <a:buNone/>
            </a:pPr>
            <a:r>
              <a:rPr lang="en-US" sz="3400" b="1" dirty="0">
                <a:solidFill>
                  <a:srgbClr val="12233F"/>
                </a:solidFill>
                <a:latin typeface="Cambria" pitchFamily="34" charset="0"/>
                <a:ea typeface="Cambria" pitchFamily="34" charset="-122"/>
                <a:cs typeface="Cambria" pitchFamily="34" charset="-120"/>
              </a:rPr>
              <a:t>5</a:t>
            </a:r>
            <a:endParaRPr lang="en-US" sz="3400" dirty="0"/>
          </a:p>
        </p:txBody>
      </p:sp>
      <p:sp>
        <p:nvSpPr>
          <p:cNvPr id="4" name="Text 2"/>
          <p:cNvSpPr txBox="1"/>
          <p:nvPr/>
        </p:nvSpPr>
        <p:spPr>
          <a:xfrm>
            <a:off x="1572768" y="1627632"/>
            <a:ext cx="7114032" cy="475488"/>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Dimensionality Reduction</a:t>
            </a:r>
            <a:endParaRPr lang="en-US" sz="3200" dirty="0"/>
          </a:p>
        </p:txBody>
      </p:sp>
      <p:sp>
        <p:nvSpPr>
          <p:cNvPr id="5" name="Text 3"/>
          <p:cNvSpPr txBox="1"/>
          <p:nvPr/>
        </p:nvSpPr>
        <p:spPr>
          <a:xfrm>
            <a:off x="1572768" y="2139696"/>
            <a:ext cx="7114032" cy="347472"/>
          </a:xfrm>
          <a:prstGeom prst="rect">
            <a:avLst/>
          </a:prstGeom>
          <a:noFill/>
          <a:ln/>
        </p:spPr>
        <p:txBody>
          <a:bodyPr wrap="square" lIns="0" tIns="0" rIns="0" bIns="0" rtlCol="0" anchor="ctr"/>
          <a:lstStyle/>
          <a:p>
            <a:pPr marL="0" indent="0">
              <a:buNone/>
            </a:pPr>
            <a:r>
              <a:rPr lang="en-US" sz="1350" dirty="0">
                <a:solidFill>
                  <a:srgbClr val="AEBBCE"/>
                </a:solidFill>
                <a:latin typeface="Calibri" pitchFamily="34" charset="0"/>
                <a:ea typeface="Calibri" pitchFamily="34" charset="-122"/>
                <a:cs typeface="Calibri" pitchFamily="34" charset="-120"/>
              </a:rPr>
              <a:t>PCA, t-SNE, and UMAP</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457200" y="384048"/>
            <a:ext cx="118872" cy="118872"/>
          </a:xfrm>
          <a:prstGeom prst="ellipse">
            <a:avLst/>
          </a:prstGeom>
          <a:solidFill>
            <a:srgbClr val="FFC72C"/>
          </a:solidFill>
          <a:ln w="12700">
            <a:solidFill>
              <a:srgbClr val="FFC72C"/>
            </a:solidFill>
            <a:prstDash val="solid"/>
          </a:ln>
        </p:spPr>
        <p:txBody>
          <a:bodyPr/>
          <a:lstStyle/>
          <a:p>
            <a:endParaRPr lang="en-US"/>
          </a:p>
        </p:txBody>
      </p:sp>
      <p:sp>
        <p:nvSpPr>
          <p:cNvPr id="3" name="Text 1"/>
          <p:cNvSpPr txBox="1"/>
          <p:nvPr/>
        </p:nvSpPr>
        <p:spPr>
          <a:xfrm>
            <a:off x="658368" y="329184"/>
            <a:ext cx="8028432" cy="237744"/>
          </a:xfrm>
          <a:prstGeom prst="rect">
            <a:avLst/>
          </a:prstGeom>
          <a:noFill/>
          <a:ln/>
        </p:spPr>
        <p:txBody>
          <a:bodyPr wrap="square" lIns="0" tIns="0" rIns="0" bIns="0" rtlCol="0" anchor="ctr"/>
          <a:lstStyle/>
          <a:p>
            <a:pPr marL="0" indent="0">
              <a:buNone/>
            </a:pPr>
            <a:r>
              <a:rPr lang="en-US" sz="1050" b="1" kern="0" spc="140" dirty="0">
                <a:solidFill>
                  <a:srgbClr val="5A6472"/>
                </a:solidFill>
                <a:latin typeface="Calibri" pitchFamily="34" charset="0"/>
                <a:ea typeface="Calibri" pitchFamily="34" charset="-122"/>
                <a:cs typeface="Calibri" pitchFamily="34" charset="-120"/>
              </a:rPr>
              <a:t>CONCEPT</a:t>
            </a:r>
            <a:endParaRPr lang="en-US" sz="1050" dirty="0"/>
          </a:p>
        </p:txBody>
      </p:sp>
      <p:sp>
        <p:nvSpPr>
          <p:cNvPr id="4" name="Text 2"/>
          <p:cNvSpPr txBox="1"/>
          <p:nvPr/>
        </p:nvSpPr>
        <p:spPr>
          <a:xfrm>
            <a:off x="457200" y="603504"/>
            <a:ext cx="8229600" cy="56692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Why reduce dimension at all?</a:t>
            </a:r>
            <a:endParaRPr lang="en-US" sz="3000" dirty="0"/>
          </a:p>
        </p:txBody>
      </p:sp>
      <p:sp>
        <p:nvSpPr>
          <p:cNvPr id="5" name="Text 3"/>
          <p:cNvSpPr txBox="1"/>
          <p:nvPr/>
        </p:nvSpPr>
        <p:spPr>
          <a:xfrm>
            <a:off x="457200" y="1188720"/>
            <a:ext cx="8229600" cy="384048"/>
          </a:xfrm>
          <a:prstGeom prst="rect">
            <a:avLst/>
          </a:prstGeom>
          <a:noFill/>
          <a:ln/>
        </p:spPr>
        <p:txBody>
          <a:bodyPr wrap="square" lIns="0" tIns="0" rIns="0" bIns="0" rtlCol="0" anchor="ctr"/>
          <a:lstStyle/>
          <a:p>
            <a:pPr marL="0" indent="0">
              <a:buNone/>
            </a:pPr>
            <a:r>
              <a:rPr lang="en-US" sz="1250" dirty="0">
                <a:solidFill>
                  <a:srgbClr val="AEBBCE"/>
                </a:solidFill>
                <a:latin typeface="Calibri" pitchFamily="34" charset="0"/>
                <a:ea typeface="Calibri" pitchFamily="34" charset="-122"/>
                <a:cs typeface="Calibri" pitchFamily="34" charset="-120"/>
              </a:rPr>
              <a:t>Real datasets carry hundreds or thousands of features, and each feature is a dimension. Most of them are not necessary to see the broad pattern.</a:t>
            </a:r>
            <a:endParaRPr lang="en-US" sz="1250" dirty="0"/>
          </a:p>
        </p:txBody>
      </p:sp>
      <p:sp>
        <p:nvSpPr>
          <p:cNvPr id="6" name="Shape 4"/>
          <p:cNvSpPr/>
          <p:nvPr/>
        </p:nvSpPr>
        <p:spPr>
          <a:xfrm>
            <a:off x="457200" y="1664208"/>
            <a:ext cx="2697480" cy="1691640"/>
          </a:xfrm>
          <a:prstGeom prst="roundRect">
            <a:avLst>
              <a:gd name="adj" fmla="val 2162"/>
            </a:avLst>
          </a:prstGeom>
          <a:solidFill>
            <a:srgbClr val="F1F4F8"/>
          </a:solidFill>
          <a:ln w="9525">
            <a:solidFill>
              <a:srgbClr val="D8DFE8"/>
            </a:solidFill>
            <a:prstDash val="solid"/>
          </a:ln>
        </p:spPr>
        <p:txBody>
          <a:bodyPr/>
          <a:lstStyle/>
          <a:p>
            <a:endParaRPr lang="en-US"/>
          </a:p>
        </p:txBody>
      </p:sp>
      <p:sp>
        <p:nvSpPr>
          <p:cNvPr id="7" name="Text 5"/>
          <p:cNvSpPr txBox="1"/>
          <p:nvPr/>
        </p:nvSpPr>
        <p:spPr>
          <a:xfrm>
            <a:off x="621792" y="1810512"/>
            <a:ext cx="2368296" cy="1417320"/>
          </a:xfrm>
          <a:prstGeom prst="rect">
            <a:avLst/>
          </a:prstGeom>
          <a:noFill/>
          <a:ln/>
        </p:spPr>
        <p:txBody>
          <a:bodyPr wrap="square" lIns="0" tIns="0" rIns="0" bIns="0" rtlCol="0" anchor="t"/>
          <a:lstStyle/>
          <a:p>
            <a:pPr marL="0" indent="0">
              <a:spcAft>
                <a:spcPts val="500"/>
              </a:spcAft>
              <a:buNone/>
            </a:pPr>
            <a:r>
              <a:rPr lang="en-US" sz="1250" b="1" dirty="0">
                <a:solidFill>
                  <a:srgbClr val="1A5FB4"/>
                </a:solidFill>
                <a:latin typeface="Calibri" pitchFamily="34" charset="0"/>
                <a:ea typeface="Calibri" pitchFamily="34" charset="-122"/>
                <a:cs typeface="Calibri" pitchFamily="34" charset="-120"/>
              </a:rPr>
              <a:t>Distance stops working</a:t>
            </a:r>
            <a:endParaRPr lang="en-US" sz="1250" dirty="0"/>
          </a:p>
          <a:p>
            <a:pPr marL="0" indent="0">
              <a:spcAft>
                <a:spcPts val="500"/>
              </a:spcAft>
              <a:buNone/>
            </a:pPr>
            <a:r>
              <a:rPr lang="en-US" sz="1050" dirty="0">
                <a:solidFill>
                  <a:srgbClr val="1B2430"/>
                </a:solidFill>
                <a:latin typeface="Calibri" pitchFamily="34" charset="0"/>
                <a:ea typeface="Calibri" pitchFamily="34" charset="-122"/>
                <a:cs typeface="Calibri" pitchFamily="34" charset="-120"/>
              </a:rPr>
              <a:t>Nearest-centroid and KNN rely on distance, and distance is corrupted by noisy irrelevant features. Those methods cannot select the useful features and ignore the rest causing them to overfit.</a:t>
            </a:r>
            <a:endParaRPr lang="en-US" sz="1250" dirty="0"/>
          </a:p>
        </p:txBody>
      </p:sp>
      <p:sp>
        <p:nvSpPr>
          <p:cNvPr id="8" name="Shape 6"/>
          <p:cNvSpPr/>
          <p:nvPr/>
        </p:nvSpPr>
        <p:spPr>
          <a:xfrm>
            <a:off x="3236976" y="1664208"/>
            <a:ext cx="2697480" cy="1691640"/>
          </a:xfrm>
          <a:prstGeom prst="roundRect">
            <a:avLst>
              <a:gd name="adj" fmla="val 2162"/>
            </a:avLst>
          </a:prstGeom>
          <a:solidFill>
            <a:srgbClr val="F1F4F8"/>
          </a:solidFill>
          <a:ln w="9525">
            <a:solidFill>
              <a:srgbClr val="D8DFE8"/>
            </a:solidFill>
            <a:prstDash val="solid"/>
          </a:ln>
        </p:spPr>
        <p:txBody>
          <a:bodyPr/>
          <a:lstStyle/>
          <a:p>
            <a:endParaRPr lang="en-US"/>
          </a:p>
        </p:txBody>
      </p:sp>
      <p:sp>
        <p:nvSpPr>
          <p:cNvPr id="9" name="Text 7"/>
          <p:cNvSpPr txBox="1"/>
          <p:nvPr/>
        </p:nvSpPr>
        <p:spPr>
          <a:xfrm>
            <a:off x="3401568" y="1810512"/>
            <a:ext cx="2368296" cy="1417320"/>
          </a:xfrm>
          <a:prstGeom prst="rect">
            <a:avLst/>
          </a:prstGeom>
          <a:noFill/>
          <a:ln/>
        </p:spPr>
        <p:txBody>
          <a:bodyPr wrap="square" lIns="0" tIns="0" rIns="0" bIns="0" rtlCol="0" anchor="t"/>
          <a:lstStyle/>
          <a:p>
            <a:pPr marL="0" indent="0">
              <a:spcAft>
                <a:spcPts val="500"/>
              </a:spcAft>
              <a:buNone/>
            </a:pPr>
            <a:r>
              <a:rPr lang="en-US" sz="1250" b="1" dirty="0">
                <a:solidFill>
                  <a:srgbClr val="1A5FB4"/>
                </a:solidFill>
                <a:latin typeface="Calibri" pitchFamily="34" charset="0"/>
                <a:ea typeface="Calibri" pitchFamily="34" charset="-122"/>
                <a:cs typeface="Calibri" pitchFamily="34" charset="-120"/>
              </a:rPr>
              <a:t>You cannot look at it</a:t>
            </a:r>
            <a:endParaRPr lang="en-US" sz="1250" dirty="0"/>
          </a:p>
          <a:p>
            <a:pPr marL="0" indent="0">
              <a:spcAft>
                <a:spcPts val="500"/>
              </a:spcAft>
              <a:buNone/>
            </a:pPr>
            <a:r>
              <a:rPr lang="en-US" sz="1050" dirty="0">
                <a:solidFill>
                  <a:srgbClr val="1B2430"/>
                </a:solidFill>
                <a:latin typeface="Calibri" pitchFamily="34" charset="0"/>
                <a:ea typeface="Calibri" pitchFamily="34" charset="-122"/>
                <a:cs typeface="Calibri" pitchFamily="34" charset="-120"/>
              </a:rPr>
              <a:t>The penguins already live in 4 dimensions. You cannot plot that, let alone 400.</a:t>
            </a:r>
            <a:endParaRPr lang="en-US" sz="1250" dirty="0"/>
          </a:p>
        </p:txBody>
      </p:sp>
      <p:sp>
        <p:nvSpPr>
          <p:cNvPr id="10" name="Shape 8"/>
          <p:cNvSpPr/>
          <p:nvPr/>
        </p:nvSpPr>
        <p:spPr>
          <a:xfrm>
            <a:off x="6016752" y="1664208"/>
            <a:ext cx="2697480" cy="1691640"/>
          </a:xfrm>
          <a:prstGeom prst="roundRect">
            <a:avLst>
              <a:gd name="adj" fmla="val 2162"/>
            </a:avLst>
          </a:prstGeom>
          <a:solidFill>
            <a:srgbClr val="F1F4F8"/>
          </a:solidFill>
          <a:ln w="9525">
            <a:solidFill>
              <a:srgbClr val="D8DFE8"/>
            </a:solidFill>
            <a:prstDash val="solid"/>
          </a:ln>
        </p:spPr>
        <p:txBody>
          <a:bodyPr/>
          <a:lstStyle/>
          <a:p>
            <a:endParaRPr lang="en-US"/>
          </a:p>
        </p:txBody>
      </p:sp>
      <p:sp>
        <p:nvSpPr>
          <p:cNvPr id="11" name="Text 9"/>
          <p:cNvSpPr txBox="1"/>
          <p:nvPr/>
        </p:nvSpPr>
        <p:spPr>
          <a:xfrm>
            <a:off x="6181344" y="1810512"/>
            <a:ext cx="2368296" cy="1417320"/>
          </a:xfrm>
          <a:prstGeom prst="rect">
            <a:avLst/>
          </a:prstGeom>
          <a:noFill/>
          <a:ln/>
        </p:spPr>
        <p:txBody>
          <a:bodyPr wrap="square" lIns="0" tIns="0" rIns="0" bIns="0" rtlCol="0" anchor="t"/>
          <a:lstStyle/>
          <a:p>
            <a:pPr marL="0" indent="0">
              <a:spcAft>
                <a:spcPts val="500"/>
              </a:spcAft>
              <a:buNone/>
            </a:pPr>
            <a:r>
              <a:rPr lang="en-US" sz="1250" b="1" dirty="0">
                <a:solidFill>
                  <a:srgbClr val="1A5FB4"/>
                </a:solidFill>
                <a:latin typeface="Calibri" pitchFamily="34" charset="0"/>
                <a:ea typeface="Calibri" pitchFamily="34" charset="-122"/>
                <a:cs typeface="Calibri" pitchFamily="34" charset="-120"/>
              </a:rPr>
              <a:t>Cost</a:t>
            </a:r>
            <a:endParaRPr lang="en-US" sz="1250" dirty="0"/>
          </a:p>
          <a:p>
            <a:pPr marL="0" indent="0">
              <a:spcAft>
                <a:spcPts val="500"/>
              </a:spcAft>
              <a:buNone/>
            </a:pPr>
            <a:r>
              <a:rPr lang="en-US" sz="1050" dirty="0">
                <a:solidFill>
                  <a:srgbClr val="1B2430"/>
                </a:solidFill>
                <a:latin typeface="Calibri" pitchFamily="34" charset="0"/>
                <a:ea typeface="Calibri" pitchFamily="34" charset="-122"/>
                <a:cs typeface="Calibri" pitchFamily="34" charset="-120"/>
              </a:rPr>
              <a:t>Fewer columns means less storage, faster training, and less noise for the next model to fit.</a:t>
            </a:r>
            <a:endParaRPr lang="en-US" sz="1250" dirty="0"/>
          </a:p>
        </p:txBody>
      </p:sp>
      <p:sp>
        <p:nvSpPr>
          <p:cNvPr id="12" name="Shape 10"/>
          <p:cNvSpPr/>
          <p:nvPr/>
        </p:nvSpPr>
        <p:spPr>
          <a:xfrm>
            <a:off x="457200" y="3474720"/>
            <a:ext cx="8229600" cy="566928"/>
          </a:xfrm>
          <a:prstGeom prst="roundRect">
            <a:avLst>
              <a:gd name="adj" fmla="val 6452"/>
            </a:avLst>
          </a:prstGeom>
          <a:solidFill>
            <a:srgbClr val="E8F4ED"/>
          </a:solidFill>
          <a:ln w="9525">
            <a:solidFill>
              <a:srgbClr val="1B7A46"/>
            </a:solidFill>
            <a:prstDash val="solid"/>
          </a:ln>
        </p:spPr>
        <p:txBody>
          <a:bodyPr/>
          <a:lstStyle/>
          <a:p>
            <a:endParaRPr lang="en-US"/>
          </a:p>
        </p:txBody>
      </p:sp>
      <p:sp>
        <p:nvSpPr>
          <p:cNvPr id="13" name="Text 11"/>
          <p:cNvSpPr txBox="1"/>
          <p:nvPr/>
        </p:nvSpPr>
        <p:spPr>
          <a:xfrm>
            <a:off x="685800" y="3474720"/>
            <a:ext cx="7772400" cy="566928"/>
          </a:xfrm>
          <a:prstGeom prst="rect">
            <a:avLst/>
          </a:prstGeom>
          <a:noFill/>
          <a:ln/>
        </p:spPr>
        <p:txBody>
          <a:bodyPr wrap="square" lIns="0" tIns="0" rIns="0" bIns="0" rtlCol="0" anchor="ctr"/>
          <a:lstStyle/>
          <a:p>
            <a:pPr marL="0" indent="0">
              <a:buNone/>
            </a:pPr>
            <a:r>
              <a:rPr lang="en-US" sz="1200" b="1" dirty="0">
                <a:solidFill>
                  <a:srgbClr val="1B7A46"/>
                </a:solidFill>
                <a:latin typeface="Calibri" pitchFamily="34" charset="0"/>
                <a:ea typeface="Calibri" pitchFamily="34" charset="-122"/>
                <a:cs typeface="Calibri" pitchFamily="34" charset="-120"/>
              </a:rPr>
              <a:t>Dimensionality reduction:  using unsupervised algorithms to retain the core relationships in the data while dropping the extra feature noise.</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457200" y="384048"/>
            <a:ext cx="118872" cy="118872"/>
          </a:xfrm>
          <a:prstGeom prst="ellipse">
            <a:avLst/>
          </a:prstGeom>
          <a:solidFill>
            <a:srgbClr val="FFC72C"/>
          </a:solidFill>
          <a:ln w="12700">
            <a:solidFill>
              <a:srgbClr val="FFC72C"/>
            </a:solidFill>
            <a:prstDash val="solid"/>
          </a:ln>
        </p:spPr>
        <p:txBody>
          <a:bodyPr/>
          <a:lstStyle/>
          <a:p>
            <a:endParaRPr lang="en-US"/>
          </a:p>
        </p:txBody>
      </p:sp>
      <p:sp>
        <p:nvSpPr>
          <p:cNvPr id="3" name="Text 1"/>
          <p:cNvSpPr txBox="1"/>
          <p:nvPr/>
        </p:nvSpPr>
        <p:spPr>
          <a:xfrm>
            <a:off x="658368" y="329184"/>
            <a:ext cx="8028432" cy="237744"/>
          </a:xfrm>
          <a:prstGeom prst="rect">
            <a:avLst/>
          </a:prstGeom>
          <a:noFill/>
          <a:ln/>
        </p:spPr>
        <p:txBody>
          <a:bodyPr wrap="square" lIns="0" tIns="0" rIns="0" bIns="0" rtlCol="0" anchor="ctr"/>
          <a:lstStyle/>
          <a:p>
            <a:pPr marL="0" indent="0">
              <a:buNone/>
            </a:pPr>
            <a:r>
              <a:rPr lang="en-US" sz="1050" b="1" kern="0" spc="140" dirty="0">
                <a:solidFill>
                  <a:srgbClr val="5A6472"/>
                </a:solidFill>
                <a:latin typeface="Calibri" pitchFamily="34" charset="0"/>
                <a:ea typeface="Calibri" pitchFamily="34" charset="-122"/>
                <a:cs typeface="Calibri" pitchFamily="34" charset="-120"/>
              </a:rPr>
              <a:t>CONCEPT</a:t>
            </a:r>
            <a:endParaRPr lang="en-US" sz="1050" dirty="0"/>
          </a:p>
        </p:txBody>
      </p:sp>
      <p:sp>
        <p:nvSpPr>
          <p:cNvPr id="4" name="Text 2"/>
          <p:cNvSpPr txBox="1"/>
          <p:nvPr/>
        </p:nvSpPr>
        <p:spPr>
          <a:xfrm>
            <a:off x="457200" y="603504"/>
            <a:ext cx="8229600" cy="56692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The landscape of methods</a:t>
            </a:r>
            <a:endParaRPr lang="en-US" sz="3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2523744"/>
        </p:xfrm>
        <a:graphic>
          <a:graphicData uri="http://schemas.openxmlformats.org/drawingml/2006/table">
            <a:tbl>
              <a:tblPr/>
              <a:tblGrid>
                <a:gridCol w="16459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3749040">
                  <a:extLst>
                    <a:ext uri="{9D8B030D-6E8A-4147-A177-3AD203B41FA5}">
                      <a16:colId xmlns:a16="http://schemas.microsoft.com/office/drawing/2014/main" val="20003"/>
                    </a:ext>
                  </a:extLst>
                </a:gridCol>
              </a:tblGrid>
              <a:tr h="420624">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Algorithm</a:t>
                      </a:r>
                      <a:endParaRPr lang="en-US" sz="1100" dirty="0">
                        <a:latin typeface="Calibri" charset="0"/>
                        <a:ea typeface="Calibri" charset="0"/>
                        <a:cs typeface="Calibri" charset="0"/>
                      </a:endParaRPr>
                    </a:p>
                  </a:txBody>
                  <a:tcPr marL="73152" marR="73152" marT="73152" marB="73152"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12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Type</a:t>
                      </a:r>
                      <a:endParaRPr lang="en-US" sz="1100" dirty="0">
                        <a:latin typeface="Calibri" charset="0"/>
                        <a:ea typeface="Calibri" charset="0"/>
                        <a:cs typeface="Calibri" charset="0"/>
                      </a:endParaRPr>
                    </a:p>
                  </a:txBody>
                  <a:tcPr marL="73152" marR="73152" marT="73152" marB="73152"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12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Supervised?</a:t>
                      </a:r>
                      <a:endParaRPr lang="en-US" sz="1100" dirty="0">
                        <a:latin typeface="Calibri" charset="0"/>
                        <a:ea typeface="Calibri" charset="0"/>
                        <a:cs typeface="Calibri" charset="0"/>
                      </a:endParaRPr>
                    </a:p>
                  </a:txBody>
                  <a:tcPr marL="73152" marR="73152" marT="73152" marB="73152"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12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Best used for</a:t>
                      </a:r>
                      <a:endParaRPr lang="en-US" sz="1100" dirty="0">
                        <a:latin typeface="Calibri" charset="0"/>
                        <a:ea typeface="Calibri" charset="0"/>
                        <a:cs typeface="Calibri" charset="0"/>
                      </a:endParaRPr>
                    </a:p>
                  </a:txBody>
                  <a:tcPr marL="73152" marR="73152" marT="73152" marB="73152"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12233F"/>
                    </a:solidFill>
                  </a:tcPr>
                </a:tc>
                <a:extLst>
                  <a:ext uri="{0D108BD9-81ED-4DB2-BD59-A6C34878D82A}">
                    <a16:rowId xmlns:a16="http://schemas.microsoft.com/office/drawing/2014/main" val="10000"/>
                  </a:ext>
                </a:extLst>
              </a:tr>
              <a:tr h="420624">
                <a:tc>
                  <a:txBody>
                    <a:bodyPr/>
                    <a:lstStyle/>
                    <a:p>
                      <a:pPr marL="0" indent="0">
                        <a:buNone/>
                      </a:pPr>
                      <a:r>
                        <a:rPr lang="en-US" sz="1100" b="1" dirty="0">
                          <a:solidFill>
                            <a:srgbClr val="12233F"/>
                          </a:solidFill>
                          <a:latin typeface="Calibri" pitchFamily="34" charset="0"/>
                          <a:ea typeface="Calibri" pitchFamily="34" charset="-122"/>
                          <a:cs typeface="Calibri" pitchFamily="34" charset="-120"/>
                        </a:rPr>
                        <a:t>PCA</a:t>
                      </a:r>
                      <a:endParaRPr lang="en-US" sz="1100" dirty="0">
                        <a:latin typeface="Calibri" charset="0"/>
                        <a:ea typeface="Calibri" charset="0"/>
                        <a:cs typeface="Calibri" charset="0"/>
                      </a:endParaRPr>
                    </a:p>
                  </a:txBody>
                  <a:tcPr marL="73152" marR="73152" marT="73152" marB="73152"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D8DFE8"/>
                    </a:solidFill>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Linear</a:t>
                      </a:r>
                      <a:endParaRPr lang="en-US" sz="1100" dirty="0">
                        <a:latin typeface="Calibri" charset="0"/>
                        <a:ea typeface="Calibri" charset="0"/>
                        <a:cs typeface="Calibri" charset="0"/>
                      </a:endParaRPr>
                    </a:p>
                  </a:txBody>
                  <a:tcPr marL="73152" marR="73152" marT="73152" marB="73152"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D8DFE8"/>
                    </a:solidFill>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Unsupervised</a:t>
                      </a:r>
                      <a:endParaRPr lang="en-US" sz="1100" dirty="0">
                        <a:latin typeface="Calibri" charset="0"/>
                        <a:ea typeface="Calibri" charset="0"/>
                        <a:cs typeface="Calibri" charset="0"/>
                      </a:endParaRPr>
                    </a:p>
                  </a:txBody>
                  <a:tcPr marL="73152" marR="73152" marT="73152" marB="73152"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D8DFE8"/>
                    </a:solidFill>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General preprocessing, noise reduction, fast baselines</a:t>
                      </a:r>
                      <a:endParaRPr lang="en-US" sz="1100" dirty="0">
                        <a:latin typeface="Calibri" charset="0"/>
                        <a:ea typeface="Calibri" charset="0"/>
                        <a:cs typeface="Calibri" charset="0"/>
                      </a:endParaRPr>
                    </a:p>
                  </a:txBody>
                  <a:tcPr marL="73152" marR="73152" marT="73152" marB="73152"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D8DFE8"/>
                    </a:solidFill>
                  </a:tcPr>
                </a:tc>
                <a:extLst>
                  <a:ext uri="{0D108BD9-81ED-4DB2-BD59-A6C34878D82A}">
                    <a16:rowId xmlns:a16="http://schemas.microsoft.com/office/drawing/2014/main" val="10001"/>
                  </a:ext>
                </a:extLst>
              </a:tr>
              <a:tr h="420624">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LDA</a:t>
                      </a:r>
                      <a:endParaRPr lang="en-US" sz="1100" dirty="0">
                        <a:latin typeface="Calibri" charset="0"/>
                        <a:ea typeface="Calibri" charset="0"/>
                        <a:cs typeface="Calibri" charset="0"/>
                      </a:endParaRPr>
                    </a:p>
                  </a:txBody>
                  <a:tcPr marL="73152" marR="73152" marT="73152" marB="73152"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Linear</a:t>
                      </a:r>
                      <a:endParaRPr lang="en-US" sz="1100" dirty="0">
                        <a:latin typeface="Calibri" charset="0"/>
                        <a:ea typeface="Calibri" charset="0"/>
                        <a:cs typeface="Calibri" charset="0"/>
                      </a:endParaRPr>
                    </a:p>
                  </a:txBody>
                  <a:tcPr marL="73152" marR="73152" marT="73152" marB="73152"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Supervised</a:t>
                      </a:r>
                      <a:endParaRPr lang="en-US" sz="1100" dirty="0">
                        <a:latin typeface="Calibri" charset="0"/>
                        <a:ea typeface="Calibri" charset="0"/>
                        <a:cs typeface="Calibri" charset="0"/>
                      </a:endParaRPr>
                    </a:p>
                  </a:txBody>
                  <a:tcPr marL="73152" marR="73152" marT="73152" marB="73152"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Maximizing class separability ahead of classification</a:t>
                      </a:r>
                      <a:endParaRPr lang="en-US" sz="1100" dirty="0">
                        <a:latin typeface="Calibri" charset="0"/>
                        <a:ea typeface="Calibri" charset="0"/>
                        <a:cs typeface="Calibri" charset="0"/>
                      </a:endParaRPr>
                    </a:p>
                  </a:txBody>
                  <a:tcPr marL="73152" marR="73152" marT="73152" marB="73152"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extLst>
                  <a:ext uri="{0D108BD9-81ED-4DB2-BD59-A6C34878D82A}">
                    <a16:rowId xmlns:a16="http://schemas.microsoft.com/office/drawing/2014/main" val="10002"/>
                  </a:ext>
                </a:extLst>
              </a:tr>
              <a:tr h="420624">
                <a:tc>
                  <a:txBody>
                    <a:bodyPr/>
                    <a:lstStyle/>
                    <a:p>
                      <a:pPr marL="0" indent="0">
                        <a:buNone/>
                      </a:pPr>
                      <a:r>
                        <a:rPr lang="en-US" sz="1100" b="1" dirty="0">
                          <a:solidFill>
                            <a:srgbClr val="12233F"/>
                          </a:solidFill>
                          <a:latin typeface="Calibri" pitchFamily="34" charset="0"/>
                          <a:ea typeface="Calibri" pitchFamily="34" charset="-122"/>
                          <a:cs typeface="Calibri" pitchFamily="34" charset="-120"/>
                        </a:rPr>
                        <a:t>t-SNE</a:t>
                      </a:r>
                      <a:endParaRPr lang="en-US" sz="1100" dirty="0">
                        <a:latin typeface="Calibri" charset="0"/>
                        <a:ea typeface="Calibri" charset="0"/>
                        <a:cs typeface="Calibri" charset="0"/>
                      </a:endParaRPr>
                    </a:p>
                  </a:txBody>
                  <a:tcPr marL="73152" marR="73152" marT="73152" marB="73152"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D8DFE8"/>
                    </a:solidFill>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Non-linear</a:t>
                      </a:r>
                      <a:endParaRPr lang="en-US" sz="1100" dirty="0">
                        <a:latin typeface="Calibri" charset="0"/>
                        <a:ea typeface="Calibri" charset="0"/>
                        <a:cs typeface="Calibri" charset="0"/>
                      </a:endParaRPr>
                    </a:p>
                  </a:txBody>
                  <a:tcPr marL="73152" marR="73152" marT="73152" marB="73152"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D8DFE8"/>
                    </a:solidFill>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Unsupervised</a:t>
                      </a:r>
                      <a:endParaRPr lang="en-US" sz="1100" dirty="0">
                        <a:latin typeface="Calibri" charset="0"/>
                        <a:ea typeface="Calibri" charset="0"/>
                        <a:cs typeface="Calibri" charset="0"/>
                      </a:endParaRPr>
                    </a:p>
                  </a:txBody>
                  <a:tcPr marL="73152" marR="73152" marT="73152" marB="73152"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D8DFE8"/>
                    </a:solidFill>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2D/3D cluster visualization for smaller datasets</a:t>
                      </a:r>
                      <a:endParaRPr lang="en-US" sz="1100" dirty="0">
                        <a:latin typeface="Calibri" charset="0"/>
                        <a:ea typeface="Calibri" charset="0"/>
                        <a:cs typeface="Calibri" charset="0"/>
                      </a:endParaRPr>
                    </a:p>
                  </a:txBody>
                  <a:tcPr marL="73152" marR="73152" marT="73152" marB="73152"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D8DFE8"/>
                    </a:solidFill>
                  </a:tcPr>
                </a:tc>
                <a:extLst>
                  <a:ext uri="{0D108BD9-81ED-4DB2-BD59-A6C34878D82A}">
                    <a16:rowId xmlns:a16="http://schemas.microsoft.com/office/drawing/2014/main" val="10003"/>
                  </a:ext>
                </a:extLst>
              </a:tr>
              <a:tr h="420624">
                <a:tc>
                  <a:txBody>
                    <a:bodyPr/>
                    <a:lstStyle/>
                    <a:p>
                      <a:pPr marL="0" indent="0">
                        <a:buNone/>
                      </a:pPr>
                      <a:r>
                        <a:rPr lang="en-US" sz="1100" b="1" dirty="0">
                          <a:solidFill>
                            <a:srgbClr val="12233F"/>
                          </a:solidFill>
                          <a:latin typeface="Calibri" pitchFamily="34" charset="0"/>
                          <a:ea typeface="Calibri" pitchFamily="34" charset="-122"/>
                          <a:cs typeface="Calibri" pitchFamily="34" charset="-120"/>
                        </a:rPr>
                        <a:t>UMAP</a:t>
                      </a:r>
                      <a:endParaRPr lang="en-US" sz="1100" dirty="0">
                        <a:latin typeface="Calibri" charset="0"/>
                        <a:ea typeface="Calibri" charset="0"/>
                        <a:cs typeface="Calibri" charset="0"/>
                      </a:endParaRPr>
                    </a:p>
                  </a:txBody>
                  <a:tcPr marL="73152" marR="73152" marT="73152" marB="73152"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D8DFE8"/>
                    </a:solidFill>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Non-linear</a:t>
                      </a:r>
                      <a:endParaRPr lang="en-US" sz="1100" dirty="0">
                        <a:latin typeface="Calibri" charset="0"/>
                        <a:ea typeface="Calibri" charset="0"/>
                        <a:cs typeface="Calibri" charset="0"/>
                      </a:endParaRPr>
                    </a:p>
                  </a:txBody>
                  <a:tcPr marL="73152" marR="73152" marT="73152" marB="73152"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D8DFE8"/>
                    </a:solidFill>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Unsupervised</a:t>
                      </a:r>
                      <a:endParaRPr lang="en-US" sz="1100" dirty="0">
                        <a:latin typeface="Calibri" charset="0"/>
                        <a:ea typeface="Calibri" charset="0"/>
                        <a:cs typeface="Calibri" charset="0"/>
                      </a:endParaRPr>
                    </a:p>
                  </a:txBody>
                  <a:tcPr marL="73152" marR="73152" marT="73152" marB="73152"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D8DFE8"/>
                    </a:solidFill>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Visualizing complex structures, fast clustering</a:t>
                      </a:r>
                      <a:endParaRPr lang="en-US" sz="1100" dirty="0">
                        <a:latin typeface="Calibri" charset="0"/>
                        <a:ea typeface="Calibri" charset="0"/>
                        <a:cs typeface="Calibri" charset="0"/>
                      </a:endParaRPr>
                    </a:p>
                  </a:txBody>
                  <a:tcPr marL="73152" marR="73152" marT="73152" marB="73152"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D8DFE8"/>
                    </a:solidFill>
                  </a:tcPr>
                </a:tc>
                <a:extLst>
                  <a:ext uri="{0D108BD9-81ED-4DB2-BD59-A6C34878D82A}">
                    <a16:rowId xmlns:a16="http://schemas.microsoft.com/office/drawing/2014/main" val="10004"/>
                  </a:ext>
                </a:extLst>
              </a:tr>
              <a:tr h="420624">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Autoencoders</a:t>
                      </a:r>
                      <a:endParaRPr lang="en-US" sz="1100" dirty="0">
                        <a:latin typeface="Calibri" charset="0"/>
                        <a:ea typeface="Calibri" charset="0"/>
                        <a:cs typeface="Calibri" charset="0"/>
                      </a:endParaRPr>
                    </a:p>
                  </a:txBody>
                  <a:tcPr marL="73152" marR="73152" marT="73152" marB="73152"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Neural network</a:t>
                      </a:r>
                      <a:endParaRPr lang="en-US" sz="1100" dirty="0">
                        <a:latin typeface="Calibri" charset="0"/>
                        <a:ea typeface="Calibri" charset="0"/>
                        <a:cs typeface="Calibri" charset="0"/>
                      </a:endParaRPr>
                    </a:p>
                  </a:txBody>
                  <a:tcPr marL="73152" marR="73152" marT="73152" marB="73152"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Unsupervised</a:t>
                      </a:r>
                      <a:endParaRPr lang="en-US" sz="1100" dirty="0">
                        <a:latin typeface="Calibri" charset="0"/>
                        <a:ea typeface="Calibri" charset="0"/>
                        <a:cs typeface="Calibri" charset="0"/>
                      </a:endParaRPr>
                    </a:p>
                  </a:txBody>
                  <a:tcPr marL="73152" marR="73152" marT="73152" marB="73152"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Scalable deep feature extraction, complex non-linear data</a:t>
                      </a:r>
                      <a:endParaRPr lang="en-US" sz="1100" dirty="0">
                        <a:latin typeface="Calibri" charset="0"/>
                        <a:ea typeface="Calibri" charset="0"/>
                        <a:cs typeface="Calibri" charset="0"/>
                      </a:endParaRPr>
                    </a:p>
                  </a:txBody>
                  <a:tcPr marL="73152" marR="73152" marT="73152" marB="73152"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extLst>
                  <a:ext uri="{0D108BD9-81ED-4DB2-BD59-A6C34878D82A}">
                    <a16:rowId xmlns:a16="http://schemas.microsoft.com/office/drawing/2014/main" val="10005"/>
                  </a:ext>
                </a:extLst>
              </a:tr>
            </a:tbl>
          </a:graphicData>
        </a:graphic>
      </p:graphicFrame>
      <p:sp>
        <p:nvSpPr>
          <p:cNvPr id="6" name="Shape 3"/>
          <p:cNvSpPr/>
          <p:nvPr/>
        </p:nvSpPr>
        <p:spPr>
          <a:xfrm>
            <a:off x="457200" y="4206240"/>
            <a:ext cx="8229600" cy="530352"/>
          </a:xfrm>
          <a:prstGeom prst="roundRect">
            <a:avLst>
              <a:gd name="adj" fmla="val 6897"/>
            </a:avLst>
          </a:prstGeom>
          <a:solidFill>
            <a:srgbClr val="E8F4ED"/>
          </a:solidFill>
          <a:ln w="12700">
            <a:solidFill>
              <a:srgbClr val="1B7A46"/>
            </a:solidFill>
            <a:prstDash val="solid"/>
          </a:ln>
        </p:spPr>
        <p:txBody>
          <a:bodyPr/>
          <a:lstStyle/>
          <a:p>
            <a:endParaRPr lang="en-US"/>
          </a:p>
        </p:txBody>
      </p:sp>
      <p:sp>
        <p:nvSpPr>
          <p:cNvPr id="7" name="Text 4"/>
          <p:cNvSpPr txBox="1"/>
          <p:nvPr/>
        </p:nvSpPr>
        <p:spPr>
          <a:xfrm>
            <a:off x="640080" y="4206240"/>
            <a:ext cx="7863840" cy="530352"/>
          </a:xfrm>
          <a:prstGeom prst="rect">
            <a:avLst/>
          </a:prstGeom>
          <a:noFill/>
          <a:ln/>
        </p:spPr>
        <p:txBody>
          <a:bodyPr wrap="square" lIns="0" tIns="0" rIns="0" bIns="0" rtlCol="0" anchor="ctr"/>
          <a:lstStyle/>
          <a:p>
            <a:pPr marL="0" indent="0">
              <a:buNone/>
            </a:pPr>
            <a:r>
              <a:rPr lang="en-US" sz="1200" b="1" dirty="0">
                <a:solidFill>
                  <a:srgbClr val="1B7A46"/>
                </a:solidFill>
                <a:latin typeface="Calibri" pitchFamily="34" charset="0"/>
                <a:ea typeface="Calibri" pitchFamily="34" charset="-122"/>
                <a:cs typeface="Calibri" pitchFamily="34" charset="-120"/>
              </a:rPr>
              <a:t>Highlighted: the three we will go over in this lecture. Autoencoders are neural networks as seen in Week 2.</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457200" y="384048"/>
            <a:ext cx="118872" cy="118872"/>
          </a:xfrm>
          <a:prstGeom prst="ellipse">
            <a:avLst/>
          </a:prstGeom>
          <a:solidFill>
            <a:srgbClr val="FFC72C"/>
          </a:solidFill>
          <a:ln w="12700">
            <a:solidFill>
              <a:srgbClr val="FFC72C"/>
            </a:solidFill>
            <a:prstDash val="solid"/>
          </a:ln>
        </p:spPr>
        <p:txBody>
          <a:bodyPr/>
          <a:lstStyle/>
          <a:p>
            <a:endParaRPr lang="en-US"/>
          </a:p>
        </p:txBody>
      </p:sp>
      <p:sp>
        <p:nvSpPr>
          <p:cNvPr id="3" name="Text 1"/>
          <p:cNvSpPr txBox="1"/>
          <p:nvPr/>
        </p:nvSpPr>
        <p:spPr>
          <a:xfrm>
            <a:off x="658368" y="329184"/>
            <a:ext cx="8028432" cy="237744"/>
          </a:xfrm>
          <a:prstGeom prst="rect">
            <a:avLst/>
          </a:prstGeom>
          <a:noFill/>
          <a:ln/>
        </p:spPr>
        <p:txBody>
          <a:bodyPr wrap="square" lIns="0" tIns="0" rIns="0" bIns="0" rtlCol="0" anchor="ctr"/>
          <a:lstStyle/>
          <a:p>
            <a:pPr marL="0" indent="0">
              <a:buNone/>
            </a:pPr>
            <a:r>
              <a:rPr lang="en-US" sz="1050" b="1" kern="0" spc="140" dirty="0">
                <a:solidFill>
                  <a:srgbClr val="5A6472"/>
                </a:solidFill>
                <a:latin typeface="Calibri" pitchFamily="34" charset="0"/>
                <a:ea typeface="Calibri" pitchFamily="34" charset="-122"/>
                <a:cs typeface="Calibri" pitchFamily="34" charset="-120"/>
              </a:rPr>
              <a:t>VOCABULARY</a:t>
            </a:r>
            <a:endParaRPr lang="en-US" sz="1050" dirty="0"/>
          </a:p>
        </p:txBody>
      </p:sp>
      <p:sp>
        <p:nvSpPr>
          <p:cNvPr id="4" name="Text 2"/>
          <p:cNvSpPr txBox="1"/>
          <p:nvPr/>
        </p:nvSpPr>
        <p:spPr>
          <a:xfrm>
            <a:off x="457200" y="603504"/>
            <a:ext cx="8229600" cy="56692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Eigenvectors, in one slide</a:t>
            </a:r>
            <a:endParaRPr lang="en-US" sz="3000" dirty="0"/>
          </a:p>
        </p:txBody>
      </p:sp>
      <p:sp>
        <p:nvSpPr>
          <p:cNvPr id="5" name="Text 3"/>
          <p:cNvSpPr txBox="1"/>
          <p:nvPr/>
        </p:nvSpPr>
        <p:spPr>
          <a:xfrm>
            <a:off x="457200" y="1152144"/>
            <a:ext cx="8229600" cy="420624"/>
          </a:xfrm>
          <a:prstGeom prst="rect">
            <a:avLst/>
          </a:prstGeom>
          <a:noFill/>
          <a:ln/>
        </p:spPr>
        <p:txBody>
          <a:bodyPr wrap="square" lIns="0" tIns="0" rIns="0" bIns="0" rtlCol="0" anchor="ctr"/>
          <a:lstStyle/>
          <a:p>
            <a:pPr marL="0" indent="0">
              <a:buNone/>
            </a:pPr>
            <a:r>
              <a:rPr lang="en-US" sz="1250" dirty="0">
                <a:solidFill>
                  <a:srgbClr val="AEBBCE"/>
                </a:solidFill>
                <a:latin typeface="Calibri" pitchFamily="34" charset="0"/>
                <a:ea typeface="Calibri" pitchFamily="34" charset="-122"/>
                <a:cs typeface="Calibri" pitchFamily="34" charset="-120"/>
              </a:rPr>
              <a:t>A square matrix acts on a vector and generally hands back something pointing in a different direction. Eigenvectors are the special directions that come back pointing the same way — only rescaled.</a:t>
            </a:r>
            <a:endParaRPr lang="en-US" sz="1250" dirty="0"/>
          </a:p>
        </p:txBody>
      </p:sp>
      <p:sp>
        <p:nvSpPr>
          <p:cNvPr id="6" name="Shape 4"/>
          <p:cNvSpPr/>
          <p:nvPr/>
        </p:nvSpPr>
        <p:spPr>
          <a:xfrm>
            <a:off x="457200" y="1645920"/>
            <a:ext cx="8229600" cy="475488"/>
          </a:xfrm>
          <a:prstGeom prst="roundRect">
            <a:avLst>
              <a:gd name="adj" fmla="val 7692"/>
            </a:avLst>
          </a:prstGeom>
          <a:solidFill>
            <a:srgbClr val="F1F4F8"/>
          </a:solidFill>
          <a:ln w="9525">
            <a:solidFill>
              <a:srgbClr val="D8DFE8"/>
            </a:solidFill>
            <a:prstDash val="solid"/>
          </a:ln>
        </p:spPr>
        <p:txBody>
          <a:bodyPr/>
          <a:lstStyle/>
          <a:p>
            <a:endParaRPr lang="en-US"/>
          </a:p>
        </p:txBody>
      </p:sp>
      <p:sp>
        <p:nvSpPr>
          <p:cNvPr id="7" name="Text 5"/>
          <p:cNvSpPr txBox="1"/>
          <p:nvPr/>
        </p:nvSpPr>
        <p:spPr>
          <a:xfrm>
            <a:off x="685800" y="1645920"/>
            <a:ext cx="7772400" cy="475488"/>
          </a:xfrm>
          <a:prstGeom prst="rect">
            <a:avLst/>
          </a:prstGeom>
          <a:noFill/>
          <a:ln/>
        </p:spPr>
        <p:txBody>
          <a:bodyPr wrap="square" lIns="0" tIns="0" rIns="0" bIns="0" rtlCol="0" anchor="ctr"/>
          <a:lstStyle/>
          <a:p>
            <a:pPr marL="0" indent="0">
              <a:buNone/>
            </a:pPr>
            <a:r>
              <a:rPr lang="en-US" sz="1450" dirty="0">
                <a:solidFill>
                  <a:srgbClr val="1A5FB4"/>
                </a:solidFill>
                <a:latin typeface="Cambria" pitchFamily="34" charset="0"/>
                <a:ea typeface="Cambria" pitchFamily="34" charset="-122"/>
                <a:cs typeface="Cambria" pitchFamily="34" charset="-120"/>
              </a:rPr>
              <a:t>A v  =  λ v</a:t>
            </a:r>
            <a:r>
              <a:rPr lang="en-US" sz="1150" dirty="0">
                <a:solidFill>
                  <a:srgbClr val="5A6472"/>
                </a:solidFill>
                <a:latin typeface="Calibri" pitchFamily="34" charset="0"/>
                <a:ea typeface="Calibri" pitchFamily="34" charset="-122"/>
                <a:cs typeface="Calibri" pitchFamily="34" charset="-120"/>
              </a:rPr>
              <a:t>            λ is the eigenvalue: the factor by which that direction is stretched</a:t>
            </a:r>
            <a:endParaRPr lang="en-US" sz="1450" dirty="0"/>
          </a:p>
        </p:txBody>
      </p:sp>
      <p:sp>
        <p:nvSpPr>
          <p:cNvPr id="8" name="Shape 6"/>
          <p:cNvSpPr/>
          <p:nvPr/>
        </p:nvSpPr>
        <p:spPr>
          <a:xfrm>
            <a:off x="457200" y="2240280"/>
            <a:ext cx="8229600" cy="1810512"/>
          </a:xfrm>
          <a:prstGeom prst="roundRect">
            <a:avLst>
              <a:gd name="adj" fmla="val 2020"/>
            </a:avLst>
          </a:prstGeom>
          <a:solidFill>
            <a:srgbClr val="F1F4F8"/>
          </a:solidFill>
          <a:ln w="9525">
            <a:solidFill>
              <a:srgbClr val="D8DFE8"/>
            </a:solidFill>
            <a:prstDash val="solid"/>
          </a:ln>
        </p:spPr>
        <p:txBody>
          <a:bodyPr/>
          <a:lstStyle/>
          <a:p>
            <a:endParaRPr lang="en-US"/>
          </a:p>
        </p:txBody>
      </p:sp>
      <p:sp>
        <p:nvSpPr>
          <p:cNvPr id="9" name="Text 7"/>
          <p:cNvSpPr txBox="1"/>
          <p:nvPr/>
        </p:nvSpPr>
        <p:spPr>
          <a:xfrm>
            <a:off x="685800" y="2395728"/>
            <a:ext cx="7772400" cy="1536192"/>
          </a:xfrm>
          <a:prstGeom prst="rect">
            <a:avLst/>
          </a:prstGeom>
          <a:noFill/>
          <a:ln/>
        </p:spPr>
        <p:txBody>
          <a:bodyPr wrap="square" lIns="0" tIns="0" rIns="0" bIns="0" rtlCol="0" anchor="ctr"/>
          <a:lstStyle/>
          <a:p>
            <a:pPr>
              <a:spcAft>
                <a:spcPts val="400"/>
              </a:spcAft>
            </a:pPr>
            <a:r>
              <a:rPr lang="en-US" sz="1250" b="1" dirty="0">
                <a:solidFill>
                  <a:srgbClr val="1A5FB4"/>
                </a:solidFill>
                <a:latin typeface="Calibri" pitchFamily="34" charset="0"/>
                <a:ea typeface="Calibri" pitchFamily="34" charset="-122"/>
                <a:cs typeface="Calibri" pitchFamily="34" charset="-120"/>
              </a:rPr>
              <a:t>Try it on a covariance matrix:      </a:t>
            </a:r>
            <a:r>
              <a:rPr lang="en-US" sz="1200" b="1" dirty="0">
                <a:solidFill>
                  <a:srgbClr val="1A5FB4"/>
                </a:solidFill>
                <a:latin typeface="Cambria" pitchFamily="34" charset="0"/>
                <a:ea typeface="Cambria" pitchFamily="34" charset="-122"/>
                <a:cs typeface="Calibri" pitchFamily="34" charset="-120"/>
              </a:rPr>
              <a:t>C</a:t>
            </a:r>
            <a:r>
              <a:rPr lang="en-US" sz="1250" b="1" dirty="0">
                <a:solidFill>
                  <a:srgbClr val="1A5FB4"/>
                </a:solidFill>
                <a:latin typeface="Calibri" pitchFamily="34" charset="0"/>
                <a:ea typeface="Calibri" pitchFamily="34" charset="-122"/>
                <a:cs typeface="Calibri" pitchFamily="34" charset="-120"/>
              </a:rPr>
              <a:t>  =  [ 3  1 ] </a:t>
            </a:r>
          </a:p>
          <a:p>
            <a:pPr marL="0" indent="0">
              <a:spcAft>
                <a:spcPts val="400"/>
              </a:spcAft>
              <a:buNone/>
            </a:pPr>
            <a:r>
              <a:rPr lang="en-US" sz="1250" b="1" dirty="0">
                <a:solidFill>
                  <a:srgbClr val="1A5FB4"/>
                </a:solidFill>
                <a:latin typeface="Calibri" pitchFamily="34" charset="0"/>
                <a:ea typeface="Calibri" pitchFamily="34" charset="-122"/>
                <a:cs typeface="Calibri" pitchFamily="34" charset="-120"/>
              </a:rPr>
              <a:t>		                 [ 1  3 ]</a:t>
            </a:r>
            <a:endParaRPr lang="en-US" sz="1250" dirty="0"/>
          </a:p>
          <a:p>
            <a:pPr>
              <a:spcAft>
                <a:spcPts val="400"/>
              </a:spcAft>
            </a:pPr>
            <a:r>
              <a:rPr lang="en-US" sz="1350" b="1" dirty="0">
                <a:solidFill>
                  <a:srgbClr val="1A5FB4"/>
                </a:solidFill>
                <a:latin typeface="Cambria" pitchFamily="34" charset="0"/>
                <a:ea typeface="Cambria" pitchFamily="34" charset="-122"/>
                <a:cs typeface="Cambria" pitchFamily="34" charset="-120"/>
              </a:rPr>
              <a:t>C</a:t>
            </a:r>
            <a:r>
              <a:rPr lang="en-US" sz="1350" dirty="0">
                <a:solidFill>
                  <a:srgbClr val="1A5FB4"/>
                </a:solidFill>
                <a:latin typeface="Cambria" pitchFamily="34" charset="0"/>
                <a:ea typeface="Cambria" pitchFamily="34" charset="-122"/>
                <a:cs typeface="Cambria" pitchFamily="34" charset="-120"/>
              </a:rPr>
              <a:t>(1, 1)ᵀ   =  (4, 4)ᵀ   =  4 · (1, 1)ᵀ          →   λ = 4	</a:t>
            </a:r>
            <a:r>
              <a:rPr lang="en-US" sz="1200" dirty="0">
                <a:solidFill>
                  <a:srgbClr val="1A5FB4"/>
                </a:solidFill>
                <a:latin typeface="Cambria" pitchFamily="34" charset="0"/>
                <a:ea typeface="Cambria" pitchFamily="34" charset="-122"/>
                <a:cs typeface="Cambria" pitchFamily="34" charset="-120"/>
              </a:rPr>
              <a:t>eigenvector = (1, 1)</a:t>
            </a:r>
            <a:r>
              <a:rPr lang="en-US" sz="1100" dirty="0">
                <a:solidFill>
                  <a:srgbClr val="1A5FB4"/>
                </a:solidFill>
                <a:latin typeface="Cambria" pitchFamily="34" charset="0"/>
                <a:ea typeface="Cambria" pitchFamily="34" charset="-122"/>
                <a:cs typeface="Cambria" pitchFamily="34" charset="-120"/>
              </a:rPr>
              <a:t>ᵀ </a:t>
            </a:r>
            <a:endParaRPr lang="en-US" sz="1250" dirty="0"/>
          </a:p>
          <a:p>
            <a:pPr marL="0" indent="0">
              <a:spcAft>
                <a:spcPts val="400"/>
              </a:spcAft>
              <a:buNone/>
            </a:pPr>
            <a:r>
              <a:rPr lang="en-US" sz="1350" b="1" dirty="0">
                <a:solidFill>
                  <a:srgbClr val="1A5FB4"/>
                </a:solidFill>
                <a:latin typeface="Cambria" pitchFamily="34" charset="0"/>
                <a:ea typeface="Cambria" pitchFamily="34" charset="-122"/>
                <a:cs typeface="Cambria" pitchFamily="34" charset="-120"/>
              </a:rPr>
              <a:t>C</a:t>
            </a:r>
            <a:r>
              <a:rPr lang="en-US" sz="1350" dirty="0">
                <a:solidFill>
                  <a:srgbClr val="1A5FB4"/>
                </a:solidFill>
                <a:latin typeface="Cambria" pitchFamily="34" charset="0"/>
                <a:ea typeface="Cambria" pitchFamily="34" charset="-122"/>
                <a:cs typeface="Cambria" pitchFamily="34" charset="-120"/>
              </a:rPr>
              <a:t>(1, −1)ᵀ =  (2, −2)ᵀ =  2 · (1, −1)ᵀ        →   λ = 2</a:t>
            </a:r>
            <a:endParaRPr lang="en-US" sz="1250" dirty="0"/>
          </a:p>
          <a:p>
            <a:pPr marL="0" indent="0">
              <a:spcAft>
                <a:spcPts val="400"/>
              </a:spcAft>
              <a:buNone/>
            </a:pPr>
            <a:r>
              <a:rPr lang="en-US" sz="500" dirty="0">
                <a:solidFill>
                  <a:srgbClr val="000000"/>
                </a:solidFill>
                <a:latin typeface="Calibri" pitchFamily="34" charset="0"/>
                <a:ea typeface="Calibri" pitchFamily="34" charset="-122"/>
                <a:cs typeface="Calibri" pitchFamily="34" charset="-120"/>
              </a:rPr>
              <a:t> </a:t>
            </a:r>
            <a:endParaRPr lang="en-US" sz="1250" dirty="0"/>
          </a:p>
          <a:p>
            <a:pPr marL="0" indent="0">
              <a:spcAft>
                <a:spcPts val="400"/>
              </a:spcAft>
              <a:buNone/>
            </a:pPr>
            <a:r>
              <a:rPr lang="en-US" sz="1150" dirty="0">
                <a:solidFill>
                  <a:srgbClr val="1B2430"/>
                </a:solidFill>
                <a:latin typeface="Calibri" pitchFamily="34" charset="0"/>
                <a:ea typeface="Calibri" pitchFamily="34" charset="-122"/>
                <a:cs typeface="Calibri" pitchFamily="34" charset="-120"/>
              </a:rPr>
              <a:t>Two directions survive, and they are perpendicular — which is guaranteed, because a covariance matrix is always symmetric. Two positively correlated features, and the 45° diagonal is the direction that stretches most.</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457200" y="384048"/>
            <a:ext cx="118872" cy="118872"/>
          </a:xfrm>
          <a:prstGeom prst="ellipse">
            <a:avLst/>
          </a:prstGeom>
          <a:solidFill>
            <a:srgbClr val="FFC72C"/>
          </a:solidFill>
          <a:ln w="12700">
            <a:solidFill>
              <a:srgbClr val="FFC72C"/>
            </a:solidFill>
            <a:prstDash val="solid"/>
          </a:ln>
        </p:spPr>
        <p:txBody>
          <a:bodyPr/>
          <a:lstStyle/>
          <a:p>
            <a:endParaRPr lang="en-US"/>
          </a:p>
        </p:txBody>
      </p:sp>
      <p:sp>
        <p:nvSpPr>
          <p:cNvPr id="3" name="Text 1"/>
          <p:cNvSpPr txBox="1"/>
          <p:nvPr/>
        </p:nvSpPr>
        <p:spPr>
          <a:xfrm>
            <a:off x="658368" y="329184"/>
            <a:ext cx="8028432" cy="237744"/>
          </a:xfrm>
          <a:prstGeom prst="rect">
            <a:avLst/>
          </a:prstGeom>
          <a:noFill/>
          <a:ln/>
        </p:spPr>
        <p:txBody>
          <a:bodyPr wrap="square" lIns="0" tIns="0" rIns="0" bIns="0" rtlCol="0" anchor="ctr"/>
          <a:lstStyle/>
          <a:p>
            <a:pPr marL="0" indent="0">
              <a:buNone/>
            </a:pPr>
            <a:r>
              <a:rPr lang="en-US" sz="1050" b="1" kern="0" spc="140" dirty="0">
                <a:solidFill>
                  <a:srgbClr val="5A6472"/>
                </a:solidFill>
                <a:latin typeface="Calibri" pitchFamily="34" charset="0"/>
                <a:ea typeface="Calibri" pitchFamily="34" charset="-122"/>
                <a:cs typeface="Calibri" pitchFamily="34" charset="-120"/>
              </a:rPr>
              <a:t>CONCEPT</a:t>
            </a:r>
            <a:endParaRPr lang="en-US" sz="1050" dirty="0"/>
          </a:p>
        </p:txBody>
      </p:sp>
      <p:sp>
        <p:nvSpPr>
          <p:cNvPr id="4" name="Text 2"/>
          <p:cNvSpPr txBox="1"/>
          <p:nvPr/>
        </p:nvSpPr>
        <p:spPr>
          <a:xfrm>
            <a:off x="457200" y="603504"/>
            <a:ext cx="8229600" cy="56692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Variance along a direction</a:t>
            </a:r>
            <a:endParaRPr lang="en-US" sz="3000" dirty="0"/>
          </a:p>
        </p:txBody>
      </p:sp>
      <p:sp>
        <p:nvSpPr>
          <p:cNvPr id="5" name="Text 3"/>
          <p:cNvSpPr txBox="1"/>
          <p:nvPr/>
        </p:nvSpPr>
        <p:spPr>
          <a:xfrm>
            <a:off x="457200" y="1152144"/>
            <a:ext cx="8229600" cy="384048"/>
          </a:xfrm>
          <a:prstGeom prst="rect">
            <a:avLst/>
          </a:prstGeom>
          <a:noFill/>
          <a:ln/>
        </p:spPr>
        <p:txBody>
          <a:bodyPr wrap="square" lIns="0" tIns="0" rIns="0" bIns="0" rtlCol="0" anchor="ctr"/>
          <a:lstStyle/>
          <a:p>
            <a:pPr marL="0" indent="0">
              <a:buNone/>
            </a:pPr>
            <a:r>
              <a:rPr lang="en-US" sz="1250" b="1" dirty="0">
                <a:solidFill>
                  <a:srgbClr val="AEBBCE"/>
                </a:solidFill>
                <a:latin typeface="Calibri" pitchFamily="34" charset="0"/>
                <a:ea typeface="Calibri" pitchFamily="34" charset="-122"/>
                <a:cs typeface="Calibri" pitchFamily="34" charset="-120"/>
              </a:rPr>
              <a:t>C</a:t>
            </a:r>
            <a:r>
              <a:rPr lang="en-US" sz="1250" dirty="0">
                <a:solidFill>
                  <a:srgbClr val="AEBBCE"/>
                </a:solidFill>
                <a:latin typeface="Calibri" pitchFamily="34" charset="0"/>
                <a:ea typeface="Calibri" pitchFamily="34" charset="-122"/>
                <a:cs typeface="Calibri" pitchFamily="34" charset="-120"/>
              </a:rPr>
              <a:t> is the covariance matrix of the data. Project the data onto a unit direction w, and the variance you keep is exactly </a:t>
            </a:r>
            <a:r>
              <a:rPr lang="en-US" sz="1250" dirty="0" err="1">
                <a:solidFill>
                  <a:srgbClr val="AEBBCE"/>
                </a:solidFill>
                <a:latin typeface="Calibri" pitchFamily="34" charset="0"/>
                <a:ea typeface="Calibri" pitchFamily="34" charset="-122"/>
                <a:cs typeface="Calibri" pitchFamily="34" charset="-120"/>
              </a:rPr>
              <a:t>wᵀ</a:t>
            </a:r>
            <a:r>
              <a:rPr lang="en-US" sz="1250" b="1" dirty="0" err="1">
                <a:solidFill>
                  <a:srgbClr val="AEBBCE"/>
                </a:solidFill>
                <a:latin typeface="Calibri" pitchFamily="34" charset="0"/>
                <a:ea typeface="Calibri" pitchFamily="34" charset="-122"/>
                <a:cs typeface="Calibri" pitchFamily="34" charset="-120"/>
              </a:rPr>
              <a:t>C</a:t>
            </a:r>
            <a:r>
              <a:rPr lang="en-US" sz="1250" dirty="0" err="1">
                <a:solidFill>
                  <a:srgbClr val="AEBBCE"/>
                </a:solidFill>
                <a:latin typeface="Calibri" pitchFamily="34" charset="0"/>
                <a:ea typeface="Calibri" pitchFamily="34" charset="-122"/>
                <a:cs typeface="Calibri" pitchFamily="34" charset="-120"/>
              </a:rPr>
              <a:t>w</a:t>
            </a:r>
            <a:r>
              <a:rPr lang="en-US" sz="1250" dirty="0">
                <a:solidFill>
                  <a:srgbClr val="AEBBCE"/>
                </a:solidFill>
                <a:latin typeface="Calibri" pitchFamily="34" charset="0"/>
                <a:ea typeface="Calibri" pitchFamily="34" charset="-122"/>
                <a:cs typeface="Calibri" pitchFamily="34" charset="-120"/>
              </a:rPr>
              <a:t>.</a:t>
            </a:r>
            <a:endParaRPr lang="en-US" sz="1250" dirty="0"/>
          </a:p>
        </p:txBody>
      </p:sp>
      <p:sp>
        <p:nvSpPr>
          <p:cNvPr id="6" name="Shape 4"/>
          <p:cNvSpPr/>
          <p:nvPr/>
        </p:nvSpPr>
        <p:spPr>
          <a:xfrm>
            <a:off x="457200" y="1645920"/>
            <a:ext cx="8229600" cy="694944"/>
          </a:xfrm>
          <a:prstGeom prst="roundRect">
            <a:avLst>
              <a:gd name="adj" fmla="val 5263"/>
            </a:avLst>
          </a:prstGeom>
          <a:solidFill>
            <a:srgbClr val="D8DFE8"/>
          </a:solidFill>
          <a:ln w="9525">
            <a:solidFill>
              <a:srgbClr val="FFC72C"/>
            </a:solidFill>
            <a:prstDash val="solid"/>
          </a:ln>
        </p:spPr>
        <p:txBody>
          <a:bodyPr/>
          <a:lstStyle/>
          <a:p>
            <a:endParaRPr lang="en-US"/>
          </a:p>
        </p:txBody>
      </p:sp>
      <p:sp>
        <p:nvSpPr>
          <p:cNvPr id="7" name="Text 5"/>
          <p:cNvSpPr txBox="1"/>
          <p:nvPr/>
        </p:nvSpPr>
        <p:spPr>
          <a:xfrm>
            <a:off x="685800" y="1645920"/>
            <a:ext cx="2377440" cy="694944"/>
          </a:xfrm>
          <a:prstGeom prst="rect">
            <a:avLst/>
          </a:prstGeom>
          <a:noFill/>
          <a:ln/>
        </p:spPr>
        <p:txBody>
          <a:bodyPr wrap="square" lIns="0" tIns="0" rIns="0" bIns="0" rtlCol="0" anchor="ctr"/>
          <a:lstStyle/>
          <a:p>
            <a:pPr marL="0" indent="0">
              <a:buNone/>
            </a:pPr>
            <a:r>
              <a:rPr lang="en-US" sz="1400" dirty="0">
                <a:solidFill>
                  <a:srgbClr val="1A5FB4"/>
                </a:solidFill>
                <a:latin typeface="Cambria" pitchFamily="34" charset="0"/>
                <a:ea typeface="Cambria" pitchFamily="34" charset="-122"/>
                <a:cs typeface="Cambria" pitchFamily="34" charset="-120"/>
              </a:rPr>
              <a:t>w = (1, 1)/√2</a:t>
            </a:r>
            <a:endParaRPr lang="en-US" sz="1400" dirty="0"/>
          </a:p>
        </p:txBody>
      </p:sp>
      <p:sp>
        <p:nvSpPr>
          <p:cNvPr id="8" name="Text 6"/>
          <p:cNvSpPr txBox="1"/>
          <p:nvPr/>
        </p:nvSpPr>
        <p:spPr>
          <a:xfrm>
            <a:off x="3108960" y="1645920"/>
            <a:ext cx="640080" cy="694944"/>
          </a:xfrm>
          <a:prstGeom prst="rect">
            <a:avLst/>
          </a:prstGeom>
          <a:noFill/>
          <a:ln/>
        </p:spPr>
        <p:txBody>
          <a:bodyPr wrap="square" lIns="0" tIns="0" rIns="0" bIns="0" rtlCol="0" anchor="ctr"/>
          <a:lstStyle/>
          <a:p>
            <a:pPr marL="0" indent="0" algn="ctr">
              <a:buNone/>
            </a:pPr>
            <a:r>
              <a:rPr lang="en-US" sz="2200" b="1" dirty="0">
                <a:solidFill>
                  <a:srgbClr val="12233F"/>
                </a:solidFill>
                <a:latin typeface="Cambria" pitchFamily="34" charset="0"/>
                <a:ea typeface="Cambria" pitchFamily="34" charset="-122"/>
                <a:cs typeface="Cambria" pitchFamily="34" charset="-120"/>
              </a:rPr>
              <a:t>4</a:t>
            </a:r>
            <a:endParaRPr lang="en-US" sz="2200" dirty="0"/>
          </a:p>
        </p:txBody>
      </p:sp>
      <p:sp>
        <p:nvSpPr>
          <p:cNvPr id="9" name="Text 7"/>
          <p:cNvSpPr txBox="1"/>
          <p:nvPr/>
        </p:nvSpPr>
        <p:spPr>
          <a:xfrm>
            <a:off x="3886200" y="1645920"/>
            <a:ext cx="4572000" cy="694944"/>
          </a:xfrm>
          <a:prstGeom prst="rect">
            <a:avLst/>
          </a:prstGeom>
          <a:noFill/>
          <a:ln/>
        </p:spPr>
        <p:txBody>
          <a:bodyPr wrap="square" lIns="0" tIns="0" rIns="0" bIns="0" rtlCol="0" anchor="ctr"/>
          <a:lstStyle/>
          <a:p>
            <a:pPr marL="0" indent="0">
              <a:buNone/>
            </a:pPr>
            <a:r>
              <a:rPr lang="en-US" sz="1200" dirty="0">
                <a:solidFill>
                  <a:srgbClr val="1B2430"/>
                </a:solidFill>
                <a:latin typeface="Calibri" pitchFamily="34" charset="0"/>
                <a:ea typeface="Calibri" pitchFamily="34" charset="-122"/>
                <a:cs typeface="Calibri" pitchFamily="34" charset="-120"/>
              </a:rPr>
              <a:t>the top eigenvector</a:t>
            </a:r>
            <a:endParaRPr lang="en-US" sz="1200" dirty="0"/>
          </a:p>
        </p:txBody>
      </p:sp>
      <p:sp>
        <p:nvSpPr>
          <p:cNvPr id="10" name="Shape 8"/>
          <p:cNvSpPr/>
          <p:nvPr/>
        </p:nvSpPr>
        <p:spPr>
          <a:xfrm>
            <a:off x="457200" y="2432304"/>
            <a:ext cx="8229600" cy="694944"/>
          </a:xfrm>
          <a:prstGeom prst="roundRect">
            <a:avLst>
              <a:gd name="adj" fmla="val 5263"/>
            </a:avLst>
          </a:prstGeom>
          <a:solidFill>
            <a:srgbClr val="F1F4F8"/>
          </a:solidFill>
          <a:ln w="9525">
            <a:solidFill>
              <a:srgbClr val="D8DFE8"/>
            </a:solidFill>
            <a:prstDash val="solid"/>
          </a:ln>
        </p:spPr>
        <p:txBody>
          <a:bodyPr/>
          <a:lstStyle/>
          <a:p>
            <a:endParaRPr lang="en-US"/>
          </a:p>
        </p:txBody>
      </p:sp>
      <p:sp>
        <p:nvSpPr>
          <p:cNvPr id="11" name="Text 9"/>
          <p:cNvSpPr txBox="1"/>
          <p:nvPr/>
        </p:nvSpPr>
        <p:spPr>
          <a:xfrm>
            <a:off x="685800" y="2432304"/>
            <a:ext cx="2377440" cy="694944"/>
          </a:xfrm>
          <a:prstGeom prst="rect">
            <a:avLst/>
          </a:prstGeom>
          <a:noFill/>
          <a:ln/>
        </p:spPr>
        <p:txBody>
          <a:bodyPr wrap="square" lIns="0" tIns="0" rIns="0" bIns="0" rtlCol="0" anchor="ctr"/>
          <a:lstStyle/>
          <a:p>
            <a:pPr marL="0" indent="0">
              <a:buNone/>
            </a:pPr>
            <a:r>
              <a:rPr lang="en-US" sz="1400" dirty="0">
                <a:solidFill>
                  <a:srgbClr val="1A5FB4"/>
                </a:solidFill>
                <a:latin typeface="Cambria" pitchFamily="34" charset="0"/>
                <a:ea typeface="Cambria" pitchFamily="34" charset="-122"/>
                <a:cs typeface="Cambria" pitchFamily="34" charset="-120"/>
              </a:rPr>
              <a:t>w = (1, 0)</a:t>
            </a:r>
            <a:endParaRPr lang="en-US" sz="1400" dirty="0"/>
          </a:p>
        </p:txBody>
      </p:sp>
      <p:sp>
        <p:nvSpPr>
          <p:cNvPr id="12" name="Text 10"/>
          <p:cNvSpPr txBox="1"/>
          <p:nvPr/>
        </p:nvSpPr>
        <p:spPr>
          <a:xfrm>
            <a:off x="3108960" y="2432304"/>
            <a:ext cx="640080" cy="694944"/>
          </a:xfrm>
          <a:prstGeom prst="rect">
            <a:avLst/>
          </a:prstGeom>
          <a:noFill/>
          <a:ln/>
        </p:spPr>
        <p:txBody>
          <a:bodyPr wrap="square" lIns="0" tIns="0" rIns="0" bIns="0" rtlCol="0" anchor="ctr"/>
          <a:lstStyle/>
          <a:p>
            <a:pPr marL="0" indent="0" algn="ctr">
              <a:buNone/>
            </a:pPr>
            <a:r>
              <a:rPr lang="en-US" sz="2200" b="1" dirty="0">
                <a:solidFill>
                  <a:srgbClr val="12233F"/>
                </a:solidFill>
                <a:latin typeface="Cambria" pitchFamily="34" charset="0"/>
                <a:ea typeface="Cambria" pitchFamily="34" charset="-122"/>
                <a:cs typeface="Cambria" pitchFamily="34" charset="-120"/>
              </a:rPr>
              <a:t>3</a:t>
            </a:r>
            <a:endParaRPr lang="en-US" sz="2200" dirty="0"/>
          </a:p>
        </p:txBody>
      </p:sp>
      <p:sp>
        <p:nvSpPr>
          <p:cNvPr id="13" name="Text 11"/>
          <p:cNvSpPr txBox="1"/>
          <p:nvPr/>
        </p:nvSpPr>
        <p:spPr>
          <a:xfrm>
            <a:off x="3886200" y="2432304"/>
            <a:ext cx="4572000" cy="694944"/>
          </a:xfrm>
          <a:prstGeom prst="rect">
            <a:avLst/>
          </a:prstGeom>
          <a:noFill/>
          <a:ln/>
        </p:spPr>
        <p:txBody>
          <a:bodyPr wrap="square" lIns="0" tIns="0" rIns="0" bIns="0" rtlCol="0" anchor="ctr"/>
          <a:lstStyle/>
          <a:p>
            <a:pPr marL="0" indent="0">
              <a:buNone/>
            </a:pPr>
            <a:r>
              <a:rPr lang="en-US" sz="1200" dirty="0">
                <a:solidFill>
                  <a:srgbClr val="1B2430"/>
                </a:solidFill>
                <a:latin typeface="Calibri" pitchFamily="34" charset="0"/>
                <a:ea typeface="Calibri" pitchFamily="34" charset="-122"/>
                <a:cs typeface="Calibri" pitchFamily="34" charset="-120"/>
              </a:rPr>
              <a:t>a raw feature axis</a:t>
            </a:r>
            <a:endParaRPr lang="en-US" sz="1200" dirty="0"/>
          </a:p>
        </p:txBody>
      </p:sp>
      <p:sp>
        <p:nvSpPr>
          <p:cNvPr id="14" name="Shape 12"/>
          <p:cNvSpPr/>
          <p:nvPr/>
        </p:nvSpPr>
        <p:spPr>
          <a:xfrm>
            <a:off x="457200" y="3218688"/>
            <a:ext cx="8229600" cy="694944"/>
          </a:xfrm>
          <a:prstGeom prst="roundRect">
            <a:avLst>
              <a:gd name="adj" fmla="val 5263"/>
            </a:avLst>
          </a:prstGeom>
          <a:solidFill>
            <a:srgbClr val="F1F4F8"/>
          </a:solidFill>
          <a:ln w="9525">
            <a:solidFill>
              <a:srgbClr val="D8DFE8"/>
            </a:solidFill>
            <a:prstDash val="solid"/>
          </a:ln>
        </p:spPr>
        <p:txBody>
          <a:bodyPr/>
          <a:lstStyle/>
          <a:p>
            <a:endParaRPr lang="en-US"/>
          </a:p>
        </p:txBody>
      </p:sp>
      <p:sp>
        <p:nvSpPr>
          <p:cNvPr id="15" name="Text 13"/>
          <p:cNvSpPr txBox="1"/>
          <p:nvPr/>
        </p:nvSpPr>
        <p:spPr>
          <a:xfrm>
            <a:off x="685800" y="3218688"/>
            <a:ext cx="2377440" cy="694944"/>
          </a:xfrm>
          <a:prstGeom prst="rect">
            <a:avLst/>
          </a:prstGeom>
          <a:noFill/>
          <a:ln/>
        </p:spPr>
        <p:txBody>
          <a:bodyPr wrap="square" lIns="0" tIns="0" rIns="0" bIns="0" rtlCol="0" anchor="ctr"/>
          <a:lstStyle/>
          <a:p>
            <a:pPr marL="0" indent="0">
              <a:buNone/>
            </a:pPr>
            <a:r>
              <a:rPr lang="en-US" sz="1400" dirty="0">
                <a:solidFill>
                  <a:srgbClr val="1A5FB4"/>
                </a:solidFill>
                <a:latin typeface="Cambria" pitchFamily="34" charset="0"/>
                <a:ea typeface="Cambria" pitchFamily="34" charset="-122"/>
                <a:cs typeface="Cambria" pitchFamily="34" charset="-120"/>
              </a:rPr>
              <a:t>w = (1, −1)/√2</a:t>
            </a:r>
            <a:endParaRPr lang="en-US" sz="1400" dirty="0"/>
          </a:p>
        </p:txBody>
      </p:sp>
      <p:sp>
        <p:nvSpPr>
          <p:cNvPr id="16" name="Text 14"/>
          <p:cNvSpPr txBox="1"/>
          <p:nvPr/>
        </p:nvSpPr>
        <p:spPr>
          <a:xfrm>
            <a:off x="3108960" y="3218688"/>
            <a:ext cx="640080" cy="694944"/>
          </a:xfrm>
          <a:prstGeom prst="rect">
            <a:avLst/>
          </a:prstGeom>
          <a:noFill/>
          <a:ln/>
        </p:spPr>
        <p:txBody>
          <a:bodyPr wrap="square" lIns="0" tIns="0" rIns="0" bIns="0" rtlCol="0" anchor="ctr"/>
          <a:lstStyle/>
          <a:p>
            <a:pPr marL="0" indent="0" algn="ctr">
              <a:buNone/>
            </a:pPr>
            <a:r>
              <a:rPr lang="en-US" sz="2200" b="1" dirty="0">
                <a:solidFill>
                  <a:srgbClr val="12233F"/>
                </a:solidFill>
                <a:latin typeface="Cambria" pitchFamily="34" charset="0"/>
                <a:ea typeface="Cambria" pitchFamily="34" charset="-122"/>
                <a:cs typeface="Cambria" pitchFamily="34" charset="-120"/>
              </a:rPr>
              <a:t>2</a:t>
            </a:r>
            <a:endParaRPr lang="en-US" sz="2200" dirty="0"/>
          </a:p>
        </p:txBody>
      </p:sp>
      <p:sp>
        <p:nvSpPr>
          <p:cNvPr id="17" name="Text 15"/>
          <p:cNvSpPr txBox="1"/>
          <p:nvPr/>
        </p:nvSpPr>
        <p:spPr>
          <a:xfrm>
            <a:off x="3886200" y="3218688"/>
            <a:ext cx="4572000" cy="694944"/>
          </a:xfrm>
          <a:prstGeom prst="rect">
            <a:avLst/>
          </a:prstGeom>
          <a:noFill/>
          <a:ln/>
        </p:spPr>
        <p:txBody>
          <a:bodyPr wrap="square" lIns="0" tIns="0" rIns="0" bIns="0" rtlCol="0" anchor="ctr"/>
          <a:lstStyle/>
          <a:p>
            <a:pPr marL="0" indent="0">
              <a:buNone/>
            </a:pPr>
            <a:r>
              <a:rPr lang="en-US" sz="1200" dirty="0">
                <a:solidFill>
                  <a:srgbClr val="1B2430"/>
                </a:solidFill>
                <a:latin typeface="Calibri" pitchFamily="34" charset="0"/>
                <a:ea typeface="Calibri" pitchFamily="34" charset="-122"/>
                <a:cs typeface="Calibri" pitchFamily="34" charset="-120"/>
              </a:rPr>
              <a:t>the second eigenvector</a:t>
            </a:r>
            <a:endParaRPr lang="en-US" sz="1200" dirty="0"/>
          </a:p>
        </p:txBody>
      </p:sp>
      <p:sp>
        <p:nvSpPr>
          <p:cNvPr id="18" name="Shape 16"/>
          <p:cNvSpPr/>
          <p:nvPr/>
        </p:nvSpPr>
        <p:spPr>
          <a:xfrm>
            <a:off x="457200" y="4206240"/>
            <a:ext cx="8229600" cy="530352"/>
          </a:xfrm>
          <a:prstGeom prst="roundRect">
            <a:avLst>
              <a:gd name="adj" fmla="val 6897"/>
            </a:avLst>
          </a:prstGeom>
          <a:solidFill>
            <a:srgbClr val="E8F4ED"/>
          </a:solidFill>
          <a:ln w="12700">
            <a:solidFill>
              <a:srgbClr val="1B7A46"/>
            </a:solidFill>
            <a:prstDash val="solid"/>
          </a:ln>
        </p:spPr>
        <p:txBody>
          <a:bodyPr/>
          <a:lstStyle/>
          <a:p>
            <a:endParaRPr lang="en-US"/>
          </a:p>
        </p:txBody>
      </p:sp>
      <p:sp>
        <p:nvSpPr>
          <p:cNvPr id="19" name="Text 17"/>
          <p:cNvSpPr txBox="1"/>
          <p:nvPr/>
        </p:nvSpPr>
        <p:spPr>
          <a:xfrm>
            <a:off x="640080" y="4206240"/>
            <a:ext cx="7863840" cy="530352"/>
          </a:xfrm>
          <a:prstGeom prst="rect">
            <a:avLst/>
          </a:prstGeom>
          <a:noFill/>
          <a:ln/>
        </p:spPr>
        <p:txBody>
          <a:bodyPr wrap="square" lIns="0" tIns="0" rIns="0" bIns="0" rtlCol="0" anchor="ctr"/>
          <a:lstStyle/>
          <a:p>
            <a:pPr marL="0" indent="0">
              <a:buNone/>
            </a:pPr>
            <a:r>
              <a:rPr lang="en-US" sz="1200" b="1" dirty="0">
                <a:solidFill>
                  <a:srgbClr val="1B7A46"/>
                </a:solidFill>
                <a:latin typeface="Calibri" pitchFamily="34" charset="0"/>
                <a:ea typeface="Calibri" pitchFamily="34" charset="-122"/>
                <a:cs typeface="Calibri" pitchFamily="34" charset="-120"/>
              </a:rPr>
              <a:t>The eigenvector beats every raw feature axis. That, in three lines of arithmetic, is the entire motivation for PCA.</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457200" y="384048"/>
            <a:ext cx="118872" cy="118872"/>
          </a:xfrm>
          <a:prstGeom prst="ellipse">
            <a:avLst/>
          </a:prstGeom>
          <a:solidFill>
            <a:srgbClr val="FFC72C"/>
          </a:solidFill>
          <a:ln w="12700">
            <a:solidFill>
              <a:srgbClr val="FFC72C"/>
            </a:solidFill>
            <a:prstDash val="solid"/>
          </a:ln>
        </p:spPr>
        <p:txBody>
          <a:bodyPr/>
          <a:lstStyle/>
          <a:p>
            <a:endParaRPr lang="en-US"/>
          </a:p>
        </p:txBody>
      </p:sp>
      <p:sp>
        <p:nvSpPr>
          <p:cNvPr id="3" name="Text 1"/>
          <p:cNvSpPr txBox="1"/>
          <p:nvPr/>
        </p:nvSpPr>
        <p:spPr>
          <a:xfrm>
            <a:off x="658368" y="329184"/>
            <a:ext cx="8028432" cy="237744"/>
          </a:xfrm>
          <a:prstGeom prst="rect">
            <a:avLst/>
          </a:prstGeom>
          <a:noFill/>
          <a:ln/>
        </p:spPr>
        <p:txBody>
          <a:bodyPr wrap="square" lIns="0" tIns="0" rIns="0" bIns="0" rtlCol="0" anchor="ctr"/>
          <a:lstStyle/>
          <a:p>
            <a:pPr marL="0" indent="0">
              <a:buNone/>
            </a:pPr>
            <a:r>
              <a:rPr lang="en-US" sz="1050" b="1" kern="0" spc="140" dirty="0">
                <a:solidFill>
                  <a:srgbClr val="5A6472"/>
                </a:solidFill>
                <a:latin typeface="Calibri" pitchFamily="34" charset="0"/>
                <a:ea typeface="Calibri" pitchFamily="34" charset="-122"/>
                <a:cs typeface="Calibri" pitchFamily="34" charset="-120"/>
              </a:rPr>
              <a:t>CONCEPT</a:t>
            </a:r>
            <a:endParaRPr lang="en-US" sz="1050" dirty="0"/>
          </a:p>
        </p:txBody>
      </p:sp>
      <p:sp>
        <p:nvSpPr>
          <p:cNvPr id="4" name="Text 2"/>
          <p:cNvSpPr txBox="1"/>
          <p:nvPr/>
        </p:nvSpPr>
        <p:spPr>
          <a:xfrm>
            <a:off x="457200" y="603504"/>
            <a:ext cx="8229600" cy="56692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PCA as a constrained optimization</a:t>
            </a:r>
            <a:endParaRPr lang="en-US" sz="3000" dirty="0"/>
          </a:p>
        </p:txBody>
      </p:sp>
      <p:sp>
        <p:nvSpPr>
          <p:cNvPr id="5" name="Text 3"/>
          <p:cNvSpPr txBox="1"/>
          <p:nvPr/>
        </p:nvSpPr>
        <p:spPr>
          <a:xfrm>
            <a:off x="457200" y="1133856"/>
            <a:ext cx="8229600" cy="347472"/>
          </a:xfrm>
          <a:prstGeom prst="rect">
            <a:avLst/>
          </a:prstGeom>
          <a:noFill/>
          <a:ln/>
        </p:spPr>
        <p:txBody>
          <a:bodyPr wrap="square" lIns="0" tIns="0" rIns="0" bIns="0" rtlCol="0" anchor="ctr"/>
          <a:lstStyle/>
          <a:p>
            <a:pPr marL="0" indent="0">
              <a:buNone/>
            </a:pPr>
            <a:r>
              <a:rPr lang="en-US" sz="1200" dirty="0">
                <a:solidFill>
                  <a:srgbClr val="AEBBCE"/>
                </a:solidFill>
                <a:latin typeface="Calibri" pitchFamily="34" charset="0"/>
                <a:ea typeface="Calibri" pitchFamily="34" charset="-122"/>
                <a:cs typeface="Calibri" pitchFamily="34" charset="-120"/>
              </a:rPr>
              <a:t>Ask for the unit direction that keeps the most variance. Without the constraint you would just make w enormous.</a:t>
            </a:r>
            <a:endParaRPr lang="en-US" sz="1200" dirty="0"/>
          </a:p>
        </p:txBody>
      </p:sp>
      <p:sp>
        <p:nvSpPr>
          <p:cNvPr id="6" name="Shape 4"/>
          <p:cNvSpPr/>
          <p:nvPr/>
        </p:nvSpPr>
        <p:spPr>
          <a:xfrm>
            <a:off x="457200" y="1536192"/>
            <a:ext cx="8229600" cy="548640"/>
          </a:xfrm>
          <a:prstGeom prst="roundRect">
            <a:avLst>
              <a:gd name="adj" fmla="val 6667"/>
            </a:avLst>
          </a:prstGeom>
          <a:solidFill>
            <a:srgbClr val="F1F4F8"/>
          </a:solidFill>
          <a:ln w="9525">
            <a:solidFill>
              <a:srgbClr val="D8DFE8"/>
            </a:solidFill>
            <a:prstDash val="solid"/>
          </a:ln>
        </p:spPr>
        <p:txBody>
          <a:bodyPr/>
          <a:lstStyle/>
          <a:p>
            <a:endParaRPr lang="en-US"/>
          </a:p>
        </p:txBody>
      </p:sp>
      <p:sp>
        <p:nvSpPr>
          <p:cNvPr id="7" name="Text 5"/>
          <p:cNvSpPr txBox="1"/>
          <p:nvPr/>
        </p:nvSpPr>
        <p:spPr>
          <a:xfrm>
            <a:off x="685800" y="1536192"/>
            <a:ext cx="5394960" cy="548640"/>
          </a:xfrm>
          <a:prstGeom prst="rect">
            <a:avLst/>
          </a:prstGeom>
          <a:noFill/>
          <a:ln/>
        </p:spPr>
        <p:txBody>
          <a:bodyPr wrap="square" lIns="0" tIns="0" rIns="0" bIns="0" rtlCol="0" anchor="ctr"/>
          <a:lstStyle/>
          <a:p>
            <a:pPr marL="0" indent="0">
              <a:buNone/>
            </a:pPr>
            <a:r>
              <a:rPr lang="en-US" sz="1450" dirty="0">
                <a:solidFill>
                  <a:srgbClr val="1A5FB4"/>
                </a:solidFill>
                <a:latin typeface="Cambria" pitchFamily="34" charset="0"/>
                <a:ea typeface="Cambria" pitchFamily="34" charset="-122"/>
                <a:cs typeface="Cambria" pitchFamily="34" charset="-120"/>
              </a:rPr>
              <a:t>maximize   wᵀ Σ w        subject to    wᵀ w = 1</a:t>
            </a:r>
            <a:endParaRPr lang="en-US" sz="1450" dirty="0"/>
          </a:p>
        </p:txBody>
      </p:sp>
      <p:sp>
        <p:nvSpPr>
          <p:cNvPr id="8" name="Text 6"/>
          <p:cNvSpPr txBox="1"/>
          <p:nvPr/>
        </p:nvSpPr>
        <p:spPr>
          <a:xfrm>
            <a:off x="6172200" y="1536192"/>
            <a:ext cx="2286000" cy="548640"/>
          </a:xfrm>
          <a:prstGeom prst="rect">
            <a:avLst/>
          </a:prstGeom>
          <a:noFill/>
          <a:ln/>
        </p:spPr>
        <p:txBody>
          <a:bodyPr wrap="square" lIns="0" tIns="0" rIns="0" bIns="0" rtlCol="0" anchor="ctr"/>
          <a:lstStyle/>
          <a:p>
            <a:pPr marL="0" indent="0" algn="r">
              <a:buNone/>
            </a:pPr>
            <a:r>
              <a:rPr lang="en-US" sz="1050" i="1" dirty="0">
                <a:solidFill>
                  <a:srgbClr val="5A6472"/>
                </a:solidFill>
                <a:latin typeface="Calibri" pitchFamily="34" charset="0"/>
                <a:ea typeface="Calibri" pitchFamily="34" charset="-122"/>
                <a:cs typeface="Calibri" pitchFamily="34" charset="-120"/>
              </a:rPr>
              <a:t>the problem</a:t>
            </a:r>
            <a:endParaRPr lang="en-US" sz="1050" dirty="0"/>
          </a:p>
        </p:txBody>
      </p:sp>
      <p:sp>
        <p:nvSpPr>
          <p:cNvPr id="9" name="Shape 7"/>
          <p:cNvSpPr/>
          <p:nvPr/>
        </p:nvSpPr>
        <p:spPr>
          <a:xfrm>
            <a:off x="457200" y="2157984"/>
            <a:ext cx="8229600" cy="548640"/>
          </a:xfrm>
          <a:prstGeom prst="roundRect">
            <a:avLst>
              <a:gd name="adj" fmla="val 6667"/>
            </a:avLst>
          </a:prstGeom>
          <a:solidFill>
            <a:srgbClr val="F1F4F8"/>
          </a:solidFill>
          <a:ln w="9525">
            <a:solidFill>
              <a:srgbClr val="D8DFE8"/>
            </a:solidFill>
            <a:prstDash val="solid"/>
          </a:ln>
        </p:spPr>
        <p:txBody>
          <a:bodyPr/>
          <a:lstStyle/>
          <a:p>
            <a:endParaRPr lang="en-US"/>
          </a:p>
        </p:txBody>
      </p:sp>
      <p:sp>
        <p:nvSpPr>
          <p:cNvPr id="10" name="Text 8"/>
          <p:cNvSpPr txBox="1"/>
          <p:nvPr/>
        </p:nvSpPr>
        <p:spPr>
          <a:xfrm>
            <a:off x="685800" y="2157984"/>
            <a:ext cx="5394960" cy="548640"/>
          </a:xfrm>
          <a:prstGeom prst="rect">
            <a:avLst/>
          </a:prstGeom>
          <a:noFill/>
          <a:ln/>
        </p:spPr>
        <p:txBody>
          <a:bodyPr wrap="square" lIns="0" tIns="0" rIns="0" bIns="0" rtlCol="0" anchor="ctr"/>
          <a:lstStyle/>
          <a:p>
            <a:pPr marL="0" indent="0">
              <a:buNone/>
            </a:pPr>
            <a:r>
              <a:rPr lang="en-US" sz="1450" dirty="0">
                <a:solidFill>
                  <a:srgbClr val="1A5FB4"/>
                </a:solidFill>
                <a:latin typeface="Cambria" pitchFamily="34" charset="0"/>
                <a:ea typeface="Cambria" pitchFamily="34" charset="-122"/>
                <a:cs typeface="Cambria" pitchFamily="34" charset="-120"/>
              </a:rPr>
              <a:t>ℒ(w, λ)  =  wᵀΣw  −  λ ( wᵀw − 1 )</a:t>
            </a:r>
            <a:endParaRPr lang="en-US" sz="1450" dirty="0"/>
          </a:p>
        </p:txBody>
      </p:sp>
      <p:sp>
        <p:nvSpPr>
          <p:cNvPr id="11" name="Text 9"/>
          <p:cNvSpPr txBox="1"/>
          <p:nvPr/>
        </p:nvSpPr>
        <p:spPr>
          <a:xfrm>
            <a:off x="6172200" y="2157984"/>
            <a:ext cx="2286000" cy="548640"/>
          </a:xfrm>
          <a:prstGeom prst="rect">
            <a:avLst/>
          </a:prstGeom>
          <a:noFill/>
          <a:ln/>
        </p:spPr>
        <p:txBody>
          <a:bodyPr wrap="square" lIns="0" tIns="0" rIns="0" bIns="0" rtlCol="0" anchor="ctr"/>
          <a:lstStyle/>
          <a:p>
            <a:pPr marL="0" indent="0" algn="r">
              <a:buNone/>
            </a:pPr>
            <a:r>
              <a:rPr lang="en-US" sz="1050" i="1" dirty="0">
                <a:solidFill>
                  <a:srgbClr val="5A6472"/>
                </a:solidFill>
                <a:latin typeface="Calibri" pitchFamily="34" charset="0"/>
                <a:ea typeface="Calibri" pitchFamily="34" charset="-122"/>
                <a:cs typeface="Calibri" pitchFamily="34" charset="-120"/>
              </a:rPr>
              <a:t>build the Lagrangian</a:t>
            </a:r>
            <a:endParaRPr lang="en-US" sz="1050" dirty="0"/>
          </a:p>
        </p:txBody>
      </p:sp>
      <p:sp>
        <p:nvSpPr>
          <p:cNvPr id="12" name="Shape 10"/>
          <p:cNvSpPr/>
          <p:nvPr/>
        </p:nvSpPr>
        <p:spPr>
          <a:xfrm>
            <a:off x="457200" y="2779776"/>
            <a:ext cx="8229600" cy="548640"/>
          </a:xfrm>
          <a:prstGeom prst="roundRect">
            <a:avLst>
              <a:gd name="adj" fmla="val 6667"/>
            </a:avLst>
          </a:prstGeom>
          <a:solidFill>
            <a:srgbClr val="F1F4F8"/>
          </a:solidFill>
          <a:ln w="9525">
            <a:solidFill>
              <a:srgbClr val="D8DFE8"/>
            </a:solidFill>
            <a:prstDash val="solid"/>
          </a:ln>
        </p:spPr>
        <p:txBody>
          <a:bodyPr/>
          <a:lstStyle/>
          <a:p>
            <a:endParaRPr lang="en-US"/>
          </a:p>
        </p:txBody>
      </p:sp>
      <p:sp>
        <p:nvSpPr>
          <p:cNvPr id="13" name="Text 11"/>
          <p:cNvSpPr txBox="1"/>
          <p:nvPr/>
        </p:nvSpPr>
        <p:spPr>
          <a:xfrm>
            <a:off x="685800" y="2779776"/>
            <a:ext cx="5394960" cy="548640"/>
          </a:xfrm>
          <a:prstGeom prst="rect">
            <a:avLst/>
          </a:prstGeom>
          <a:noFill/>
          <a:ln/>
        </p:spPr>
        <p:txBody>
          <a:bodyPr wrap="square" lIns="0" tIns="0" rIns="0" bIns="0" rtlCol="0" anchor="ctr"/>
          <a:lstStyle/>
          <a:p>
            <a:pPr marL="0" indent="0">
              <a:buNone/>
            </a:pPr>
            <a:r>
              <a:rPr lang="en-US" sz="1450" dirty="0">
                <a:solidFill>
                  <a:srgbClr val="1A5FB4"/>
                </a:solidFill>
                <a:latin typeface="Cambria" pitchFamily="34" charset="0"/>
                <a:ea typeface="Cambria" pitchFamily="34" charset="-122"/>
                <a:cs typeface="Cambria" pitchFamily="34" charset="-120"/>
              </a:rPr>
              <a:t>∇w ℒ  =  2Σw − 2λw  =  0</a:t>
            </a:r>
            <a:endParaRPr lang="en-US" sz="1450" dirty="0"/>
          </a:p>
        </p:txBody>
      </p:sp>
      <p:sp>
        <p:nvSpPr>
          <p:cNvPr id="14" name="Text 12"/>
          <p:cNvSpPr txBox="1"/>
          <p:nvPr/>
        </p:nvSpPr>
        <p:spPr>
          <a:xfrm>
            <a:off x="6172200" y="2779776"/>
            <a:ext cx="2286000" cy="548640"/>
          </a:xfrm>
          <a:prstGeom prst="rect">
            <a:avLst/>
          </a:prstGeom>
          <a:noFill/>
          <a:ln/>
        </p:spPr>
        <p:txBody>
          <a:bodyPr wrap="square" lIns="0" tIns="0" rIns="0" bIns="0" rtlCol="0" anchor="ctr"/>
          <a:lstStyle/>
          <a:p>
            <a:pPr marL="0" indent="0" algn="r">
              <a:buNone/>
            </a:pPr>
            <a:r>
              <a:rPr lang="en-US" sz="1050" i="1" dirty="0">
                <a:solidFill>
                  <a:srgbClr val="5A6472"/>
                </a:solidFill>
                <a:latin typeface="Calibri" pitchFamily="34" charset="0"/>
                <a:ea typeface="Calibri" pitchFamily="34" charset="-122"/>
                <a:cs typeface="Calibri" pitchFamily="34" charset="-120"/>
              </a:rPr>
              <a:t>stationarity</a:t>
            </a:r>
            <a:endParaRPr lang="en-US" sz="1050" dirty="0"/>
          </a:p>
        </p:txBody>
      </p:sp>
      <p:sp>
        <p:nvSpPr>
          <p:cNvPr id="15" name="Shape 13"/>
          <p:cNvSpPr/>
          <p:nvPr/>
        </p:nvSpPr>
        <p:spPr>
          <a:xfrm>
            <a:off x="457200" y="3401568"/>
            <a:ext cx="8229600" cy="548640"/>
          </a:xfrm>
          <a:prstGeom prst="roundRect">
            <a:avLst>
              <a:gd name="adj" fmla="val 6667"/>
            </a:avLst>
          </a:prstGeom>
          <a:solidFill>
            <a:srgbClr val="D8DFE8"/>
          </a:solidFill>
          <a:ln w="9525">
            <a:solidFill>
              <a:srgbClr val="FFC72C"/>
            </a:solidFill>
            <a:prstDash val="solid"/>
          </a:ln>
        </p:spPr>
        <p:txBody>
          <a:bodyPr/>
          <a:lstStyle/>
          <a:p>
            <a:endParaRPr lang="en-US"/>
          </a:p>
        </p:txBody>
      </p:sp>
      <p:sp>
        <p:nvSpPr>
          <p:cNvPr id="16" name="Text 14"/>
          <p:cNvSpPr txBox="1"/>
          <p:nvPr/>
        </p:nvSpPr>
        <p:spPr>
          <a:xfrm>
            <a:off x="685800" y="3401568"/>
            <a:ext cx="5394960" cy="548640"/>
          </a:xfrm>
          <a:prstGeom prst="rect">
            <a:avLst/>
          </a:prstGeom>
          <a:noFill/>
          <a:ln/>
        </p:spPr>
        <p:txBody>
          <a:bodyPr wrap="square" lIns="0" tIns="0" rIns="0" bIns="0" rtlCol="0" anchor="ctr"/>
          <a:lstStyle/>
          <a:p>
            <a:pPr marL="0" indent="0">
              <a:buNone/>
            </a:pPr>
            <a:r>
              <a:rPr lang="en-US" sz="1450" b="1" dirty="0">
                <a:solidFill>
                  <a:srgbClr val="12233F"/>
                </a:solidFill>
                <a:latin typeface="Cambria" pitchFamily="34" charset="0"/>
                <a:ea typeface="Cambria" pitchFamily="34" charset="-122"/>
                <a:cs typeface="Cambria" pitchFamily="34" charset="-120"/>
              </a:rPr>
              <a:t>Σ w  =  λ w</a:t>
            </a:r>
            <a:endParaRPr lang="en-US" sz="1450" dirty="0"/>
          </a:p>
        </p:txBody>
      </p:sp>
      <p:sp>
        <p:nvSpPr>
          <p:cNvPr id="17" name="Text 15"/>
          <p:cNvSpPr txBox="1"/>
          <p:nvPr/>
        </p:nvSpPr>
        <p:spPr>
          <a:xfrm>
            <a:off x="6172200" y="3401568"/>
            <a:ext cx="2286000" cy="548640"/>
          </a:xfrm>
          <a:prstGeom prst="rect">
            <a:avLst/>
          </a:prstGeom>
          <a:noFill/>
          <a:ln/>
        </p:spPr>
        <p:txBody>
          <a:bodyPr wrap="square" lIns="0" tIns="0" rIns="0" bIns="0" rtlCol="0" anchor="ctr"/>
          <a:lstStyle/>
          <a:p>
            <a:pPr marL="0" indent="0" algn="r">
              <a:buNone/>
            </a:pPr>
            <a:r>
              <a:rPr lang="en-US" sz="1050" i="1" dirty="0">
                <a:solidFill>
                  <a:srgbClr val="5A6472"/>
                </a:solidFill>
                <a:latin typeface="Calibri" pitchFamily="34" charset="0"/>
                <a:ea typeface="Calibri" pitchFamily="34" charset="-122"/>
                <a:cs typeface="Calibri" pitchFamily="34" charset="-120"/>
              </a:rPr>
              <a:t>… which is the eigenvector equation</a:t>
            </a:r>
            <a:endParaRPr lang="en-US" sz="1050" dirty="0"/>
          </a:p>
        </p:txBody>
      </p:sp>
      <p:sp>
        <p:nvSpPr>
          <p:cNvPr id="18" name="Shape 16"/>
          <p:cNvSpPr/>
          <p:nvPr/>
        </p:nvSpPr>
        <p:spPr>
          <a:xfrm>
            <a:off x="457200" y="4206240"/>
            <a:ext cx="8229600" cy="530352"/>
          </a:xfrm>
          <a:prstGeom prst="roundRect">
            <a:avLst>
              <a:gd name="adj" fmla="val 6897"/>
            </a:avLst>
          </a:prstGeom>
          <a:solidFill>
            <a:srgbClr val="E8F4ED"/>
          </a:solidFill>
          <a:ln w="12700">
            <a:solidFill>
              <a:srgbClr val="1B7A46"/>
            </a:solidFill>
            <a:prstDash val="solid"/>
          </a:ln>
        </p:spPr>
        <p:txBody>
          <a:bodyPr/>
          <a:lstStyle/>
          <a:p>
            <a:endParaRPr lang="en-US"/>
          </a:p>
        </p:txBody>
      </p:sp>
      <p:sp>
        <p:nvSpPr>
          <p:cNvPr id="19" name="Text 17"/>
          <p:cNvSpPr txBox="1"/>
          <p:nvPr/>
        </p:nvSpPr>
        <p:spPr>
          <a:xfrm>
            <a:off x="640080" y="4206240"/>
            <a:ext cx="7863840" cy="530352"/>
          </a:xfrm>
          <a:prstGeom prst="rect">
            <a:avLst/>
          </a:prstGeom>
          <a:noFill/>
          <a:ln/>
        </p:spPr>
        <p:txBody>
          <a:bodyPr wrap="square" lIns="0" tIns="0" rIns="0" bIns="0" rtlCol="0" anchor="ctr"/>
          <a:lstStyle/>
          <a:p>
            <a:pPr marL="0" indent="0">
              <a:buNone/>
            </a:pPr>
            <a:r>
              <a:rPr lang="en-US" sz="1200" b="1" dirty="0">
                <a:solidFill>
                  <a:srgbClr val="1B7A46"/>
                </a:solidFill>
                <a:latin typeface="Calibri" pitchFamily="34" charset="0"/>
                <a:ea typeface="Calibri" pitchFamily="34" charset="-122"/>
                <a:cs typeface="Calibri" pitchFamily="34" charset="-120"/>
              </a:rPr>
              <a:t>We never assumed eigenvectors mattered. Stationarity handed them to us — exactly the move we used for Ridge and LASSO.</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457200" y="384048"/>
            <a:ext cx="118872" cy="118872"/>
          </a:xfrm>
          <a:prstGeom prst="ellipse">
            <a:avLst/>
          </a:prstGeom>
          <a:solidFill>
            <a:srgbClr val="FFC72C"/>
          </a:solidFill>
          <a:ln w="12700">
            <a:solidFill>
              <a:srgbClr val="FFC72C"/>
            </a:solidFill>
            <a:prstDash val="solid"/>
          </a:ln>
        </p:spPr>
        <p:txBody>
          <a:bodyPr/>
          <a:lstStyle/>
          <a:p>
            <a:endParaRPr lang="en-US"/>
          </a:p>
        </p:txBody>
      </p:sp>
      <p:sp>
        <p:nvSpPr>
          <p:cNvPr id="3" name="Text 1"/>
          <p:cNvSpPr txBox="1"/>
          <p:nvPr/>
        </p:nvSpPr>
        <p:spPr>
          <a:xfrm>
            <a:off x="658368" y="329184"/>
            <a:ext cx="8028432" cy="237744"/>
          </a:xfrm>
          <a:prstGeom prst="rect">
            <a:avLst/>
          </a:prstGeom>
          <a:noFill/>
          <a:ln/>
        </p:spPr>
        <p:txBody>
          <a:bodyPr wrap="square" lIns="0" tIns="0" rIns="0" bIns="0" rtlCol="0" anchor="ctr"/>
          <a:lstStyle/>
          <a:p>
            <a:pPr marL="0" indent="0">
              <a:buNone/>
            </a:pPr>
            <a:r>
              <a:rPr lang="en-US" sz="1050" b="1" kern="0" spc="140" dirty="0">
                <a:solidFill>
                  <a:srgbClr val="5A6472"/>
                </a:solidFill>
                <a:latin typeface="Calibri" pitchFamily="34" charset="0"/>
                <a:ea typeface="Calibri" pitchFamily="34" charset="-122"/>
                <a:cs typeface="Calibri" pitchFamily="34" charset="-120"/>
              </a:rPr>
              <a:t>CONCEPT</a:t>
            </a:r>
            <a:endParaRPr lang="en-US" sz="1050" dirty="0"/>
          </a:p>
        </p:txBody>
      </p:sp>
      <p:sp>
        <p:nvSpPr>
          <p:cNvPr id="4" name="Text 2"/>
          <p:cNvSpPr txBox="1"/>
          <p:nvPr/>
        </p:nvSpPr>
        <p:spPr>
          <a:xfrm>
            <a:off x="457200" y="603504"/>
            <a:ext cx="8229600" cy="56692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The variance kept is the eigenvalue</a:t>
            </a:r>
            <a:endParaRPr lang="en-US" sz="3000" dirty="0"/>
          </a:p>
        </p:txBody>
      </p:sp>
      <p:sp>
        <p:nvSpPr>
          <p:cNvPr id="5" name="Shape 3"/>
          <p:cNvSpPr/>
          <p:nvPr/>
        </p:nvSpPr>
        <p:spPr>
          <a:xfrm>
            <a:off x="457200" y="1188720"/>
            <a:ext cx="8229600" cy="603504"/>
          </a:xfrm>
          <a:prstGeom prst="roundRect">
            <a:avLst>
              <a:gd name="adj" fmla="val 6061"/>
            </a:avLst>
          </a:prstGeom>
          <a:solidFill>
            <a:srgbClr val="F1F4F8"/>
          </a:solidFill>
          <a:ln w="9525">
            <a:solidFill>
              <a:srgbClr val="D8DFE8"/>
            </a:solidFill>
            <a:prstDash val="solid"/>
          </a:ln>
        </p:spPr>
        <p:txBody>
          <a:bodyPr/>
          <a:lstStyle/>
          <a:p>
            <a:endParaRPr lang="en-US"/>
          </a:p>
        </p:txBody>
      </p:sp>
      <p:sp>
        <p:nvSpPr>
          <p:cNvPr id="6" name="Text 4"/>
          <p:cNvSpPr txBox="1"/>
          <p:nvPr/>
        </p:nvSpPr>
        <p:spPr>
          <a:xfrm>
            <a:off x="685800" y="1188720"/>
            <a:ext cx="7772400" cy="603504"/>
          </a:xfrm>
          <a:prstGeom prst="rect">
            <a:avLst/>
          </a:prstGeom>
          <a:noFill/>
          <a:ln/>
        </p:spPr>
        <p:txBody>
          <a:bodyPr wrap="square" lIns="0" tIns="0" rIns="0" bIns="0" rtlCol="0" anchor="ctr"/>
          <a:lstStyle/>
          <a:p>
            <a:pPr marL="0" indent="0">
              <a:buNone/>
            </a:pPr>
            <a:r>
              <a:rPr lang="en-US" sz="1150" dirty="0">
                <a:solidFill>
                  <a:srgbClr val="1B2430"/>
                </a:solidFill>
                <a:latin typeface="Calibri" pitchFamily="34" charset="0"/>
                <a:ea typeface="Calibri" pitchFamily="34" charset="-122"/>
                <a:cs typeface="Calibri" pitchFamily="34" charset="-120"/>
              </a:rPr>
              <a:t>Substitute Σw = λw back into the objective:        </a:t>
            </a:r>
            <a:r>
              <a:rPr lang="en-US" sz="1400" dirty="0">
                <a:solidFill>
                  <a:srgbClr val="1A5FB4"/>
                </a:solidFill>
                <a:latin typeface="Cambria" pitchFamily="34" charset="0"/>
                <a:ea typeface="Cambria" pitchFamily="34" charset="-122"/>
                <a:cs typeface="Cambria" pitchFamily="34" charset="-120"/>
              </a:rPr>
              <a:t>wᵀΣw  =  wᵀ(λw)  =  λ ‖w‖²  =  λ</a:t>
            </a:r>
            <a:endParaRPr lang="en-US" sz="1150" dirty="0"/>
          </a:p>
        </p:txBody>
      </p:sp>
      <p:sp>
        <p:nvSpPr>
          <p:cNvPr id="7" name="Shape 5"/>
          <p:cNvSpPr/>
          <p:nvPr/>
        </p:nvSpPr>
        <p:spPr>
          <a:xfrm>
            <a:off x="457200" y="1901952"/>
            <a:ext cx="4206240" cy="2148840"/>
          </a:xfrm>
          <a:prstGeom prst="roundRect">
            <a:avLst>
              <a:gd name="adj" fmla="val 1702"/>
            </a:avLst>
          </a:prstGeom>
          <a:solidFill>
            <a:srgbClr val="F1F4F8"/>
          </a:solidFill>
          <a:ln w="9525">
            <a:solidFill>
              <a:srgbClr val="D8DFE8"/>
            </a:solidFill>
            <a:prstDash val="solid"/>
          </a:ln>
        </p:spPr>
        <p:txBody>
          <a:bodyPr/>
          <a:lstStyle/>
          <a:p>
            <a:endParaRPr lang="en-US"/>
          </a:p>
        </p:txBody>
      </p:sp>
      <p:sp>
        <p:nvSpPr>
          <p:cNvPr id="8" name="Text 6"/>
          <p:cNvSpPr txBox="1"/>
          <p:nvPr/>
        </p:nvSpPr>
        <p:spPr>
          <a:xfrm>
            <a:off x="640080" y="2066544"/>
            <a:ext cx="3840480" cy="1828800"/>
          </a:xfrm>
          <a:prstGeom prst="rect">
            <a:avLst/>
          </a:prstGeom>
          <a:noFill/>
          <a:ln/>
        </p:spPr>
        <p:txBody>
          <a:bodyPr wrap="square" lIns="0" tIns="0" rIns="0" bIns="0" rtlCol="0" anchor="ctr"/>
          <a:lstStyle/>
          <a:p>
            <a:pPr marL="0" indent="0">
              <a:spcAft>
                <a:spcPts val="500"/>
              </a:spcAft>
              <a:buNone/>
            </a:pPr>
            <a:r>
              <a:rPr lang="en-US" sz="1250" b="1" dirty="0">
                <a:solidFill>
                  <a:srgbClr val="1A5FB4"/>
                </a:solidFill>
                <a:latin typeface="Calibri" pitchFamily="34" charset="0"/>
                <a:ea typeface="Calibri" pitchFamily="34" charset="-122"/>
                <a:cs typeface="Calibri" pitchFamily="34" charset="-120"/>
              </a:rPr>
              <a:t>Everything else falls out for free</a:t>
            </a:r>
            <a:endParaRPr lang="en-US" sz="1250" dirty="0"/>
          </a:p>
          <a:p>
            <a:pPr marL="0" indent="0">
              <a:spcAft>
                <a:spcPts val="500"/>
              </a:spcAft>
              <a:buNone/>
            </a:pPr>
            <a:r>
              <a:rPr lang="en-US" sz="1150" dirty="0">
                <a:solidFill>
                  <a:srgbClr val="1B2430"/>
                </a:solidFill>
                <a:latin typeface="Calibri" pitchFamily="34" charset="0"/>
                <a:ea typeface="Calibri" pitchFamily="34" charset="-122"/>
                <a:cs typeface="Calibri" pitchFamily="34" charset="-120"/>
              </a:rPr>
              <a:t>Explained variance ratio:</a:t>
            </a:r>
            <a:endParaRPr lang="en-US" sz="1250" dirty="0"/>
          </a:p>
          <a:p>
            <a:pPr marL="0" indent="0">
              <a:spcAft>
                <a:spcPts val="500"/>
              </a:spcAft>
              <a:buNone/>
            </a:pPr>
            <a:r>
              <a:rPr lang="en-US" sz="1400" dirty="0">
                <a:solidFill>
                  <a:srgbClr val="1A5FB4"/>
                </a:solidFill>
                <a:latin typeface="Cambria" pitchFamily="34" charset="0"/>
                <a:ea typeface="Cambria" pitchFamily="34" charset="-122"/>
                <a:cs typeface="Cambria" pitchFamily="34" charset="-120"/>
              </a:rPr>
              <a:t>λⱼ / Σₖ λₖ</a:t>
            </a:r>
            <a:endParaRPr lang="en-US" sz="1250" dirty="0"/>
          </a:p>
          <a:p>
            <a:pPr marL="0" indent="0">
              <a:spcAft>
                <a:spcPts val="500"/>
              </a:spcAft>
              <a:buNone/>
            </a:pPr>
            <a:r>
              <a:rPr lang="en-US" sz="1100" dirty="0">
                <a:solidFill>
                  <a:srgbClr val="1B2430"/>
                </a:solidFill>
                <a:latin typeface="Calibri" pitchFamily="34" charset="0"/>
                <a:ea typeface="Calibri" pitchFamily="34" charset="-122"/>
                <a:cs typeface="Calibri" pitchFamily="34" charset="-120"/>
              </a:rPr>
              <a:t>Sort the eigenvalues largest to smallest, keep the top few, and you know exactly how much of the data you kept. That plot is called a scree plot.</a:t>
            </a:r>
            <a:endParaRPr lang="en-US" sz="1250" dirty="0"/>
          </a:p>
        </p:txBody>
      </p:sp>
      <p:sp>
        <p:nvSpPr>
          <p:cNvPr id="9" name="Shape 7"/>
          <p:cNvSpPr/>
          <p:nvPr/>
        </p:nvSpPr>
        <p:spPr>
          <a:xfrm>
            <a:off x="4892040" y="1901952"/>
            <a:ext cx="3794760" cy="2148840"/>
          </a:xfrm>
          <a:prstGeom prst="roundRect">
            <a:avLst>
              <a:gd name="adj" fmla="val 1702"/>
            </a:avLst>
          </a:prstGeom>
          <a:solidFill>
            <a:srgbClr val="F1F4F8"/>
          </a:solidFill>
          <a:ln w="9525">
            <a:solidFill>
              <a:srgbClr val="D8DFE8"/>
            </a:solidFill>
            <a:prstDash val="solid"/>
          </a:ln>
        </p:spPr>
        <p:txBody>
          <a:bodyPr/>
          <a:lstStyle/>
          <a:p>
            <a:endParaRPr lang="en-US"/>
          </a:p>
        </p:txBody>
      </p:sp>
      <p:sp>
        <p:nvSpPr>
          <p:cNvPr id="10" name="Text 8"/>
          <p:cNvSpPr txBox="1"/>
          <p:nvPr/>
        </p:nvSpPr>
        <p:spPr>
          <a:xfrm>
            <a:off x="5074920" y="2066544"/>
            <a:ext cx="3429000" cy="1828800"/>
          </a:xfrm>
          <a:prstGeom prst="rect">
            <a:avLst/>
          </a:prstGeom>
          <a:noFill/>
          <a:ln/>
        </p:spPr>
        <p:txBody>
          <a:bodyPr wrap="square" lIns="0" tIns="0" rIns="0" bIns="0" rtlCol="0" anchor="ctr"/>
          <a:lstStyle/>
          <a:p>
            <a:pPr marL="0" indent="0">
              <a:spcAft>
                <a:spcPts val="500"/>
              </a:spcAft>
              <a:buNone/>
            </a:pPr>
            <a:r>
              <a:rPr lang="en-US" sz="1250" b="1" dirty="0">
                <a:solidFill>
                  <a:srgbClr val="1A5FB4"/>
                </a:solidFill>
                <a:latin typeface="Calibri" pitchFamily="34" charset="0"/>
                <a:ea typeface="Calibri" pitchFamily="34" charset="-122"/>
                <a:cs typeface="Calibri" pitchFamily="34" charset="-120"/>
              </a:rPr>
              <a:t>The same thing, said backwards</a:t>
            </a:r>
            <a:endParaRPr lang="en-US" sz="1250" dirty="0"/>
          </a:p>
          <a:p>
            <a:pPr marL="0" indent="0">
              <a:spcAft>
                <a:spcPts val="500"/>
              </a:spcAft>
              <a:buNone/>
            </a:pPr>
            <a:r>
              <a:rPr lang="en-US" sz="1150" dirty="0">
                <a:solidFill>
                  <a:srgbClr val="1B2430"/>
                </a:solidFill>
                <a:latin typeface="Calibri" pitchFamily="34" charset="0"/>
                <a:ea typeface="Calibri" pitchFamily="34" charset="-122"/>
                <a:cs typeface="Calibri" pitchFamily="34" charset="-120"/>
              </a:rPr>
              <a:t>PCA equivalently minimizes the reconstruction error</a:t>
            </a:r>
            <a:endParaRPr lang="en-US" sz="1250" dirty="0"/>
          </a:p>
          <a:p>
            <a:pPr marL="0" indent="0">
              <a:spcAft>
                <a:spcPts val="500"/>
              </a:spcAft>
              <a:buNone/>
            </a:pPr>
            <a:r>
              <a:rPr lang="en-US" sz="1400" dirty="0">
                <a:solidFill>
                  <a:srgbClr val="1A5FB4"/>
                </a:solidFill>
                <a:latin typeface="Cambria" pitchFamily="34" charset="0"/>
                <a:ea typeface="Cambria" pitchFamily="34" charset="-122"/>
                <a:cs typeface="Cambria" pitchFamily="34" charset="-120"/>
              </a:rPr>
              <a:t>‖ X − XWWᵀ ‖²_F</a:t>
            </a:r>
            <a:endParaRPr lang="en-US" sz="1250" dirty="0"/>
          </a:p>
          <a:p>
            <a:pPr marL="0" indent="0">
              <a:spcAft>
                <a:spcPts val="500"/>
              </a:spcAft>
              <a:buNone/>
            </a:pPr>
            <a:r>
              <a:rPr lang="en-US" sz="1100" dirty="0">
                <a:solidFill>
                  <a:srgbClr val="1B2430"/>
                </a:solidFill>
                <a:latin typeface="Calibri" pitchFamily="34" charset="0"/>
                <a:ea typeface="Calibri" pitchFamily="34" charset="-122"/>
                <a:cs typeface="Calibri" pitchFamily="34" charset="-120"/>
              </a:rPr>
              <a:t>Keeping the most variance and losing the least information are not two goals. They are the same optimization written two ways.</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457200" y="384048"/>
            <a:ext cx="118872" cy="118872"/>
          </a:xfrm>
          <a:prstGeom prst="ellipse">
            <a:avLst/>
          </a:prstGeom>
          <a:solidFill>
            <a:srgbClr val="FFC72C"/>
          </a:solidFill>
          <a:ln w="12700">
            <a:solidFill>
              <a:srgbClr val="FFC72C"/>
            </a:solidFill>
            <a:prstDash val="solid"/>
          </a:ln>
        </p:spPr>
        <p:txBody>
          <a:bodyPr/>
          <a:lstStyle/>
          <a:p>
            <a:endParaRPr lang="en-US"/>
          </a:p>
        </p:txBody>
      </p:sp>
      <p:sp>
        <p:nvSpPr>
          <p:cNvPr id="3" name="Text 1"/>
          <p:cNvSpPr txBox="1"/>
          <p:nvPr/>
        </p:nvSpPr>
        <p:spPr>
          <a:xfrm>
            <a:off x="658368" y="329184"/>
            <a:ext cx="8028432" cy="237744"/>
          </a:xfrm>
          <a:prstGeom prst="rect">
            <a:avLst/>
          </a:prstGeom>
          <a:noFill/>
          <a:ln/>
        </p:spPr>
        <p:txBody>
          <a:bodyPr wrap="square" lIns="0" tIns="0" rIns="0" bIns="0" rtlCol="0" anchor="ctr"/>
          <a:lstStyle/>
          <a:p>
            <a:pPr marL="0" indent="0">
              <a:buNone/>
            </a:pPr>
            <a:r>
              <a:rPr lang="en-US" sz="1050" b="1" kern="0" spc="140" dirty="0">
                <a:solidFill>
                  <a:srgbClr val="5A6472"/>
                </a:solidFill>
                <a:latin typeface="Calibri" pitchFamily="34" charset="0"/>
                <a:ea typeface="Calibri" pitchFamily="34" charset="-122"/>
                <a:cs typeface="Calibri" pitchFamily="34" charset="-120"/>
              </a:rPr>
              <a:t>CONCEPT</a:t>
            </a:r>
            <a:endParaRPr lang="en-US" sz="1050" dirty="0"/>
          </a:p>
        </p:txBody>
      </p:sp>
      <p:sp>
        <p:nvSpPr>
          <p:cNvPr id="4" name="Text 2"/>
          <p:cNvSpPr txBox="1"/>
          <p:nvPr/>
        </p:nvSpPr>
        <p:spPr>
          <a:xfrm>
            <a:off x="457200" y="603504"/>
            <a:ext cx="8229600" cy="566928"/>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What PCA gives you — and where it fails</a:t>
            </a:r>
            <a:endParaRPr lang="en-US" sz="2500" dirty="0"/>
          </a:p>
        </p:txBody>
      </p:sp>
      <p:sp>
        <p:nvSpPr>
          <p:cNvPr id="5" name="Shape 3"/>
          <p:cNvSpPr/>
          <p:nvPr/>
        </p:nvSpPr>
        <p:spPr>
          <a:xfrm>
            <a:off x="457200" y="1207008"/>
            <a:ext cx="4041648" cy="2834640"/>
          </a:xfrm>
          <a:prstGeom prst="roundRect">
            <a:avLst>
              <a:gd name="adj" fmla="val 1290"/>
            </a:avLst>
          </a:prstGeom>
          <a:solidFill>
            <a:srgbClr val="F1F4F8"/>
          </a:solidFill>
          <a:ln w="9525">
            <a:solidFill>
              <a:srgbClr val="D8DFE8"/>
            </a:solidFill>
            <a:prstDash val="solid"/>
          </a:ln>
        </p:spPr>
        <p:txBody>
          <a:bodyPr/>
          <a:lstStyle/>
          <a:p>
            <a:endParaRPr lang="en-US"/>
          </a:p>
        </p:txBody>
      </p:sp>
      <p:sp>
        <p:nvSpPr>
          <p:cNvPr id="6" name="Text 4"/>
          <p:cNvSpPr txBox="1"/>
          <p:nvPr/>
        </p:nvSpPr>
        <p:spPr>
          <a:xfrm>
            <a:off x="658368" y="1371600"/>
            <a:ext cx="3639312" cy="2514600"/>
          </a:xfrm>
          <a:prstGeom prst="rect">
            <a:avLst/>
          </a:prstGeom>
          <a:noFill/>
          <a:ln/>
        </p:spPr>
        <p:txBody>
          <a:bodyPr wrap="square" lIns="0" tIns="0" rIns="0" bIns="0" rtlCol="0" anchor="ctr"/>
          <a:lstStyle/>
          <a:p>
            <a:pPr marL="0" indent="0">
              <a:spcAft>
                <a:spcPts val="700"/>
              </a:spcAft>
              <a:buNone/>
            </a:pPr>
            <a:r>
              <a:rPr lang="en-US" sz="1350" b="1" dirty="0">
                <a:solidFill>
                  <a:srgbClr val="1B7A46"/>
                </a:solidFill>
                <a:latin typeface="Calibri" pitchFamily="34" charset="0"/>
                <a:ea typeface="Calibri" pitchFamily="34" charset="-122"/>
                <a:cs typeface="Calibri" pitchFamily="34" charset="-120"/>
              </a:rPr>
              <a:t>Strengths</a:t>
            </a:r>
            <a:endParaRPr lang="en-US" sz="1350" dirty="0"/>
          </a:p>
          <a:p>
            <a:pPr marL="0" indent="0">
              <a:spcAft>
                <a:spcPts val="700"/>
              </a:spcAft>
              <a:buNone/>
            </a:pPr>
            <a:r>
              <a:rPr lang="en-US" sz="1150" dirty="0">
                <a:solidFill>
                  <a:srgbClr val="1B2430"/>
                </a:solidFill>
                <a:latin typeface="Calibri" pitchFamily="34" charset="0"/>
                <a:ea typeface="Calibri" pitchFamily="34" charset="-122"/>
                <a:cs typeface="Calibri" pitchFamily="34" charset="-120"/>
              </a:rPr>
              <a:t>Deterministic — the same data always gives the same answer.</a:t>
            </a:r>
            <a:endParaRPr lang="en-US" sz="1350" dirty="0"/>
          </a:p>
          <a:p>
            <a:pPr marL="0" indent="0">
              <a:spcAft>
                <a:spcPts val="700"/>
              </a:spcAft>
              <a:buNone/>
            </a:pPr>
            <a:r>
              <a:rPr lang="en-US" sz="1150" dirty="0">
                <a:solidFill>
                  <a:srgbClr val="1B2430"/>
                </a:solidFill>
                <a:latin typeface="Calibri" pitchFamily="34" charset="0"/>
                <a:ea typeface="Calibri" pitchFamily="34" charset="-122"/>
                <a:cs typeface="Calibri" pitchFamily="34" charset="-120"/>
              </a:rPr>
              <a:t>It is just a matrix multiply, so new data transforms for free.</a:t>
            </a:r>
            <a:endParaRPr lang="en-US" sz="1350" dirty="0"/>
          </a:p>
          <a:p>
            <a:pPr marL="0" indent="0">
              <a:spcAft>
                <a:spcPts val="700"/>
              </a:spcAft>
              <a:buNone/>
            </a:pPr>
            <a:r>
              <a:rPr lang="en-US" sz="1150" dirty="0">
                <a:solidFill>
                  <a:srgbClr val="1B2430"/>
                </a:solidFill>
                <a:latin typeface="Calibri" pitchFamily="34" charset="0"/>
                <a:ea typeface="Calibri" pitchFamily="34" charset="-122"/>
                <a:cs typeface="Calibri" pitchFamily="34" charset="-120"/>
              </a:rPr>
              <a:t>Invertible — you can reconstruct an approximation of the original.</a:t>
            </a:r>
            <a:endParaRPr lang="en-US" sz="1350" dirty="0"/>
          </a:p>
          <a:p>
            <a:pPr marL="0" indent="0">
              <a:spcAft>
                <a:spcPts val="700"/>
              </a:spcAft>
              <a:buNone/>
            </a:pPr>
            <a:r>
              <a:rPr lang="en-US" sz="1150" dirty="0">
                <a:solidFill>
                  <a:srgbClr val="1B2430"/>
                </a:solidFill>
                <a:latin typeface="Calibri" pitchFamily="34" charset="0"/>
                <a:ea typeface="Calibri" pitchFamily="34" charset="-122"/>
                <a:cs typeface="Calibri" pitchFamily="34" charset="-120"/>
              </a:rPr>
              <a:t>An orthogonal projection never pulls points closer than they really are.</a:t>
            </a:r>
            <a:endParaRPr lang="en-US" sz="1350" dirty="0"/>
          </a:p>
        </p:txBody>
      </p:sp>
      <p:sp>
        <p:nvSpPr>
          <p:cNvPr id="7" name="Shape 5"/>
          <p:cNvSpPr/>
          <p:nvPr/>
        </p:nvSpPr>
        <p:spPr>
          <a:xfrm>
            <a:off x="4645152" y="1207008"/>
            <a:ext cx="4041648" cy="2834640"/>
          </a:xfrm>
          <a:prstGeom prst="roundRect">
            <a:avLst>
              <a:gd name="adj" fmla="val 1290"/>
            </a:avLst>
          </a:prstGeom>
          <a:solidFill>
            <a:srgbClr val="F1F4F8"/>
          </a:solidFill>
          <a:ln w="9525">
            <a:solidFill>
              <a:srgbClr val="D8DFE8"/>
            </a:solidFill>
            <a:prstDash val="solid"/>
          </a:ln>
        </p:spPr>
        <p:txBody>
          <a:bodyPr/>
          <a:lstStyle/>
          <a:p>
            <a:endParaRPr lang="en-US"/>
          </a:p>
        </p:txBody>
      </p:sp>
      <p:sp>
        <p:nvSpPr>
          <p:cNvPr id="8" name="Text 6"/>
          <p:cNvSpPr txBox="1"/>
          <p:nvPr/>
        </p:nvSpPr>
        <p:spPr>
          <a:xfrm>
            <a:off x="4846320" y="1371600"/>
            <a:ext cx="3639312" cy="2514600"/>
          </a:xfrm>
          <a:prstGeom prst="rect">
            <a:avLst/>
          </a:prstGeom>
          <a:noFill/>
          <a:ln/>
        </p:spPr>
        <p:txBody>
          <a:bodyPr wrap="square" lIns="0" tIns="0" rIns="0" bIns="0" rtlCol="0" anchor="ctr"/>
          <a:lstStyle/>
          <a:p>
            <a:pPr marL="0" indent="0">
              <a:spcAft>
                <a:spcPts val="700"/>
              </a:spcAft>
              <a:buNone/>
            </a:pPr>
            <a:r>
              <a:rPr lang="en-US" sz="1350" b="1" dirty="0">
                <a:solidFill>
                  <a:srgbClr val="B23A48"/>
                </a:solidFill>
                <a:latin typeface="Calibri" pitchFamily="34" charset="0"/>
                <a:ea typeface="Calibri" pitchFamily="34" charset="-122"/>
                <a:cs typeface="Calibri" pitchFamily="34" charset="-120"/>
              </a:rPr>
              <a:t>Failure modes</a:t>
            </a:r>
            <a:endParaRPr lang="en-US" sz="1350" dirty="0"/>
          </a:p>
          <a:p>
            <a:pPr marL="0" indent="0">
              <a:spcAft>
                <a:spcPts val="700"/>
              </a:spcAft>
              <a:buNone/>
            </a:pPr>
            <a:r>
              <a:rPr lang="en-US" sz="1150" dirty="0">
                <a:solidFill>
                  <a:srgbClr val="1B2430"/>
                </a:solidFill>
                <a:latin typeface="Calibri" pitchFamily="34" charset="0"/>
                <a:ea typeface="Calibri" pitchFamily="34" charset="-122"/>
                <a:cs typeface="Calibri" pitchFamily="34" charset="-120"/>
              </a:rPr>
              <a:t>Variance is not the same as interest — a high-variance direction can be pure measurement noise, and the class signal can hide in a low-variance one.</a:t>
            </a:r>
            <a:endParaRPr lang="en-US" sz="1350" dirty="0"/>
          </a:p>
          <a:p>
            <a:pPr marL="0" indent="0">
              <a:spcAft>
                <a:spcPts val="700"/>
              </a:spcAft>
              <a:buNone/>
            </a:pPr>
            <a:r>
              <a:rPr lang="en-US" sz="1150" dirty="0">
                <a:solidFill>
                  <a:srgbClr val="1B2430"/>
                </a:solidFill>
                <a:latin typeface="Calibri" pitchFamily="34" charset="0"/>
                <a:ea typeface="Calibri" pitchFamily="34" charset="-122"/>
                <a:cs typeface="Calibri" pitchFamily="34" charset="-120"/>
              </a:rPr>
              <a:t>Scale-dependent, for the same reason K-Means was. Standardize first.</a:t>
            </a:r>
            <a:endParaRPr lang="en-US" sz="1350" dirty="0"/>
          </a:p>
          <a:p>
            <a:pPr marL="0" indent="0">
              <a:spcAft>
                <a:spcPts val="700"/>
              </a:spcAft>
              <a:buNone/>
            </a:pPr>
            <a:r>
              <a:rPr lang="en-US" sz="1150" dirty="0">
                <a:solidFill>
                  <a:srgbClr val="1B2430"/>
                </a:solidFill>
                <a:latin typeface="Calibri" pitchFamily="34" charset="0"/>
                <a:ea typeface="Calibri" pitchFamily="34" charset="-122"/>
                <a:cs typeface="Calibri" pitchFamily="34" charset="-120"/>
              </a:rPr>
              <a:t>Outlier-sensitive, because variance squares deviations.</a:t>
            </a:r>
            <a:endParaRPr lang="en-US" sz="1350" dirty="0"/>
          </a:p>
          <a:p>
            <a:pPr marL="0" indent="0">
              <a:spcAft>
                <a:spcPts val="700"/>
              </a:spcAft>
              <a:buNone/>
            </a:pPr>
            <a:r>
              <a:rPr lang="en-US" sz="1150" dirty="0">
                <a:solidFill>
                  <a:srgbClr val="1B2430"/>
                </a:solidFill>
                <a:latin typeface="Calibri" pitchFamily="34" charset="0"/>
                <a:ea typeface="Calibri" pitchFamily="34" charset="-122"/>
                <a:cs typeface="Calibri" pitchFamily="34" charset="-120"/>
              </a:rPr>
              <a:t>Linear. A spiral or a rolled-up sheet stays tangled — no flat projection can unroll a curved surface.</a:t>
            </a:r>
            <a:endParaRPr lang="en-US" sz="13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5">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457200" y="384048"/>
            <a:ext cx="118872" cy="118872"/>
          </a:xfrm>
          <a:prstGeom prst="ellipse">
            <a:avLst/>
          </a:prstGeom>
          <a:solidFill>
            <a:srgbClr val="FFC72C"/>
          </a:solidFill>
          <a:ln w="12700">
            <a:solidFill>
              <a:srgbClr val="FFC72C"/>
            </a:solidFill>
            <a:prstDash val="solid"/>
          </a:ln>
        </p:spPr>
        <p:txBody>
          <a:bodyPr/>
          <a:lstStyle/>
          <a:p>
            <a:endParaRPr lang="en-US"/>
          </a:p>
        </p:txBody>
      </p:sp>
      <p:sp>
        <p:nvSpPr>
          <p:cNvPr id="3" name="Text 1"/>
          <p:cNvSpPr txBox="1"/>
          <p:nvPr/>
        </p:nvSpPr>
        <p:spPr>
          <a:xfrm>
            <a:off x="658368" y="329184"/>
            <a:ext cx="8028432" cy="237744"/>
          </a:xfrm>
          <a:prstGeom prst="rect">
            <a:avLst/>
          </a:prstGeom>
          <a:noFill/>
          <a:ln/>
        </p:spPr>
        <p:txBody>
          <a:bodyPr wrap="square" lIns="0" tIns="0" rIns="0" bIns="0" rtlCol="0" anchor="ctr"/>
          <a:lstStyle/>
          <a:p>
            <a:pPr marL="0" indent="0">
              <a:buNone/>
            </a:pPr>
            <a:r>
              <a:rPr lang="en-US" sz="1050" b="1" kern="0" spc="140" dirty="0">
                <a:solidFill>
                  <a:srgbClr val="5A6472"/>
                </a:solidFill>
                <a:latin typeface="Calibri" pitchFamily="34" charset="0"/>
                <a:ea typeface="Calibri" pitchFamily="34" charset="-122"/>
                <a:cs typeface="Calibri" pitchFamily="34" charset="-120"/>
              </a:rPr>
              <a:t>CONCEPT</a:t>
            </a:r>
            <a:endParaRPr lang="en-US" sz="1050" dirty="0"/>
          </a:p>
        </p:txBody>
      </p:sp>
      <p:sp>
        <p:nvSpPr>
          <p:cNvPr id="4" name="Text 2"/>
          <p:cNvSpPr txBox="1"/>
          <p:nvPr/>
        </p:nvSpPr>
        <p:spPr>
          <a:xfrm>
            <a:off x="457200" y="603504"/>
            <a:ext cx="8229600" cy="566928"/>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When linear is not enough: t-SNE and UMAP</a:t>
            </a:r>
            <a:endParaRPr lang="en-US" sz="2500" dirty="0"/>
          </a:p>
        </p:txBody>
      </p:sp>
      <p:sp>
        <p:nvSpPr>
          <p:cNvPr id="5" name="Text 3"/>
          <p:cNvSpPr txBox="1"/>
          <p:nvPr/>
        </p:nvSpPr>
        <p:spPr>
          <a:xfrm>
            <a:off x="457200" y="1133856"/>
            <a:ext cx="8229600" cy="420624"/>
          </a:xfrm>
          <a:prstGeom prst="rect">
            <a:avLst/>
          </a:prstGeom>
          <a:noFill/>
          <a:ln/>
        </p:spPr>
        <p:txBody>
          <a:bodyPr wrap="square" lIns="0" tIns="0" rIns="0" bIns="0" rtlCol="0" anchor="ctr"/>
          <a:lstStyle/>
          <a:p>
            <a:pPr marL="0" indent="0">
              <a:buNone/>
            </a:pPr>
            <a:r>
              <a:rPr lang="en-US" sz="1250" dirty="0">
                <a:solidFill>
                  <a:srgbClr val="AEBBCE"/>
                </a:solidFill>
                <a:latin typeface="Calibri" pitchFamily="34" charset="0"/>
                <a:ea typeface="Calibri" pitchFamily="34" charset="-122"/>
                <a:cs typeface="Calibri" pitchFamily="34" charset="-120"/>
              </a:rPr>
              <a:t>Both are neighbour-embedding methods. Rather than finding a global direction, they place points so that whoever was near you in high dimensions is still near you on the page.</a:t>
            </a:r>
            <a:endParaRPr lang="en-US" sz="1250" dirty="0"/>
          </a:p>
        </p:txBody>
      </p:sp>
      <p:sp>
        <p:nvSpPr>
          <p:cNvPr id="6" name="Shape 4"/>
          <p:cNvSpPr/>
          <p:nvPr/>
        </p:nvSpPr>
        <p:spPr>
          <a:xfrm>
            <a:off x="457200" y="1645920"/>
            <a:ext cx="4041648" cy="1874520"/>
          </a:xfrm>
          <a:prstGeom prst="roundRect">
            <a:avLst>
              <a:gd name="adj" fmla="val 1951"/>
            </a:avLst>
          </a:prstGeom>
          <a:solidFill>
            <a:srgbClr val="F1F4F8"/>
          </a:solidFill>
          <a:ln w="9525">
            <a:solidFill>
              <a:srgbClr val="D8DFE8"/>
            </a:solidFill>
            <a:prstDash val="solid"/>
          </a:ln>
        </p:spPr>
        <p:txBody>
          <a:bodyPr/>
          <a:lstStyle/>
          <a:p>
            <a:endParaRPr lang="en-US"/>
          </a:p>
        </p:txBody>
      </p:sp>
      <p:sp>
        <p:nvSpPr>
          <p:cNvPr id="7" name="Text 5"/>
          <p:cNvSpPr txBox="1"/>
          <p:nvPr/>
        </p:nvSpPr>
        <p:spPr>
          <a:xfrm>
            <a:off x="640080" y="1810512"/>
            <a:ext cx="3675888" cy="1554480"/>
          </a:xfrm>
          <a:prstGeom prst="rect">
            <a:avLst/>
          </a:prstGeom>
          <a:noFill/>
          <a:ln/>
        </p:spPr>
        <p:txBody>
          <a:bodyPr wrap="square" lIns="0" tIns="0" rIns="0" bIns="0" rtlCol="0" anchor="ctr"/>
          <a:lstStyle/>
          <a:p>
            <a:pPr marL="0" indent="0">
              <a:spcAft>
                <a:spcPts val="600"/>
              </a:spcAft>
              <a:buNone/>
            </a:pPr>
            <a:r>
              <a:rPr lang="en-US" sz="1400" b="1" dirty="0">
                <a:solidFill>
                  <a:srgbClr val="1A5FB4"/>
                </a:solidFill>
                <a:latin typeface="Calibri" pitchFamily="34" charset="0"/>
                <a:ea typeface="Calibri" pitchFamily="34" charset="-122"/>
                <a:cs typeface="Calibri" pitchFamily="34" charset="-120"/>
              </a:rPr>
              <a:t>t-SNE</a:t>
            </a:r>
            <a:endParaRPr lang="en-US" sz="1400" dirty="0"/>
          </a:p>
          <a:p>
            <a:pPr marL="0" indent="0">
              <a:spcAft>
                <a:spcPts val="600"/>
              </a:spcAft>
              <a:buNone/>
            </a:pPr>
            <a:r>
              <a:rPr lang="en-US" sz="1150" dirty="0">
                <a:solidFill>
                  <a:srgbClr val="1B2430"/>
                </a:solidFill>
                <a:latin typeface="Calibri" pitchFamily="34" charset="0"/>
                <a:ea typeface="Calibri" pitchFamily="34" charset="-122"/>
                <a:cs typeface="Calibri" pitchFamily="34" charset="-120"/>
              </a:rPr>
              <a:t>Turns distances into neighbour probabilities in both spaces, then moves the points until the two distributions match.</a:t>
            </a:r>
            <a:endParaRPr lang="en-US" sz="1400" dirty="0"/>
          </a:p>
          <a:p>
            <a:pPr marL="0" indent="0">
              <a:spcAft>
                <a:spcPts val="600"/>
              </a:spcAft>
              <a:buNone/>
            </a:pPr>
            <a:r>
              <a:rPr lang="en-US" sz="1100" dirty="0">
                <a:solidFill>
                  <a:srgbClr val="5A6472"/>
                </a:solidFill>
                <a:latin typeface="Calibri" pitchFamily="34" charset="0"/>
                <a:ea typeface="Calibri" pitchFamily="34" charset="-122"/>
                <a:cs typeface="Calibri" pitchFamily="34" charset="-120"/>
              </a:rPr>
              <a:t>Knob:  perplexity — roughly the effective number of neighbours each point pays attention to.</a:t>
            </a:r>
            <a:endParaRPr lang="en-US" sz="1400" dirty="0"/>
          </a:p>
        </p:txBody>
      </p:sp>
      <p:sp>
        <p:nvSpPr>
          <p:cNvPr id="8" name="Shape 6"/>
          <p:cNvSpPr/>
          <p:nvPr/>
        </p:nvSpPr>
        <p:spPr>
          <a:xfrm>
            <a:off x="4645152" y="1645920"/>
            <a:ext cx="4041648" cy="1874520"/>
          </a:xfrm>
          <a:prstGeom prst="roundRect">
            <a:avLst>
              <a:gd name="adj" fmla="val 1951"/>
            </a:avLst>
          </a:prstGeom>
          <a:solidFill>
            <a:srgbClr val="F1F4F8"/>
          </a:solidFill>
          <a:ln w="9525">
            <a:solidFill>
              <a:srgbClr val="D8DFE8"/>
            </a:solidFill>
            <a:prstDash val="solid"/>
          </a:ln>
        </p:spPr>
        <p:txBody>
          <a:bodyPr/>
          <a:lstStyle/>
          <a:p>
            <a:endParaRPr lang="en-US"/>
          </a:p>
        </p:txBody>
      </p:sp>
      <p:sp>
        <p:nvSpPr>
          <p:cNvPr id="9" name="Text 7"/>
          <p:cNvSpPr txBox="1"/>
          <p:nvPr/>
        </p:nvSpPr>
        <p:spPr>
          <a:xfrm>
            <a:off x="4828032" y="1810512"/>
            <a:ext cx="3675888" cy="1554480"/>
          </a:xfrm>
          <a:prstGeom prst="rect">
            <a:avLst/>
          </a:prstGeom>
          <a:noFill/>
          <a:ln/>
        </p:spPr>
        <p:txBody>
          <a:bodyPr wrap="square" lIns="0" tIns="0" rIns="0" bIns="0" rtlCol="0" anchor="ctr"/>
          <a:lstStyle/>
          <a:p>
            <a:pPr marL="0" indent="0">
              <a:spcAft>
                <a:spcPts val="600"/>
              </a:spcAft>
              <a:buNone/>
            </a:pPr>
            <a:r>
              <a:rPr lang="en-US" sz="1400" b="1" dirty="0">
                <a:solidFill>
                  <a:srgbClr val="1A5FB4"/>
                </a:solidFill>
                <a:latin typeface="Calibri" pitchFamily="34" charset="0"/>
                <a:ea typeface="Calibri" pitchFamily="34" charset="-122"/>
                <a:cs typeface="Calibri" pitchFamily="34" charset="-120"/>
              </a:rPr>
              <a:t>UMAP</a:t>
            </a:r>
            <a:endParaRPr lang="en-US" sz="1400" dirty="0"/>
          </a:p>
          <a:p>
            <a:pPr marL="0" indent="0">
              <a:spcAft>
                <a:spcPts val="600"/>
              </a:spcAft>
              <a:buNone/>
            </a:pPr>
            <a:r>
              <a:rPr lang="en-US" sz="1150" dirty="0">
                <a:solidFill>
                  <a:srgbClr val="1B2430"/>
                </a:solidFill>
                <a:latin typeface="Calibri" pitchFamily="34" charset="0"/>
                <a:ea typeface="Calibri" pitchFamily="34" charset="-122"/>
                <a:cs typeface="Calibri" pitchFamily="34" charset="-120"/>
              </a:rPr>
              <a:t>Builds a fuzzy nearest-neighbour graph and lays it out to match. Faster, and it holds on to a little more of the global shape.</a:t>
            </a:r>
            <a:endParaRPr lang="en-US" sz="1400" dirty="0"/>
          </a:p>
          <a:p>
            <a:pPr marL="0" indent="0">
              <a:spcAft>
                <a:spcPts val="600"/>
              </a:spcAft>
              <a:buNone/>
            </a:pPr>
            <a:r>
              <a:rPr lang="en-US" sz="1100" dirty="0">
                <a:solidFill>
                  <a:srgbClr val="5A6472"/>
                </a:solidFill>
                <a:latin typeface="Calibri" pitchFamily="34" charset="0"/>
                <a:ea typeface="Calibri" pitchFamily="34" charset="-122"/>
                <a:cs typeface="Calibri" pitchFamily="34" charset="-120"/>
              </a:rPr>
              <a:t>Knobs:  n_neighbors, min_dist — how local to be, and how tightly to pack.</a:t>
            </a:r>
            <a:endParaRPr lang="en-US" sz="1400" dirty="0"/>
          </a:p>
        </p:txBody>
      </p:sp>
      <p:sp>
        <p:nvSpPr>
          <p:cNvPr id="10" name="Shape 8"/>
          <p:cNvSpPr/>
          <p:nvPr/>
        </p:nvSpPr>
        <p:spPr>
          <a:xfrm>
            <a:off x="457200" y="3602736"/>
            <a:ext cx="8229600" cy="457200"/>
          </a:xfrm>
          <a:prstGeom prst="roundRect">
            <a:avLst>
              <a:gd name="adj" fmla="val 8000"/>
            </a:avLst>
          </a:prstGeom>
          <a:solidFill>
            <a:srgbClr val="D8DFE8"/>
          </a:solidFill>
          <a:ln w="9525">
            <a:solidFill>
              <a:srgbClr val="FFC72C"/>
            </a:solidFill>
            <a:prstDash val="solid"/>
          </a:ln>
        </p:spPr>
        <p:txBody>
          <a:bodyPr/>
          <a:lstStyle/>
          <a:p>
            <a:endParaRPr lang="en-US"/>
          </a:p>
        </p:txBody>
      </p:sp>
      <p:sp>
        <p:nvSpPr>
          <p:cNvPr id="11" name="Text 9"/>
          <p:cNvSpPr txBox="1"/>
          <p:nvPr/>
        </p:nvSpPr>
        <p:spPr>
          <a:xfrm>
            <a:off x="658368" y="3602736"/>
            <a:ext cx="7827264" cy="457200"/>
          </a:xfrm>
          <a:prstGeom prst="rect">
            <a:avLst/>
          </a:prstGeom>
          <a:noFill/>
          <a:ln/>
        </p:spPr>
        <p:txBody>
          <a:bodyPr wrap="square" lIns="0" tIns="0" rIns="0" bIns="0" rtlCol="0" anchor="ctr"/>
          <a:lstStyle/>
          <a:p>
            <a:pPr marL="0" indent="0">
              <a:buNone/>
            </a:pPr>
            <a:r>
              <a:rPr lang="en-US" sz="1150" b="1" dirty="0">
                <a:solidFill>
                  <a:srgbClr val="12233F"/>
                </a:solidFill>
                <a:latin typeface="Calibri" pitchFamily="34" charset="0"/>
                <a:ea typeface="Calibri" pitchFamily="34" charset="-122"/>
                <a:cs typeface="Calibri" pitchFamily="34" charset="-120"/>
              </a:rPr>
              <a:t>Both are stochastic: run either one twice and you get two different pictures of the same data.</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6">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457200" y="384048"/>
            <a:ext cx="118872" cy="118872"/>
          </a:xfrm>
          <a:prstGeom prst="ellipse">
            <a:avLst/>
          </a:prstGeom>
          <a:solidFill>
            <a:srgbClr val="FFC72C"/>
          </a:solidFill>
          <a:ln w="12700">
            <a:solidFill>
              <a:srgbClr val="FFC72C"/>
            </a:solidFill>
            <a:prstDash val="solid"/>
          </a:ln>
        </p:spPr>
        <p:txBody>
          <a:bodyPr/>
          <a:lstStyle/>
          <a:p>
            <a:endParaRPr lang="en-US"/>
          </a:p>
        </p:txBody>
      </p:sp>
      <p:sp>
        <p:nvSpPr>
          <p:cNvPr id="3" name="Text 1"/>
          <p:cNvSpPr txBox="1"/>
          <p:nvPr/>
        </p:nvSpPr>
        <p:spPr>
          <a:xfrm>
            <a:off x="658368" y="329184"/>
            <a:ext cx="8028432" cy="237744"/>
          </a:xfrm>
          <a:prstGeom prst="rect">
            <a:avLst/>
          </a:prstGeom>
          <a:noFill/>
          <a:ln/>
        </p:spPr>
        <p:txBody>
          <a:bodyPr wrap="square" lIns="0" tIns="0" rIns="0" bIns="0" rtlCol="0" anchor="ctr"/>
          <a:lstStyle/>
          <a:p>
            <a:pPr marL="0" indent="0">
              <a:buNone/>
            </a:pPr>
            <a:r>
              <a:rPr lang="en-US" sz="1050" b="1" kern="0" spc="140" dirty="0">
                <a:solidFill>
                  <a:srgbClr val="5A6472"/>
                </a:solidFill>
                <a:latin typeface="Calibri" pitchFamily="34" charset="0"/>
                <a:ea typeface="Calibri" pitchFamily="34" charset="-122"/>
                <a:cs typeface="Calibri" pitchFamily="34" charset="-120"/>
              </a:rPr>
              <a:t>CONCEPT</a:t>
            </a:r>
            <a:endParaRPr lang="en-US" sz="1050" dirty="0"/>
          </a:p>
        </p:txBody>
      </p:sp>
      <p:sp>
        <p:nvSpPr>
          <p:cNvPr id="4" name="Text 2"/>
          <p:cNvSpPr txBox="1"/>
          <p:nvPr/>
        </p:nvSpPr>
        <p:spPr>
          <a:xfrm>
            <a:off x="457200" y="603504"/>
            <a:ext cx="8229600" cy="56692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Side by side</a:t>
            </a:r>
            <a:endParaRPr lang="en-US" sz="30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57200" y="1207008"/>
          <a:ext cx="8229600" cy="914400"/>
        </p:xfrm>
        <a:graphic>
          <a:graphicData uri="http://schemas.openxmlformats.org/drawingml/2006/table">
            <a:tbl>
              <a:tblPr/>
              <a:tblGrid>
                <a:gridCol w="18288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148840">
                  <a:extLst>
                    <a:ext uri="{9D8B030D-6E8A-4147-A177-3AD203B41FA5}">
                      <a16:colId xmlns:a16="http://schemas.microsoft.com/office/drawing/2014/main" val="20003"/>
                    </a:ext>
                  </a:extLst>
                </a:gridCol>
              </a:tblGrid>
              <a:tr h="365760">
                <a:tc>
                  <a:txBody>
                    <a:bodyPr/>
                    <a:lstStyle/>
                    <a:p>
                      <a:pPr marL="0" indent="0">
                        <a:buNone/>
                      </a:pPr>
                      <a:endParaRPr lang="en-US" sz="1050" dirty="0">
                        <a:latin typeface="Calibri" charset="0"/>
                        <a:ea typeface="Calibri" charset="0"/>
                        <a:cs typeface="Calibri" charset="0"/>
                      </a:endParaRPr>
                    </a:p>
                  </a:txBody>
                  <a:tcPr marL="64008" marR="64008" marT="64008" marB="64008"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000000"/>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PCA</a:t>
                      </a:r>
                      <a:endParaRPr lang="en-US" sz="1050" dirty="0">
                        <a:latin typeface="Calibri" charset="0"/>
                        <a:ea typeface="Calibri" charset="0"/>
                        <a:cs typeface="Calibri" charset="0"/>
                      </a:endParaRPr>
                    </a:p>
                  </a:txBody>
                  <a:tcPr marL="64008" marR="64008" marT="64008" marB="64008"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12233F"/>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t-SNE</a:t>
                      </a:r>
                      <a:endParaRPr lang="en-US" sz="1050" dirty="0">
                        <a:latin typeface="Calibri" charset="0"/>
                        <a:ea typeface="Calibri" charset="0"/>
                        <a:cs typeface="Calibri" charset="0"/>
                      </a:endParaRPr>
                    </a:p>
                  </a:txBody>
                  <a:tcPr marL="64008" marR="64008" marT="64008" marB="64008"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12233F"/>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UMAP</a:t>
                      </a:r>
                      <a:endParaRPr lang="en-US" sz="1050" dirty="0">
                        <a:latin typeface="Calibri" charset="0"/>
                        <a:ea typeface="Calibri" charset="0"/>
                        <a:cs typeface="Calibri" charset="0"/>
                      </a:endParaRPr>
                    </a:p>
                  </a:txBody>
                  <a:tcPr marL="64008" marR="64008" marT="64008" marB="64008"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12233F"/>
                    </a:solidFill>
                  </a:tcPr>
                </a:tc>
                <a:extLst>
                  <a:ext uri="{0D108BD9-81ED-4DB2-BD59-A6C34878D82A}">
                    <a16:rowId xmlns:a16="http://schemas.microsoft.com/office/drawing/2014/main" val="10000"/>
                  </a:ext>
                </a:extLst>
              </a:tr>
              <a:tr h="365760">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Type</a:t>
                      </a:r>
                      <a:endParaRPr lang="en-US" sz="1050" dirty="0">
                        <a:latin typeface="Calibri" charset="0"/>
                        <a:ea typeface="Calibri" charset="0"/>
                        <a:cs typeface="Calibri" charset="0"/>
                      </a:endParaRPr>
                    </a:p>
                  </a:txBody>
                  <a:tcPr marL="64008" marR="64008" marT="64008" marB="64008"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Linear projection</a:t>
                      </a:r>
                      <a:endParaRPr lang="en-US" sz="1050" dirty="0">
                        <a:latin typeface="Calibri" charset="0"/>
                        <a:ea typeface="Calibri" charset="0"/>
                        <a:cs typeface="Calibri" charset="0"/>
                      </a:endParaRPr>
                    </a:p>
                  </a:txBody>
                  <a:tcPr marL="64008" marR="64008" marT="64008" marB="64008"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Neighbour embedding</a:t>
                      </a:r>
                      <a:endParaRPr lang="en-US" sz="1050" dirty="0">
                        <a:latin typeface="Calibri" charset="0"/>
                        <a:ea typeface="Calibri" charset="0"/>
                        <a:cs typeface="Calibri" charset="0"/>
                      </a:endParaRPr>
                    </a:p>
                  </a:txBody>
                  <a:tcPr marL="64008" marR="64008" marT="64008" marB="64008"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Neighbour embedding</a:t>
                      </a:r>
                      <a:endParaRPr lang="en-US" sz="1050" dirty="0">
                        <a:latin typeface="Calibri" charset="0"/>
                        <a:ea typeface="Calibri" charset="0"/>
                        <a:cs typeface="Calibri" charset="0"/>
                      </a:endParaRPr>
                    </a:p>
                  </a:txBody>
                  <a:tcPr marL="64008" marR="64008" marT="64008" marB="64008"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extLst>
                  <a:ext uri="{0D108BD9-81ED-4DB2-BD59-A6C34878D82A}">
                    <a16:rowId xmlns:a16="http://schemas.microsoft.com/office/drawing/2014/main" val="10001"/>
                  </a:ext>
                </a:extLst>
              </a:tr>
              <a:tr h="365760">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Preserves</a:t>
                      </a:r>
                      <a:endParaRPr lang="en-US" sz="1050" dirty="0">
                        <a:latin typeface="Calibri" charset="0"/>
                        <a:ea typeface="Calibri" charset="0"/>
                        <a:cs typeface="Calibri" charset="0"/>
                      </a:endParaRPr>
                    </a:p>
                  </a:txBody>
                  <a:tcPr marL="64008" marR="64008" marT="64008" marB="64008"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Global structure, variance</a:t>
                      </a:r>
                      <a:endParaRPr lang="en-US" sz="1050" dirty="0">
                        <a:latin typeface="Calibri" charset="0"/>
                        <a:ea typeface="Calibri" charset="0"/>
                        <a:cs typeface="Calibri" charset="0"/>
                      </a:endParaRPr>
                    </a:p>
                  </a:txBody>
                  <a:tcPr marL="64008" marR="64008" marT="64008" marB="64008"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Local only</a:t>
                      </a:r>
                      <a:endParaRPr lang="en-US" sz="1050" dirty="0">
                        <a:latin typeface="Calibri" charset="0"/>
                        <a:ea typeface="Calibri" charset="0"/>
                        <a:cs typeface="Calibri" charset="0"/>
                      </a:endParaRPr>
                    </a:p>
                  </a:txBody>
                  <a:tcPr marL="64008" marR="64008" marT="64008" marB="64008"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Local, some global</a:t>
                      </a:r>
                      <a:endParaRPr lang="en-US" sz="1050" dirty="0">
                        <a:latin typeface="Calibri" charset="0"/>
                        <a:ea typeface="Calibri" charset="0"/>
                        <a:cs typeface="Calibri" charset="0"/>
                      </a:endParaRPr>
                    </a:p>
                  </a:txBody>
                  <a:tcPr marL="64008" marR="64008" marT="64008" marB="64008"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extLst>
                  <a:ext uri="{0D108BD9-81ED-4DB2-BD59-A6C34878D82A}">
                    <a16:rowId xmlns:a16="http://schemas.microsoft.com/office/drawing/2014/main" val="10002"/>
                  </a:ext>
                </a:extLst>
              </a:tr>
              <a:tr h="365760">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Same answer twice?</a:t>
                      </a:r>
                      <a:endParaRPr lang="en-US" sz="1050" dirty="0">
                        <a:latin typeface="Calibri" charset="0"/>
                        <a:ea typeface="Calibri" charset="0"/>
                        <a:cs typeface="Calibri" charset="0"/>
                      </a:endParaRPr>
                    </a:p>
                  </a:txBody>
                  <a:tcPr marL="64008" marR="64008" marT="64008" marB="64008"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64008" marR="64008" marT="64008" marB="64008"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64008" marR="64008" marT="64008" marB="64008"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64008" marR="64008" marT="64008" marB="64008"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extLst>
                  <a:ext uri="{0D108BD9-81ED-4DB2-BD59-A6C34878D82A}">
                    <a16:rowId xmlns:a16="http://schemas.microsoft.com/office/drawing/2014/main" val="10003"/>
                  </a:ext>
                </a:extLst>
              </a:tr>
              <a:tr h="365760">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Handles new data</a:t>
                      </a:r>
                      <a:endParaRPr lang="en-US" sz="1050" dirty="0">
                        <a:latin typeface="Calibri" charset="0"/>
                        <a:ea typeface="Calibri" charset="0"/>
                        <a:cs typeface="Calibri" charset="0"/>
                      </a:endParaRPr>
                    </a:p>
                  </a:txBody>
                  <a:tcPr marL="64008" marR="64008" marT="64008" marB="64008"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Exactly, for free</a:t>
                      </a:r>
                      <a:endParaRPr lang="en-US" sz="1050" dirty="0">
                        <a:latin typeface="Calibri" charset="0"/>
                        <a:ea typeface="Calibri" charset="0"/>
                        <a:cs typeface="Calibri" charset="0"/>
                      </a:endParaRPr>
                    </a:p>
                  </a:txBody>
                  <a:tcPr marL="64008" marR="64008" marT="64008" marB="64008"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64008" marR="64008" marT="64008" marB="64008"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Approximately</a:t>
                      </a:r>
                      <a:endParaRPr lang="en-US" sz="1050" dirty="0">
                        <a:latin typeface="Calibri" charset="0"/>
                        <a:ea typeface="Calibri" charset="0"/>
                        <a:cs typeface="Calibri" charset="0"/>
                      </a:endParaRPr>
                    </a:p>
                  </a:txBody>
                  <a:tcPr marL="64008" marR="64008" marT="64008" marB="64008"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extLst>
                  <a:ext uri="{0D108BD9-81ED-4DB2-BD59-A6C34878D82A}">
                    <a16:rowId xmlns:a16="http://schemas.microsoft.com/office/drawing/2014/main" val="10004"/>
                  </a:ext>
                </a:extLst>
              </a:tr>
              <a:tr h="365760">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Can you invert it?</a:t>
                      </a:r>
                      <a:endParaRPr lang="en-US" sz="1050" dirty="0">
                        <a:latin typeface="Calibri" charset="0"/>
                        <a:ea typeface="Calibri" charset="0"/>
                        <a:cs typeface="Calibri" charset="0"/>
                      </a:endParaRPr>
                    </a:p>
                  </a:txBody>
                  <a:tcPr marL="64008" marR="64008" marT="64008" marB="64008"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64008" marR="64008" marT="64008" marB="64008"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64008" marR="64008" marT="64008" marB="64008"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64008" marR="64008" marT="64008" marB="64008"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extLst>
                  <a:ext uri="{0D108BD9-81ED-4DB2-BD59-A6C34878D82A}">
                    <a16:rowId xmlns:a16="http://schemas.microsoft.com/office/drawing/2014/main" val="10005"/>
                  </a:ext>
                </a:extLst>
              </a:tr>
              <a:tr h="365760">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Main knob</a:t>
                      </a:r>
                      <a:endParaRPr lang="en-US" sz="1050" dirty="0">
                        <a:latin typeface="Calibri" charset="0"/>
                        <a:ea typeface="Calibri" charset="0"/>
                        <a:cs typeface="Calibri" charset="0"/>
                      </a:endParaRPr>
                    </a:p>
                  </a:txBody>
                  <a:tcPr marL="64008" marR="64008" marT="64008" marB="64008"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k, the number of components</a:t>
                      </a:r>
                      <a:endParaRPr lang="en-US" sz="1050" dirty="0">
                        <a:latin typeface="Calibri" charset="0"/>
                        <a:ea typeface="Calibri" charset="0"/>
                        <a:cs typeface="Calibri" charset="0"/>
                      </a:endParaRPr>
                    </a:p>
                  </a:txBody>
                  <a:tcPr marL="64008" marR="64008" marT="64008" marB="64008"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perplexity</a:t>
                      </a:r>
                      <a:endParaRPr lang="en-US" sz="1050" dirty="0">
                        <a:latin typeface="Calibri" charset="0"/>
                        <a:ea typeface="Calibri" charset="0"/>
                        <a:cs typeface="Calibri" charset="0"/>
                      </a:endParaRPr>
                    </a:p>
                  </a:txBody>
                  <a:tcPr marL="64008" marR="64008" marT="64008" marB="64008"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n_neighbors, min_dist</a:t>
                      </a:r>
                      <a:endParaRPr lang="en-US" sz="1050" dirty="0">
                        <a:latin typeface="Calibri" charset="0"/>
                        <a:ea typeface="Calibri" charset="0"/>
                        <a:cs typeface="Calibri" charset="0"/>
                      </a:endParaRPr>
                    </a:p>
                  </a:txBody>
                  <a:tcPr marL="64008" marR="64008" marT="64008" marB="64008"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extLst>
                  <a:ext uri="{0D108BD9-81ED-4DB2-BD59-A6C34878D82A}">
                    <a16:rowId xmlns:a16="http://schemas.microsoft.com/office/drawing/2014/main" val="10006"/>
                  </a:ext>
                </a:extLst>
              </a:tr>
              <a:tr h="365760">
                <a:tc>
                  <a:txBody>
                    <a:bodyPr/>
                    <a:lstStyle/>
                    <a:p>
                      <a:pPr marL="0" indent="0">
                        <a:buNone/>
                      </a:pPr>
                      <a:r>
                        <a:rPr lang="en-US" sz="1050" b="1" dirty="0">
                          <a:solidFill>
                            <a:srgbClr val="1B2430"/>
                          </a:solidFill>
                          <a:latin typeface="Calibri" pitchFamily="34" charset="0"/>
                          <a:ea typeface="Calibri" pitchFamily="34" charset="-122"/>
                          <a:cs typeface="Calibri" pitchFamily="34" charset="-120"/>
                        </a:rPr>
                        <a:t>Safe as model input?</a:t>
                      </a:r>
                      <a:endParaRPr lang="en-US" sz="1050" dirty="0">
                        <a:latin typeface="Calibri" charset="0"/>
                        <a:ea typeface="Calibri" charset="0"/>
                        <a:cs typeface="Calibri" charset="0"/>
                      </a:endParaRPr>
                    </a:p>
                  </a:txBody>
                  <a:tcPr marL="64008" marR="64008" marT="64008" marB="64008"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tc>
                  <a:txBody>
                    <a:bodyPr/>
                    <a:lstStyle/>
                    <a:p>
                      <a:pPr marL="0" indent="0">
                        <a:buNone/>
                      </a:pPr>
                      <a:r>
                        <a:rPr lang="en-US" sz="1050" b="1" dirty="0">
                          <a:solidFill>
                            <a:srgbClr val="1B7A46"/>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64008" marR="64008" marT="64008" marB="64008"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tc>
                  <a:txBody>
                    <a:bodyPr/>
                    <a:lstStyle/>
                    <a:p>
                      <a:pPr marL="0" indent="0">
                        <a:buNone/>
                      </a:pPr>
                      <a:r>
                        <a:rPr lang="en-US" sz="1050" b="1" dirty="0">
                          <a:solidFill>
                            <a:srgbClr val="B23A48"/>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64008" marR="64008" marT="64008" marB="64008"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tc>
                  <a:txBody>
                    <a:bodyPr/>
                    <a:lstStyle/>
                    <a:p>
                      <a:pPr marL="0" indent="0">
                        <a:buNone/>
                      </a:pPr>
                      <a:r>
                        <a:rPr lang="en-US" sz="1050" b="1" dirty="0">
                          <a:solidFill>
                            <a:srgbClr val="5A6472"/>
                          </a:solidFill>
                          <a:latin typeface="Calibri" pitchFamily="34" charset="0"/>
                          <a:ea typeface="Calibri" pitchFamily="34" charset="-122"/>
                          <a:cs typeface="Calibri" pitchFamily="34" charset="-120"/>
                        </a:rPr>
                        <a:t>Risky</a:t>
                      </a:r>
                      <a:endParaRPr lang="en-US" sz="1050" dirty="0">
                        <a:latin typeface="Calibri" charset="0"/>
                        <a:ea typeface="Calibri" charset="0"/>
                        <a:cs typeface="Calibri" charset="0"/>
                      </a:endParaRPr>
                    </a:p>
                  </a:txBody>
                  <a:tcPr marL="64008" marR="64008" marT="64008" marB="64008" anchor="ctr">
                    <a:lnL w="12700" cap="flat" cmpd="sng" algn="ctr">
                      <a:solidFill>
                        <a:srgbClr val="D8DFE8"/>
                      </a:solidFill>
                      <a:prstDash val="solid"/>
                      <a:round/>
                      <a:headEnd type="none" w="med" len="med"/>
                      <a:tailEnd type="none" w="med" len="med"/>
                    </a:lnL>
                    <a:lnR w="12700" cap="flat" cmpd="sng" algn="ctr">
                      <a:solidFill>
                        <a:srgbClr val="D8DFE8"/>
                      </a:solidFill>
                      <a:prstDash val="solid"/>
                      <a:round/>
                      <a:headEnd type="none" w="med" len="med"/>
                      <a:tailEnd type="none" w="med" len="med"/>
                    </a:lnR>
                    <a:lnT w="12700" cap="flat" cmpd="sng" algn="ctr">
                      <a:solidFill>
                        <a:srgbClr val="D8DFE8"/>
                      </a:solidFill>
                      <a:prstDash val="solid"/>
                      <a:round/>
                      <a:headEnd type="none" w="med" len="med"/>
                      <a:tailEnd type="none" w="med" len="med"/>
                    </a:lnT>
                    <a:lnB w="12700" cap="flat" cmpd="sng" algn="ctr">
                      <a:solidFill>
                        <a:srgbClr val="D8DFE8"/>
                      </a:solidFill>
                      <a:prstDash val="solid"/>
                      <a:round/>
                      <a:headEnd type="none" w="med" len="med"/>
                      <a:tailEnd type="none" w="med" len="med"/>
                    </a:lnB>
                    <a:solidFill>
                      <a:srgbClr val="F1F4F8"/>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7">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457200" y="384048"/>
            <a:ext cx="118872" cy="118872"/>
          </a:xfrm>
          <a:prstGeom prst="ellipse">
            <a:avLst/>
          </a:prstGeom>
          <a:solidFill>
            <a:srgbClr val="FFC72C"/>
          </a:solidFill>
          <a:ln w="12700">
            <a:solidFill>
              <a:srgbClr val="FFC72C"/>
            </a:solidFill>
            <a:prstDash val="solid"/>
          </a:ln>
        </p:spPr>
        <p:txBody>
          <a:bodyPr/>
          <a:lstStyle/>
          <a:p>
            <a:endParaRPr lang="en-US"/>
          </a:p>
        </p:txBody>
      </p:sp>
      <p:sp>
        <p:nvSpPr>
          <p:cNvPr id="3" name="Text 1"/>
          <p:cNvSpPr txBox="1"/>
          <p:nvPr/>
        </p:nvSpPr>
        <p:spPr>
          <a:xfrm>
            <a:off x="658368" y="329184"/>
            <a:ext cx="8028432" cy="237744"/>
          </a:xfrm>
          <a:prstGeom prst="rect">
            <a:avLst/>
          </a:prstGeom>
          <a:noFill/>
          <a:ln/>
        </p:spPr>
        <p:txBody>
          <a:bodyPr wrap="square" lIns="0" tIns="0" rIns="0" bIns="0" rtlCol="0" anchor="ctr"/>
          <a:lstStyle/>
          <a:p>
            <a:pPr marL="0" indent="0">
              <a:buNone/>
            </a:pPr>
            <a:r>
              <a:rPr lang="en-US" sz="1050" b="1" kern="0" spc="140" dirty="0">
                <a:solidFill>
                  <a:srgbClr val="5A6472"/>
                </a:solidFill>
                <a:latin typeface="Calibri" pitchFamily="34" charset="0"/>
                <a:ea typeface="Calibri" pitchFamily="34" charset="-122"/>
                <a:cs typeface="Calibri" pitchFamily="34" charset="-120"/>
              </a:rPr>
              <a:t>CONCEPT</a:t>
            </a:r>
            <a:endParaRPr lang="en-US" sz="1050" dirty="0"/>
          </a:p>
        </p:txBody>
      </p:sp>
      <p:sp>
        <p:nvSpPr>
          <p:cNvPr id="4" name="Text 2"/>
          <p:cNvSpPr txBox="1"/>
          <p:nvPr/>
        </p:nvSpPr>
        <p:spPr>
          <a:xfrm>
            <a:off x="457200" y="603504"/>
            <a:ext cx="8229600" cy="56692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Which one should you reach for?</a:t>
            </a:r>
            <a:endParaRPr lang="en-US" sz="3000" dirty="0"/>
          </a:p>
        </p:txBody>
      </p:sp>
      <p:sp>
        <p:nvSpPr>
          <p:cNvPr id="5" name="Shape 3"/>
          <p:cNvSpPr/>
          <p:nvPr/>
        </p:nvSpPr>
        <p:spPr>
          <a:xfrm>
            <a:off x="457200" y="1207008"/>
            <a:ext cx="4041648" cy="1554480"/>
          </a:xfrm>
          <a:prstGeom prst="roundRect">
            <a:avLst>
              <a:gd name="adj" fmla="val 2353"/>
            </a:avLst>
          </a:prstGeom>
          <a:solidFill>
            <a:srgbClr val="F1F4F8"/>
          </a:solidFill>
          <a:ln w="9525">
            <a:solidFill>
              <a:srgbClr val="D8DFE8"/>
            </a:solidFill>
            <a:prstDash val="solid"/>
          </a:ln>
        </p:spPr>
        <p:txBody>
          <a:bodyPr/>
          <a:lstStyle/>
          <a:p>
            <a:endParaRPr lang="en-US"/>
          </a:p>
        </p:txBody>
      </p:sp>
      <p:sp>
        <p:nvSpPr>
          <p:cNvPr id="6" name="Text 4"/>
          <p:cNvSpPr txBox="1"/>
          <p:nvPr/>
        </p:nvSpPr>
        <p:spPr>
          <a:xfrm>
            <a:off x="640080" y="1371600"/>
            <a:ext cx="3675888" cy="1234440"/>
          </a:xfrm>
          <a:prstGeom prst="rect">
            <a:avLst/>
          </a:prstGeom>
          <a:noFill/>
          <a:ln/>
        </p:spPr>
        <p:txBody>
          <a:bodyPr wrap="square" lIns="0" tIns="0" rIns="0" bIns="0" rtlCol="0" anchor="t"/>
          <a:lstStyle/>
          <a:p>
            <a:pPr marL="0" indent="0">
              <a:spcAft>
                <a:spcPts val="500"/>
              </a:spcAft>
              <a:buNone/>
            </a:pPr>
            <a:r>
              <a:rPr lang="en-US" sz="1250" b="1" dirty="0">
                <a:solidFill>
                  <a:srgbClr val="1A5FB4"/>
                </a:solidFill>
                <a:latin typeface="Calibri" pitchFamily="34" charset="0"/>
                <a:ea typeface="Calibri" pitchFamily="34" charset="-122"/>
                <a:cs typeface="Calibri" pitchFamily="34" charset="-120"/>
              </a:rPr>
              <a:t>PCA — when the output feeds something else</a:t>
            </a:r>
            <a:endParaRPr lang="en-US" sz="1250" dirty="0"/>
          </a:p>
          <a:p>
            <a:pPr marL="0" indent="0">
              <a:spcAft>
                <a:spcPts val="500"/>
              </a:spcAft>
              <a:buNone/>
            </a:pPr>
            <a:r>
              <a:rPr lang="en-US" sz="1100" dirty="0">
                <a:solidFill>
                  <a:srgbClr val="1B2430"/>
                </a:solidFill>
                <a:latin typeface="Calibri" pitchFamily="34" charset="0"/>
                <a:ea typeface="Calibri" pitchFamily="34" charset="-122"/>
                <a:cs typeface="Calibri" pitchFamily="34" charset="-120"/>
              </a:rPr>
              <a:t>Clustering, regression, compression, denoising. Also as preprocessing for the other two: reduce to about 50 dimensions with PCA first, then run t-SNE or UMAP. It strips noise and cuts the runtime.</a:t>
            </a:r>
            <a:endParaRPr lang="en-US" sz="1250" dirty="0"/>
          </a:p>
        </p:txBody>
      </p:sp>
      <p:sp>
        <p:nvSpPr>
          <p:cNvPr id="7" name="Shape 5"/>
          <p:cNvSpPr/>
          <p:nvPr/>
        </p:nvSpPr>
        <p:spPr>
          <a:xfrm>
            <a:off x="4645152" y="1207008"/>
            <a:ext cx="4041648" cy="1554480"/>
          </a:xfrm>
          <a:prstGeom prst="roundRect">
            <a:avLst>
              <a:gd name="adj" fmla="val 2353"/>
            </a:avLst>
          </a:prstGeom>
          <a:solidFill>
            <a:srgbClr val="F1F4F8"/>
          </a:solidFill>
          <a:ln w="9525">
            <a:solidFill>
              <a:srgbClr val="D8DFE8"/>
            </a:solidFill>
            <a:prstDash val="solid"/>
          </a:ln>
        </p:spPr>
        <p:txBody>
          <a:bodyPr/>
          <a:lstStyle/>
          <a:p>
            <a:endParaRPr lang="en-US"/>
          </a:p>
        </p:txBody>
      </p:sp>
      <p:sp>
        <p:nvSpPr>
          <p:cNvPr id="8" name="Text 6"/>
          <p:cNvSpPr txBox="1"/>
          <p:nvPr/>
        </p:nvSpPr>
        <p:spPr>
          <a:xfrm>
            <a:off x="4828032" y="1371600"/>
            <a:ext cx="3675888" cy="1234440"/>
          </a:xfrm>
          <a:prstGeom prst="rect">
            <a:avLst/>
          </a:prstGeom>
          <a:noFill/>
          <a:ln/>
        </p:spPr>
        <p:txBody>
          <a:bodyPr wrap="square" lIns="0" tIns="0" rIns="0" bIns="0" rtlCol="0" anchor="t"/>
          <a:lstStyle/>
          <a:p>
            <a:pPr marL="0" indent="0">
              <a:spcAft>
                <a:spcPts val="500"/>
              </a:spcAft>
              <a:buNone/>
            </a:pPr>
            <a:r>
              <a:rPr lang="en-US" sz="1250" b="1" dirty="0">
                <a:solidFill>
                  <a:srgbClr val="1A5FB4"/>
                </a:solidFill>
                <a:latin typeface="Calibri" pitchFamily="34" charset="0"/>
                <a:ea typeface="Calibri" pitchFamily="34" charset="-122"/>
                <a:cs typeface="Calibri" pitchFamily="34" charset="-120"/>
              </a:rPr>
              <a:t>t-SNE / UMAP — when the output is a picture</a:t>
            </a:r>
            <a:endParaRPr lang="en-US" sz="1250" dirty="0"/>
          </a:p>
          <a:p>
            <a:pPr marL="0" indent="0">
              <a:spcAft>
                <a:spcPts val="500"/>
              </a:spcAft>
              <a:buNone/>
            </a:pPr>
            <a:r>
              <a:rPr lang="en-US" sz="1100" dirty="0">
                <a:solidFill>
                  <a:srgbClr val="1B2430"/>
                </a:solidFill>
                <a:latin typeface="Calibri" pitchFamily="34" charset="0"/>
                <a:ea typeface="Calibri" pitchFamily="34" charset="-122"/>
                <a:cs typeface="Calibri" pitchFamily="34" charset="-120"/>
              </a:rPr>
              <a:t>Exploratory visualization where you care about which points sit near which. t-SNE at moderate n; UMAP when n gets large or you need speed. Initialize t-SNE from PCA, not randomly.</a:t>
            </a:r>
            <a:endParaRPr lang="en-US" sz="1250" dirty="0"/>
          </a:p>
        </p:txBody>
      </p:sp>
      <p:sp>
        <p:nvSpPr>
          <p:cNvPr id="9" name="Shape 7"/>
          <p:cNvSpPr/>
          <p:nvPr/>
        </p:nvSpPr>
        <p:spPr>
          <a:xfrm>
            <a:off x="457200" y="2889504"/>
            <a:ext cx="8229600" cy="1170432"/>
          </a:xfrm>
          <a:prstGeom prst="roundRect">
            <a:avLst>
              <a:gd name="adj" fmla="val 3125"/>
            </a:avLst>
          </a:prstGeom>
          <a:solidFill>
            <a:srgbClr val="D8DFE8"/>
          </a:solidFill>
          <a:ln w="9525">
            <a:solidFill>
              <a:srgbClr val="B23A48"/>
            </a:solidFill>
            <a:prstDash val="solid"/>
          </a:ln>
        </p:spPr>
        <p:txBody>
          <a:bodyPr/>
          <a:lstStyle/>
          <a:p>
            <a:endParaRPr lang="en-US"/>
          </a:p>
        </p:txBody>
      </p:sp>
      <p:sp>
        <p:nvSpPr>
          <p:cNvPr id="10" name="Text 8"/>
          <p:cNvSpPr txBox="1"/>
          <p:nvPr/>
        </p:nvSpPr>
        <p:spPr>
          <a:xfrm>
            <a:off x="685800" y="2889504"/>
            <a:ext cx="7772400" cy="1170432"/>
          </a:xfrm>
          <a:prstGeom prst="rect">
            <a:avLst/>
          </a:prstGeom>
          <a:noFill/>
          <a:ln/>
        </p:spPr>
        <p:txBody>
          <a:bodyPr wrap="square" lIns="0" tIns="0" rIns="0" bIns="0" rtlCol="0" anchor="ctr"/>
          <a:lstStyle/>
          <a:p>
            <a:pPr marL="0" indent="0">
              <a:spcAft>
                <a:spcPts val="400"/>
              </a:spcAft>
              <a:buNone/>
            </a:pPr>
            <a:r>
              <a:rPr lang="en-US" sz="1350" b="1" dirty="0">
                <a:solidFill>
                  <a:srgbClr val="B23A48"/>
                </a:solidFill>
                <a:latin typeface="Calibri" pitchFamily="34" charset="0"/>
                <a:ea typeface="Calibri" pitchFamily="34" charset="-122"/>
                <a:cs typeface="Calibri" pitchFamily="34" charset="-120"/>
              </a:rPr>
              <a:t>Never feed t-SNE or UMAP coordinates into a downstream model.</a:t>
            </a:r>
            <a:endParaRPr lang="en-US" sz="1350" dirty="0"/>
          </a:p>
          <a:p>
            <a:pPr marL="0" indent="0">
              <a:spcAft>
                <a:spcPts val="400"/>
              </a:spcAft>
              <a:buNone/>
            </a:pPr>
            <a:r>
              <a:rPr lang="en-US" sz="1150" dirty="0">
                <a:solidFill>
                  <a:srgbClr val="1B2430"/>
                </a:solidFill>
                <a:latin typeface="Calibri" pitchFamily="34" charset="0"/>
                <a:ea typeface="Calibri" pitchFamily="34" charset="-122"/>
                <a:cs typeface="Calibri" pitchFamily="34" charset="-120"/>
              </a:rPr>
              <a:t>They are pictures, not features. The axes carry no units, the geometry is not a metric, and a model trained on those coordinates is fitting artefacts of the optimizer. Worse: t-SNE will happily produce convincing-looking clusters from pure random noise.</a:t>
            </a:r>
            <a:endParaRPr lang="en-US" sz="13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8">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457200" y="384048"/>
            <a:ext cx="118872" cy="118872"/>
          </a:xfrm>
          <a:prstGeom prst="ellipse">
            <a:avLst/>
          </a:prstGeom>
          <a:solidFill>
            <a:srgbClr val="FFC72C"/>
          </a:solidFill>
          <a:ln w="12700">
            <a:solidFill>
              <a:srgbClr val="FFC72C"/>
            </a:solidFill>
            <a:prstDash val="solid"/>
          </a:ln>
        </p:spPr>
        <p:txBody>
          <a:bodyPr/>
          <a:lstStyle/>
          <a:p>
            <a:endParaRPr lang="en-US"/>
          </a:p>
        </p:txBody>
      </p:sp>
      <p:sp>
        <p:nvSpPr>
          <p:cNvPr id="3" name="Text 1"/>
          <p:cNvSpPr txBox="1"/>
          <p:nvPr/>
        </p:nvSpPr>
        <p:spPr>
          <a:xfrm>
            <a:off x="658368" y="329184"/>
            <a:ext cx="8028432" cy="237744"/>
          </a:xfrm>
          <a:prstGeom prst="rect">
            <a:avLst/>
          </a:prstGeom>
          <a:noFill/>
          <a:ln/>
        </p:spPr>
        <p:txBody>
          <a:bodyPr wrap="square" lIns="0" tIns="0" rIns="0" bIns="0" rtlCol="0" anchor="ctr"/>
          <a:lstStyle/>
          <a:p>
            <a:pPr marL="0" indent="0">
              <a:buNone/>
            </a:pPr>
            <a:r>
              <a:rPr lang="en-US" sz="1050" b="1" kern="0" spc="140" dirty="0">
                <a:solidFill>
                  <a:srgbClr val="5A6472"/>
                </a:solidFill>
                <a:latin typeface="Calibri" pitchFamily="34" charset="0"/>
                <a:ea typeface="Calibri" pitchFamily="34" charset="-122"/>
                <a:cs typeface="Calibri" pitchFamily="34" charset="-120"/>
              </a:rPr>
              <a:t>RESOLUTION</a:t>
            </a:r>
            <a:endParaRPr lang="en-US" sz="1050" dirty="0"/>
          </a:p>
        </p:txBody>
      </p:sp>
      <p:sp>
        <p:nvSpPr>
          <p:cNvPr id="4" name="Text 2"/>
          <p:cNvSpPr txBox="1"/>
          <p:nvPr/>
        </p:nvSpPr>
        <p:spPr>
          <a:xfrm>
            <a:off x="457200" y="603504"/>
            <a:ext cx="8229600" cy="56692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Two questions, one dataset</a:t>
            </a:r>
            <a:endParaRPr lang="en-US" sz="3000" dirty="0"/>
          </a:p>
        </p:txBody>
      </p:sp>
      <p:sp>
        <p:nvSpPr>
          <p:cNvPr id="5" name="Shape 3"/>
          <p:cNvSpPr/>
          <p:nvPr/>
        </p:nvSpPr>
        <p:spPr>
          <a:xfrm>
            <a:off x="457200" y="1298448"/>
            <a:ext cx="4041648" cy="1417320"/>
          </a:xfrm>
          <a:prstGeom prst="roundRect">
            <a:avLst>
              <a:gd name="adj" fmla="val 2581"/>
            </a:avLst>
          </a:prstGeom>
          <a:solidFill>
            <a:srgbClr val="F1F4F8"/>
          </a:solidFill>
          <a:ln w="9525">
            <a:solidFill>
              <a:srgbClr val="D8DFE8"/>
            </a:solidFill>
            <a:prstDash val="solid"/>
          </a:ln>
        </p:spPr>
        <p:txBody>
          <a:bodyPr/>
          <a:lstStyle/>
          <a:p>
            <a:endParaRPr lang="en-US"/>
          </a:p>
        </p:txBody>
      </p:sp>
      <p:sp>
        <p:nvSpPr>
          <p:cNvPr id="6" name="Text 4"/>
          <p:cNvSpPr txBox="1"/>
          <p:nvPr/>
        </p:nvSpPr>
        <p:spPr>
          <a:xfrm>
            <a:off x="658368" y="1463040"/>
            <a:ext cx="3639312" cy="1097280"/>
          </a:xfrm>
          <a:prstGeom prst="rect">
            <a:avLst/>
          </a:prstGeom>
          <a:noFill/>
          <a:ln/>
        </p:spPr>
        <p:txBody>
          <a:bodyPr wrap="square" lIns="0" tIns="0" rIns="0" bIns="0" rtlCol="0" anchor="t"/>
          <a:lstStyle/>
          <a:p>
            <a:pPr marL="0" indent="0">
              <a:spcAft>
                <a:spcPts val="500"/>
              </a:spcAft>
              <a:buNone/>
            </a:pPr>
            <a:r>
              <a:rPr lang="en-US" sz="1400" b="1" dirty="0">
                <a:solidFill>
                  <a:srgbClr val="1A5FB4"/>
                </a:solidFill>
                <a:latin typeface="Calibri" pitchFamily="34" charset="0"/>
                <a:ea typeface="Calibri" pitchFamily="34" charset="-122"/>
                <a:cs typeface="Calibri" pitchFamily="34" charset="-120"/>
              </a:rPr>
              <a:t>Clustering asks about rows</a:t>
            </a:r>
            <a:endParaRPr lang="en-US" sz="1400" dirty="0"/>
          </a:p>
          <a:p>
            <a:pPr marL="0" indent="0">
              <a:spcAft>
                <a:spcPts val="500"/>
              </a:spcAft>
              <a:buNone/>
            </a:pPr>
            <a:r>
              <a:rPr lang="en-US" sz="1200" dirty="0">
                <a:solidFill>
                  <a:srgbClr val="1B2430"/>
                </a:solidFill>
                <a:latin typeface="Calibri" pitchFamily="34" charset="0"/>
                <a:ea typeface="Calibri" pitchFamily="34" charset="-122"/>
                <a:cs typeface="Calibri" pitchFamily="34" charset="-120"/>
              </a:rPr>
              <a:t>Which datapoints belong together? K-Means and hierarchical clustering both group the observations.</a:t>
            </a:r>
            <a:endParaRPr lang="en-US" sz="1400" dirty="0"/>
          </a:p>
        </p:txBody>
      </p:sp>
      <p:sp>
        <p:nvSpPr>
          <p:cNvPr id="7" name="Shape 5"/>
          <p:cNvSpPr/>
          <p:nvPr/>
        </p:nvSpPr>
        <p:spPr>
          <a:xfrm>
            <a:off x="4645152" y="1298448"/>
            <a:ext cx="4041648" cy="1417320"/>
          </a:xfrm>
          <a:prstGeom prst="roundRect">
            <a:avLst>
              <a:gd name="adj" fmla="val 2581"/>
            </a:avLst>
          </a:prstGeom>
          <a:solidFill>
            <a:srgbClr val="F1F4F8"/>
          </a:solidFill>
          <a:ln w="9525">
            <a:solidFill>
              <a:srgbClr val="D8DFE8"/>
            </a:solidFill>
            <a:prstDash val="solid"/>
          </a:ln>
        </p:spPr>
        <p:txBody>
          <a:bodyPr/>
          <a:lstStyle/>
          <a:p>
            <a:endParaRPr lang="en-US"/>
          </a:p>
        </p:txBody>
      </p:sp>
      <p:sp>
        <p:nvSpPr>
          <p:cNvPr id="8" name="Text 6"/>
          <p:cNvSpPr txBox="1"/>
          <p:nvPr/>
        </p:nvSpPr>
        <p:spPr>
          <a:xfrm>
            <a:off x="4846320" y="1463040"/>
            <a:ext cx="3639312" cy="1097280"/>
          </a:xfrm>
          <a:prstGeom prst="rect">
            <a:avLst/>
          </a:prstGeom>
          <a:noFill/>
          <a:ln/>
        </p:spPr>
        <p:txBody>
          <a:bodyPr wrap="square" lIns="0" tIns="0" rIns="0" bIns="0" rtlCol="0" anchor="t"/>
          <a:lstStyle/>
          <a:p>
            <a:pPr marL="0" indent="0">
              <a:spcAft>
                <a:spcPts val="500"/>
              </a:spcAft>
              <a:buNone/>
            </a:pPr>
            <a:r>
              <a:rPr lang="en-US" sz="1400" b="1" dirty="0">
                <a:solidFill>
                  <a:srgbClr val="1A5FB4"/>
                </a:solidFill>
                <a:latin typeface="Calibri" pitchFamily="34" charset="0"/>
                <a:ea typeface="Calibri" pitchFamily="34" charset="-122"/>
                <a:cs typeface="Calibri" pitchFamily="34" charset="-120"/>
              </a:rPr>
              <a:t>Dimensionality reduction asks about columns</a:t>
            </a:r>
            <a:endParaRPr lang="en-US" sz="1400" dirty="0"/>
          </a:p>
          <a:p>
            <a:pPr marL="0" indent="0">
              <a:spcAft>
                <a:spcPts val="500"/>
              </a:spcAft>
              <a:buNone/>
            </a:pPr>
            <a:r>
              <a:rPr lang="en-US" sz="1200" dirty="0">
                <a:solidFill>
                  <a:srgbClr val="1B2430"/>
                </a:solidFill>
                <a:latin typeface="Calibri" pitchFamily="34" charset="0"/>
                <a:ea typeface="Calibri" pitchFamily="34" charset="-122"/>
                <a:cs typeface="Calibri" pitchFamily="34" charset="-120"/>
              </a:rPr>
              <a:t>Which measurements actually carry the structure? PCA and its non-linear cousins reduce the features.</a:t>
            </a:r>
            <a:endParaRPr lang="en-US" sz="1400" dirty="0"/>
          </a:p>
        </p:txBody>
      </p:sp>
      <p:sp>
        <p:nvSpPr>
          <p:cNvPr id="9" name="Text 7"/>
          <p:cNvSpPr txBox="1"/>
          <p:nvPr/>
        </p:nvSpPr>
        <p:spPr>
          <a:xfrm>
            <a:off x="457200" y="2834640"/>
            <a:ext cx="8229600" cy="457200"/>
          </a:xfrm>
          <a:prstGeom prst="rect">
            <a:avLst/>
          </a:prstGeom>
          <a:noFill/>
          <a:ln/>
        </p:spPr>
        <p:txBody>
          <a:bodyPr wrap="square" lIns="0" tIns="0" rIns="0" bIns="0" rtlCol="0" anchor="ctr"/>
          <a:lstStyle/>
          <a:p>
            <a:pPr marL="0" indent="0">
              <a:buNone/>
            </a:pPr>
            <a:r>
              <a:rPr lang="en-US" sz="1300" dirty="0">
                <a:solidFill>
                  <a:srgbClr val="AEBBCE"/>
                </a:solidFill>
                <a:latin typeface="Calibri" pitchFamily="34" charset="0"/>
                <a:ea typeface="Calibri" pitchFamily="34" charset="-122"/>
                <a:cs typeface="Calibri" pitchFamily="34" charset="-120"/>
              </a:rPr>
              <a:t>Neither one was given a single label. Both found real structure anyway — and in the notebook you will check their work against the species column we hid.</a:t>
            </a:r>
            <a:endParaRPr lang="en-US" sz="1300" dirty="0"/>
          </a:p>
        </p:txBody>
      </p:sp>
      <p:sp>
        <p:nvSpPr>
          <p:cNvPr id="10" name="Shape 8"/>
          <p:cNvSpPr/>
          <p:nvPr/>
        </p:nvSpPr>
        <p:spPr>
          <a:xfrm>
            <a:off x="457200" y="3401568"/>
            <a:ext cx="8229600" cy="658368"/>
          </a:xfrm>
          <a:prstGeom prst="roundRect">
            <a:avLst>
              <a:gd name="adj" fmla="val 5556"/>
            </a:avLst>
          </a:prstGeom>
          <a:solidFill>
            <a:srgbClr val="E8F4ED"/>
          </a:solidFill>
          <a:ln w="12700">
            <a:solidFill>
              <a:srgbClr val="1B7A46"/>
            </a:solidFill>
            <a:prstDash val="solid"/>
          </a:ln>
        </p:spPr>
        <p:txBody>
          <a:bodyPr/>
          <a:lstStyle/>
          <a:p>
            <a:endParaRPr lang="en-US"/>
          </a:p>
        </p:txBody>
      </p:sp>
      <p:sp>
        <p:nvSpPr>
          <p:cNvPr id="11" name="Text 9"/>
          <p:cNvSpPr txBox="1"/>
          <p:nvPr/>
        </p:nvSpPr>
        <p:spPr>
          <a:xfrm>
            <a:off x="685800" y="3401568"/>
            <a:ext cx="7772400" cy="658368"/>
          </a:xfrm>
          <a:prstGeom prst="rect">
            <a:avLst/>
          </a:prstGeom>
          <a:noFill/>
          <a:ln/>
        </p:spPr>
        <p:txBody>
          <a:bodyPr wrap="square" lIns="0" tIns="0" rIns="0" bIns="0" rtlCol="0" anchor="ctr"/>
          <a:lstStyle/>
          <a:p>
            <a:pPr marL="0" indent="0">
              <a:buNone/>
            </a:pPr>
            <a:r>
              <a:rPr lang="en-US" sz="1250" b="1" dirty="0">
                <a:solidFill>
                  <a:srgbClr val="1B7A46"/>
                </a:solidFill>
                <a:latin typeface="Calibri" pitchFamily="34" charset="0"/>
                <a:ea typeface="Calibri" pitchFamily="34" charset="-122"/>
                <a:cs typeface="Calibri" pitchFamily="34" charset="-120"/>
              </a:rPr>
              <a:t>Next quarter, Week 3:  large language models represent every word as a vector in hundreds of dimensions. Everything today is how we look at them.</a:t>
            </a:r>
            <a:endParaRPr lang="en-US" sz="12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9">
    <p:bg>
      <p:bgPr>
        <a:solidFill>
          <a:srgbClr val="12233F"/>
        </a:solidFill>
        <a:effectLst/>
      </p:bgPr>
    </p:bg>
    <p:spTree>
      <p:nvGrpSpPr>
        <p:cNvPr id="1" name=""/>
        <p:cNvGrpSpPr/>
        <p:nvPr/>
      </p:nvGrpSpPr>
      <p:grpSpPr>
        <a:xfrm>
          <a:off x="0" y="0"/>
          <a:ext cx="0" cy="0"/>
          <a:chOff x="0" y="0"/>
          <a:chExt cx="0" cy="0"/>
        </a:xfrm>
      </p:grpSpPr>
      <p:sp>
        <p:nvSpPr>
          <p:cNvPr id="2" name="Text 0"/>
          <p:cNvSpPr txBox="1"/>
          <p:nvPr/>
        </p:nvSpPr>
        <p:spPr>
          <a:xfrm>
            <a:off x="457200" y="1737360"/>
            <a:ext cx="8229600" cy="64008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Coding Notebook</a:t>
            </a:r>
            <a:endParaRPr lang="en-US" sz="3600" dirty="0"/>
          </a:p>
        </p:txBody>
      </p:sp>
      <p:sp>
        <p:nvSpPr>
          <p:cNvPr id="3" name="Text 1"/>
          <p:cNvSpPr txBox="1"/>
          <p:nvPr/>
        </p:nvSpPr>
        <p:spPr>
          <a:xfrm>
            <a:off x="457200" y="2423160"/>
            <a:ext cx="8229600" cy="365760"/>
          </a:xfrm>
          <a:prstGeom prst="rect">
            <a:avLst/>
          </a:prstGeom>
          <a:noFill/>
          <a:ln/>
        </p:spPr>
        <p:txBody>
          <a:bodyPr wrap="square" lIns="0" tIns="0" rIns="0" bIns="0" rtlCol="0" anchor="ctr"/>
          <a:lstStyle/>
          <a:p>
            <a:pPr marL="0" indent="0">
              <a:buNone/>
            </a:pPr>
            <a:r>
              <a:rPr lang="en-US" sz="1500" dirty="0">
                <a:solidFill>
                  <a:srgbClr val="FFC72C"/>
                </a:solidFill>
                <a:latin typeface="Calibri" pitchFamily="34" charset="0"/>
                <a:ea typeface="Calibri" pitchFamily="34" charset="-122"/>
                <a:cs typeface="Calibri" pitchFamily="34" charset="-120"/>
              </a:rPr>
              <a:t>Open VS Code and pull the latest from the repository.</a:t>
            </a:r>
            <a:endParaRPr lang="en-US" sz="1500" dirty="0"/>
          </a:p>
        </p:txBody>
      </p:sp>
      <p:sp>
        <p:nvSpPr>
          <p:cNvPr id="4" name="Text 2"/>
          <p:cNvSpPr txBox="1"/>
          <p:nvPr/>
        </p:nvSpPr>
        <p:spPr>
          <a:xfrm>
            <a:off x="457200" y="2907792"/>
            <a:ext cx="8229600" cy="365760"/>
          </a:xfrm>
          <a:prstGeom prst="rect">
            <a:avLst/>
          </a:prstGeom>
          <a:noFill/>
          <a:ln/>
        </p:spPr>
        <p:txBody>
          <a:bodyPr wrap="square" lIns="0" tIns="0" rIns="0" bIns="0" rtlCol="0" anchor="ctr"/>
          <a:lstStyle/>
          <a:p>
            <a:pPr marL="0" indent="0">
              <a:buNone/>
            </a:pPr>
            <a:r>
              <a:rPr lang="en-US" sz="1300" dirty="0">
                <a:solidFill>
                  <a:srgbClr val="CFD9E6"/>
                </a:solidFill>
                <a:latin typeface="Calibri" pitchFamily="34" charset="0"/>
                <a:ea typeface="Calibri" pitchFamily="34" charset="-122"/>
                <a:cs typeface="Calibri" pitchFamily="34" charset="-120"/>
              </a:rPr>
              <a:t>github.com/Artificial-Intelligence-UC-Irvine/Workshops-Code-2627</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0">
    <p:bg>
      <p:bgPr>
        <a:solidFill>
          <a:srgbClr val="12233F"/>
        </a:solidFill>
        <a:effectLst/>
      </p:bgPr>
    </p:bg>
    <p:spTree>
      <p:nvGrpSpPr>
        <p:cNvPr id="1" name=""/>
        <p:cNvGrpSpPr/>
        <p:nvPr/>
      </p:nvGrpSpPr>
      <p:grpSpPr>
        <a:xfrm>
          <a:off x="0" y="0"/>
          <a:ext cx="0" cy="0"/>
          <a:chOff x="0" y="0"/>
          <a:chExt cx="0" cy="0"/>
        </a:xfrm>
      </p:grpSpPr>
      <p:sp>
        <p:nvSpPr>
          <p:cNvPr id="2" name="Text 0"/>
          <p:cNvSpPr txBox="1"/>
          <p:nvPr/>
        </p:nvSpPr>
        <p:spPr>
          <a:xfrm>
            <a:off x="457200" y="1417320"/>
            <a:ext cx="8229600" cy="68580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Connect with us!</a:t>
            </a:r>
            <a:endParaRPr lang="en-US" sz="3400" dirty="0"/>
          </a:p>
        </p:txBody>
      </p:sp>
      <p:sp>
        <p:nvSpPr>
          <p:cNvPr id="3" name="Shape 1"/>
          <p:cNvSpPr/>
          <p:nvPr/>
        </p:nvSpPr>
        <p:spPr>
          <a:xfrm>
            <a:off x="457200" y="2359152"/>
            <a:ext cx="118872" cy="118872"/>
          </a:xfrm>
          <a:prstGeom prst="ellipse">
            <a:avLst/>
          </a:prstGeom>
          <a:solidFill>
            <a:srgbClr val="FFC72C"/>
          </a:solidFill>
          <a:ln w="12700">
            <a:solidFill>
              <a:srgbClr val="FFC72C"/>
            </a:solidFill>
            <a:prstDash val="solid"/>
          </a:ln>
        </p:spPr>
        <p:txBody>
          <a:bodyPr/>
          <a:lstStyle/>
          <a:p>
            <a:endParaRPr lang="en-US"/>
          </a:p>
        </p:txBody>
      </p:sp>
      <p:sp>
        <p:nvSpPr>
          <p:cNvPr id="4" name="Text 2"/>
          <p:cNvSpPr txBox="1"/>
          <p:nvPr/>
        </p:nvSpPr>
        <p:spPr>
          <a:xfrm>
            <a:off x="731520" y="2286000"/>
            <a:ext cx="7955280" cy="329184"/>
          </a:xfrm>
          <a:prstGeom prst="rect">
            <a:avLst/>
          </a:prstGeom>
          <a:noFill/>
          <a:ln/>
        </p:spPr>
        <p:txBody>
          <a:bodyPr wrap="square" lIns="0" tIns="0" rIns="0" bIns="0" rtlCol="0" anchor="ctr"/>
          <a:lstStyle/>
          <a:p>
            <a:pPr marL="0" indent="0">
              <a:buNone/>
            </a:pPr>
            <a:r>
              <a:rPr lang="en-US" sz="1250" b="1" dirty="0">
                <a:solidFill>
                  <a:srgbClr val="FFC72C"/>
                </a:solidFill>
                <a:latin typeface="Calibri" pitchFamily="34" charset="0"/>
                <a:ea typeface="Calibri" pitchFamily="34" charset="-122"/>
                <a:cs typeface="Calibri" pitchFamily="34" charset="-120"/>
              </a:rPr>
              <a:t>Discord  —  </a:t>
            </a:r>
            <a:r>
              <a:rPr lang="en-US" sz="1250" dirty="0">
                <a:solidFill>
                  <a:srgbClr val="AEBBCE"/>
                </a:solidFill>
                <a:latin typeface="Calibri" pitchFamily="34" charset="0"/>
                <a:ea typeface="Calibri" pitchFamily="34" charset="-122"/>
                <a:cs typeface="Calibri" pitchFamily="34" charset="-120"/>
              </a:rPr>
              <a:t>https://discord.gg/CZCgunt</a:t>
            </a:r>
            <a:endParaRPr lang="en-US" sz="1250" dirty="0"/>
          </a:p>
        </p:txBody>
      </p:sp>
      <p:sp>
        <p:nvSpPr>
          <p:cNvPr id="5" name="Shape 3"/>
          <p:cNvSpPr/>
          <p:nvPr/>
        </p:nvSpPr>
        <p:spPr>
          <a:xfrm>
            <a:off x="457200" y="2779776"/>
            <a:ext cx="118872" cy="118872"/>
          </a:xfrm>
          <a:prstGeom prst="ellipse">
            <a:avLst/>
          </a:prstGeom>
          <a:solidFill>
            <a:srgbClr val="FFC72C"/>
          </a:solidFill>
          <a:ln w="12700">
            <a:solidFill>
              <a:srgbClr val="FFC72C"/>
            </a:solidFill>
            <a:prstDash val="solid"/>
          </a:ln>
        </p:spPr>
        <p:txBody>
          <a:bodyPr/>
          <a:lstStyle/>
          <a:p>
            <a:endParaRPr lang="en-US"/>
          </a:p>
        </p:txBody>
      </p:sp>
      <p:sp>
        <p:nvSpPr>
          <p:cNvPr id="6" name="Text 4"/>
          <p:cNvSpPr txBox="1"/>
          <p:nvPr/>
        </p:nvSpPr>
        <p:spPr>
          <a:xfrm>
            <a:off x="731520" y="2706624"/>
            <a:ext cx="7955280" cy="329184"/>
          </a:xfrm>
          <a:prstGeom prst="rect">
            <a:avLst/>
          </a:prstGeom>
          <a:noFill/>
          <a:ln/>
        </p:spPr>
        <p:txBody>
          <a:bodyPr wrap="square" lIns="0" tIns="0" rIns="0" bIns="0" rtlCol="0" anchor="ctr"/>
          <a:lstStyle/>
          <a:p>
            <a:pPr marL="0" indent="0">
              <a:buNone/>
            </a:pPr>
            <a:r>
              <a:rPr lang="en-US" sz="1250" b="1" dirty="0">
                <a:solidFill>
                  <a:srgbClr val="FFC72C"/>
                </a:solidFill>
                <a:latin typeface="Calibri" pitchFamily="34" charset="0"/>
                <a:ea typeface="Calibri" pitchFamily="34" charset="-122"/>
                <a:cs typeface="Calibri" pitchFamily="34" charset="-120"/>
              </a:rPr>
              <a:t>Website  —  </a:t>
            </a:r>
            <a:r>
              <a:rPr lang="en-US" sz="1250" dirty="0">
                <a:solidFill>
                  <a:srgbClr val="AEBBCE"/>
                </a:solidFill>
                <a:latin typeface="Calibri" pitchFamily="34" charset="0"/>
                <a:ea typeface="Calibri" pitchFamily="34" charset="-122"/>
                <a:cs typeface="Calibri" pitchFamily="34" charset="-120"/>
              </a:rPr>
              <a:t>https://aiclub.ics.uci.edu/</a:t>
            </a:r>
            <a:endParaRPr lang="en-US" sz="1250" dirty="0"/>
          </a:p>
        </p:txBody>
      </p:sp>
      <p:sp>
        <p:nvSpPr>
          <p:cNvPr id="7" name="Shape 5"/>
          <p:cNvSpPr/>
          <p:nvPr/>
        </p:nvSpPr>
        <p:spPr>
          <a:xfrm>
            <a:off x="457200" y="3200400"/>
            <a:ext cx="118872" cy="118872"/>
          </a:xfrm>
          <a:prstGeom prst="ellipse">
            <a:avLst/>
          </a:prstGeom>
          <a:solidFill>
            <a:srgbClr val="FFC72C"/>
          </a:solidFill>
          <a:ln w="12700">
            <a:solidFill>
              <a:srgbClr val="FFC72C"/>
            </a:solidFill>
            <a:prstDash val="solid"/>
          </a:ln>
        </p:spPr>
        <p:txBody>
          <a:bodyPr/>
          <a:lstStyle/>
          <a:p>
            <a:endParaRPr lang="en-US"/>
          </a:p>
        </p:txBody>
      </p:sp>
      <p:sp>
        <p:nvSpPr>
          <p:cNvPr id="8" name="Text 6"/>
          <p:cNvSpPr txBox="1"/>
          <p:nvPr/>
        </p:nvSpPr>
        <p:spPr>
          <a:xfrm>
            <a:off x="731520" y="3127248"/>
            <a:ext cx="7955280" cy="329184"/>
          </a:xfrm>
          <a:prstGeom prst="rect">
            <a:avLst/>
          </a:prstGeom>
          <a:noFill/>
          <a:ln/>
        </p:spPr>
        <p:txBody>
          <a:bodyPr wrap="square" lIns="0" tIns="0" rIns="0" bIns="0" rtlCol="0" anchor="ctr"/>
          <a:lstStyle/>
          <a:p>
            <a:pPr marL="0" indent="0">
              <a:buNone/>
            </a:pPr>
            <a:r>
              <a:rPr lang="en-US" sz="1250" b="1" dirty="0">
                <a:solidFill>
                  <a:srgbClr val="FFC72C"/>
                </a:solidFill>
                <a:latin typeface="Calibri" pitchFamily="34" charset="0"/>
                <a:ea typeface="Calibri" pitchFamily="34" charset="-122"/>
                <a:cs typeface="Calibri" pitchFamily="34" charset="-120"/>
              </a:rPr>
              <a:t>YouTube  —  </a:t>
            </a:r>
            <a:r>
              <a:rPr lang="en-US" sz="1250" dirty="0">
                <a:solidFill>
                  <a:srgbClr val="AEBBCE"/>
                </a:solidFill>
                <a:latin typeface="Calibri" pitchFamily="34" charset="0"/>
                <a:ea typeface="Calibri" pitchFamily="34" charset="-122"/>
                <a:cs typeface="Calibri" pitchFamily="34" charset="-120"/>
              </a:rPr>
              <a:t>https://tinyurl.com/aiatuci</a:t>
            </a:r>
            <a:endParaRPr lang="en-US" sz="1250" dirty="0"/>
          </a:p>
        </p:txBody>
      </p:sp>
      <p:sp>
        <p:nvSpPr>
          <p:cNvPr id="9" name="Shape 7"/>
          <p:cNvSpPr/>
          <p:nvPr/>
        </p:nvSpPr>
        <p:spPr>
          <a:xfrm>
            <a:off x="457200" y="3621024"/>
            <a:ext cx="118872" cy="118872"/>
          </a:xfrm>
          <a:prstGeom prst="ellipse">
            <a:avLst/>
          </a:prstGeom>
          <a:solidFill>
            <a:srgbClr val="FFC72C"/>
          </a:solidFill>
          <a:ln w="12700">
            <a:solidFill>
              <a:srgbClr val="FFC72C"/>
            </a:solidFill>
            <a:prstDash val="solid"/>
          </a:ln>
        </p:spPr>
        <p:txBody>
          <a:bodyPr/>
          <a:lstStyle/>
          <a:p>
            <a:endParaRPr lang="en-US"/>
          </a:p>
        </p:txBody>
      </p:sp>
      <p:sp>
        <p:nvSpPr>
          <p:cNvPr id="10" name="Text 8"/>
          <p:cNvSpPr txBox="1"/>
          <p:nvPr/>
        </p:nvSpPr>
        <p:spPr>
          <a:xfrm>
            <a:off x="731520" y="3547872"/>
            <a:ext cx="7955280" cy="329184"/>
          </a:xfrm>
          <a:prstGeom prst="rect">
            <a:avLst/>
          </a:prstGeom>
          <a:noFill/>
          <a:ln/>
        </p:spPr>
        <p:txBody>
          <a:bodyPr wrap="square" lIns="0" tIns="0" rIns="0" bIns="0" rtlCol="0" anchor="ctr"/>
          <a:lstStyle/>
          <a:p>
            <a:pPr marL="0" indent="0">
              <a:buNone/>
            </a:pPr>
            <a:r>
              <a:rPr lang="en-US" sz="1250" b="1" dirty="0">
                <a:solidFill>
                  <a:srgbClr val="FFC72C"/>
                </a:solidFill>
                <a:latin typeface="Calibri" pitchFamily="34" charset="0"/>
                <a:ea typeface="Calibri" pitchFamily="34" charset="-122"/>
                <a:cs typeface="Calibri" pitchFamily="34" charset="-120"/>
              </a:rPr>
              <a:t>Instagram  —  </a:t>
            </a:r>
            <a:r>
              <a:rPr lang="en-US" sz="1250" dirty="0">
                <a:solidFill>
                  <a:srgbClr val="AEBBCE"/>
                </a:solidFill>
                <a:latin typeface="Calibri" pitchFamily="34" charset="0"/>
                <a:ea typeface="Calibri" pitchFamily="34" charset="-122"/>
                <a:cs typeface="Calibri" pitchFamily="34" charset="-120"/>
              </a:rPr>
              <a:t>@AIatUCI</a:t>
            </a:r>
            <a:endParaRPr lang="en-US" sz="12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1">
    <p:bg>
      <p:bgPr>
        <a:solidFill>
          <a:srgbClr val="12233F"/>
        </a:solidFill>
        <a:effectLst/>
      </p:bgPr>
    </p:bg>
    <p:spTree>
      <p:nvGrpSpPr>
        <p:cNvPr id="1" name=""/>
        <p:cNvGrpSpPr/>
        <p:nvPr/>
      </p:nvGrpSpPr>
      <p:grpSpPr>
        <a:xfrm>
          <a:off x="0" y="0"/>
          <a:ext cx="0" cy="0"/>
          <a:chOff x="0" y="0"/>
          <a:chExt cx="0" cy="0"/>
        </a:xfrm>
      </p:grpSpPr>
      <p:sp>
        <p:nvSpPr>
          <p:cNvPr id="2" name="Text 0"/>
          <p:cNvSpPr txBox="1"/>
          <p:nvPr/>
        </p:nvSpPr>
        <p:spPr>
          <a:xfrm>
            <a:off x="457200" y="1920240"/>
            <a:ext cx="8229600" cy="365760"/>
          </a:xfrm>
          <a:prstGeom prst="rect">
            <a:avLst/>
          </a:prstGeom>
          <a:noFill/>
          <a:ln/>
        </p:spPr>
        <p:txBody>
          <a:bodyPr wrap="square" lIns="0" tIns="0" rIns="0" bIns="0" rtlCol="0" anchor="ctr"/>
          <a:lstStyle/>
          <a:p>
            <a:pPr marL="0" indent="0">
              <a:buNone/>
            </a:pPr>
            <a:r>
              <a:rPr lang="en-US" sz="1300" b="1" kern="0" spc="200" dirty="0">
                <a:solidFill>
                  <a:srgbClr val="FFC72C"/>
                </a:solidFill>
                <a:latin typeface="Calibri" pitchFamily="34" charset="0"/>
                <a:ea typeface="Calibri" pitchFamily="34" charset="-122"/>
                <a:cs typeface="Calibri" pitchFamily="34" charset="-120"/>
              </a:rPr>
              <a:t>APPENDIX</a:t>
            </a:r>
            <a:endParaRPr lang="en-US" sz="1300" dirty="0"/>
          </a:p>
        </p:txBody>
      </p:sp>
      <p:sp>
        <p:nvSpPr>
          <p:cNvPr id="3" name="Text 1"/>
          <p:cNvSpPr txBox="1"/>
          <p:nvPr/>
        </p:nvSpPr>
        <p:spPr>
          <a:xfrm>
            <a:off x="457200" y="2286000"/>
            <a:ext cx="82296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Backup slides</a:t>
            </a:r>
            <a:endParaRPr lang="en-US" sz="3200" dirty="0"/>
          </a:p>
        </p:txBody>
      </p:sp>
      <p:sp>
        <p:nvSpPr>
          <p:cNvPr id="4" name="Text 2"/>
          <p:cNvSpPr txBox="1"/>
          <p:nvPr/>
        </p:nvSpPr>
        <p:spPr>
          <a:xfrm>
            <a:off x="457200" y="2944368"/>
            <a:ext cx="8229600" cy="365760"/>
          </a:xfrm>
          <a:prstGeom prst="rect">
            <a:avLst/>
          </a:prstGeom>
          <a:noFill/>
          <a:ln/>
        </p:spPr>
        <p:txBody>
          <a:bodyPr wrap="square" lIns="0" tIns="0" rIns="0" bIns="0" rtlCol="0" anchor="ctr"/>
          <a:lstStyle/>
          <a:p>
            <a:pPr marL="0" indent="0">
              <a:buNone/>
            </a:pPr>
            <a:r>
              <a:rPr lang="en-US" sz="1300" dirty="0">
                <a:solidFill>
                  <a:srgbClr val="AEBBCE"/>
                </a:solidFill>
                <a:latin typeface="Calibri" pitchFamily="34" charset="0"/>
                <a:ea typeface="Calibri" pitchFamily="34" charset="-122"/>
                <a:cs typeface="Calibri" pitchFamily="34" charset="-120"/>
              </a:rPr>
              <a:t>Not part of the 48-minute run. Open only if someone asks how t-SNE or UMAP actually work.</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2">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457200" y="384048"/>
            <a:ext cx="118872" cy="118872"/>
          </a:xfrm>
          <a:prstGeom prst="ellipse">
            <a:avLst/>
          </a:prstGeom>
          <a:solidFill>
            <a:srgbClr val="FFC72C"/>
          </a:solidFill>
          <a:ln w="12700">
            <a:solidFill>
              <a:srgbClr val="FFC72C"/>
            </a:solidFill>
            <a:prstDash val="solid"/>
          </a:ln>
        </p:spPr>
        <p:txBody>
          <a:bodyPr/>
          <a:lstStyle/>
          <a:p>
            <a:endParaRPr lang="en-US"/>
          </a:p>
        </p:txBody>
      </p:sp>
      <p:sp>
        <p:nvSpPr>
          <p:cNvPr id="3" name="Text 1"/>
          <p:cNvSpPr txBox="1"/>
          <p:nvPr/>
        </p:nvSpPr>
        <p:spPr>
          <a:xfrm>
            <a:off x="658368" y="329184"/>
            <a:ext cx="8028432" cy="237744"/>
          </a:xfrm>
          <a:prstGeom prst="rect">
            <a:avLst/>
          </a:prstGeom>
          <a:noFill/>
          <a:ln/>
        </p:spPr>
        <p:txBody>
          <a:bodyPr wrap="square" lIns="0" tIns="0" rIns="0" bIns="0" rtlCol="0" anchor="ctr"/>
          <a:lstStyle/>
          <a:p>
            <a:pPr marL="0" indent="0">
              <a:buNone/>
            </a:pPr>
            <a:r>
              <a:rPr lang="en-US" sz="1050" b="1" kern="0" spc="140" dirty="0">
                <a:solidFill>
                  <a:srgbClr val="5A6472"/>
                </a:solidFill>
                <a:latin typeface="Calibri" pitchFamily="34" charset="0"/>
                <a:ea typeface="Calibri" pitchFamily="34" charset="-122"/>
                <a:cs typeface="Calibri" pitchFamily="34" charset="-120"/>
              </a:rPr>
              <a:t>APPENDIX</a:t>
            </a:r>
            <a:endParaRPr lang="en-US" sz="1050" dirty="0"/>
          </a:p>
        </p:txBody>
      </p:sp>
      <p:sp>
        <p:nvSpPr>
          <p:cNvPr id="4" name="Text 2"/>
          <p:cNvSpPr txBox="1"/>
          <p:nvPr/>
        </p:nvSpPr>
        <p:spPr>
          <a:xfrm>
            <a:off x="457200" y="603504"/>
            <a:ext cx="8229600" cy="56692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t-SNE mechanics</a:t>
            </a:r>
            <a:endParaRPr lang="en-US" sz="3000" dirty="0"/>
          </a:p>
        </p:txBody>
      </p:sp>
      <p:sp>
        <p:nvSpPr>
          <p:cNvPr id="5" name="Shape 3"/>
          <p:cNvSpPr/>
          <p:nvPr/>
        </p:nvSpPr>
        <p:spPr>
          <a:xfrm>
            <a:off x="457200" y="1207008"/>
            <a:ext cx="8229600" cy="1572768"/>
          </a:xfrm>
          <a:prstGeom prst="roundRect">
            <a:avLst>
              <a:gd name="adj" fmla="val 2326"/>
            </a:avLst>
          </a:prstGeom>
          <a:solidFill>
            <a:srgbClr val="F1F4F8"/>
          </a:solidFill>
          <a:ln w="9525">
            <a:solidFill>
              <a:srgbClr val="D8DFE8"/>
            </a:solidFill>
            <a:prstDash val="solid"/>
          </a:ln>
        </p:spPr>
        <p:txBody>
          <a:bodyPr/>
          <a:lstStyle/>
          <a:p>
            <a:endParaRPr lang="en-US"/>
          </a:p>
        </p:txBody>
      </p:sp>
      <p:sp>
        <p:nvSpPr>
          <p:cNvPr id="6" name="Text 4"/>
          <p:cNvSpPr txBox="1"/>
          <p:nvPr/>
        </p:nvSpPr>
        <p:spPr>
          <a:xfrm>
            <a:off x="685800" y="1353312"/>
            <a:ext cx="7772400" cy="1325880"/>
          </a:xfrm>
          <a:prstGeom prst="rect">
            <a:avLst/>
          </a:prstGeom>
          <a:noFill/>
          <a:ln/>
        </p:spPr>
        <p:txBody>
          <a:bodyPr wrap="square" lIns="0" tIns="0" rIns="0" bIns="0" rtlCol="0" anchor="ctr"/>
          <a:lstStyle/>
          <a:p>
            <a:pPr marL="0" indent="0">
              <a:spcAft>
                <a:spcPts val="500"/>
              </a:spcAft>
              <a:buNone/>
            </a:pPr>
            <a:r>
              <a:rPr lang="en-US" sz="1100" dirty="0">
                <a:solidFill>
                  <a:srgbClr val="1B2430"/>
                </a:solidFill>
                <a:latin typeface="Calibri" pitchFamily="34" charset="0"/>
                <a:ea typeface="Calibri" pitchFamily="34" charset="-122"/>
                <a:cs typeface="Calibri" pitchFamily="34" charset="-120"/>
              </a:rPr>
              <a:t>1.  In high dimensions, convert distances to conditional probabilities   pⱼ|ᵢ ∝ exp( −‖xᵢ − xⱼ‖² / 2σᵢ² ),  with each σᵢ found by binary search so the entropy hits the target set by perplexity. Note σᵢ is per point: dense regions get narrow kernels, sparse regions wide ones.</a:t>
            </a:r>
            <a:endParaRPr lang="en-US" sz="1100" dirty="0"/>
          </a:p>
          <a:p>
            <a:pPr marL="0" indent="0">
              <a:spcAft>
                <a:spcPts val="500"/>
              </a:spcAft>
              <a:buNone/>
            </a:pPr>
            <a:r>
              <a:rPr lang="en-US" sz="1100" dirty="0">
                <a:solidFill>
                  <a:srgbClr val="1B2430"/>
                </a:solidFill>
                <a:latin typeface="Calibri" pitchFamily="34" charset="0"/>
                <a:ea typeface="Calibri" pitchFamily="34" charset="-122"/>
                <a:cs typeface="Calibri" pitchFamily="34" charset="-120"/>
              </a:rPr>
              <a:t>2.  Symmetrize:   pᵢⱼ = ( pⱼ|ᵢ + pᵢ|ⱼ ) / 2n</a:t>
            </a:r>
            <a:endParaRPr lang="en-US" sz="1100" dirty="0"/>
          </a:p>
          <a:p>
            <a:pPr marL="0" indent="0">
              <a:spcAft>
                <a:spcPts val="500"/>
              </a:spcAft>
              <a:buNone/>
            </a:pPr>
            <a:r>
              <a:rPr lang="en-US" sz="1100" dirty="0">
                <a:solidFill>
                  <a:srgbClr val="1B2430"/>
                </a:solidFill>
                <a:latin typeface="Calibri" pitchFamily="34" charset="0"/>
                <a:ea typeface="Calibri" pitchFamily="34" charset="-122"/>
                <a:cs typeface="Calibri" pitchFamily="34" charset="-120"/>
              </a:rPr>
              <a:t>3.  In the 2-D map use a Student-t with one degree of freedom:   qᵢⱼ ∝ ( 1 + ‖yᵢ − yⱼ‖² )⁻¹</a:t>
            </a:r>
            <a:endParaRPr lang="en-US" sz="1100" dirty="0"/>
          </a:p>
          <a:p>
            <a:pPr marL="0" indent="0">
              <a:spcAft>
                <a:spcPts val="500"/>
              </a:spcAft>
              <a:buNone/>
            </a:pPr>
            <a:r>
              <a:rPr lang="en-US" sz="1100" dirty="0">
                <a:solidFill>
                  <a:srgbClr val="1B2430"/>
                </a:solidFill>
                <a:latin typeface="Calibri" pitchFamily="34" charset="0"/>
                <a:ea typeface="Calibri" pitchFamily="34" charset="-122"/>
                <a:cs typeface="Calibri" pitchFamily="34" charset="-120"/>
              </a:rPr>
              <a:t>4.  Minimize KL( P ‖ Q ) by gradient descent on the yᵢ</a:t>
            </a:r>
            <a:endParaRPr lang="en-US" sz="1100" dirty="0"/>
          </a:p>
        </p:txBody>
      </p:sp>
      <p:sp>
        <p:nvSpPr>
          <p:cNvPr id="7" name="Shape 5"/>
          <p:cNvSpPr/>
          <p:nvPr/>
        </p:nvSpPr>
        <p:spPr>
          <a:xfrm>
            <a:off x="457200" y="2889504"/>
            <a:ext cx="8229600" cy="1170432"/>
          </a:xfrm>
          <a:prstGeom prst="roundRect">
            <a:avLst>
              <a:gd name="adj" fmla="val 3125"/>
            </a:avLst>
          </a:prstGeom>
          <a:solidFill>
            <a:srgbClr val="F1F4F8"/>
          </a:solidFill>
          <a:ln w="9525">
            <a:solidFill>
              <a:srgbClr val="D8DFE8"/>
            </a:solidFill>
            <a:prstDash val="solid"/>
          </a:ln>
        </p:spPr>
        <p:txBody>
          <a:bodyPr/>
          <a:lstStyle/>
          <a:p>
            <a:endParaRPr lang="en-US"/>
          </a:p>
        </p:txBody>
      </p:sp>
      <p:sp>
        <p:nvSpPr>
          <p:cNvPr id="8" name="Text 6"/>
          <p:cNvSpPr txBox="1"/>
          <p:nvPr/>
        </p:nvSpPr>
        <p:spPr>
          <a:xfrm>
            <a:off x="685800" y="3035808"/>
            <a:ext cx="7772400" cy="914400"/>
          </a:xfrm>
          <a:prstGeom prst="rect">
            <a:avLst/>
          </a:prstGeom>
          <a:noFill/>
          <a:ln/>
        </p:spPr>
        <p:txBody>
          <a:bodyPr wrap="square" lIns="0" tIns="0" rIns="0" bIns="0" rtlCol="0" anchor="t"/>
          <a:lstStyle/>
          <a:p>
            <a:pPr marL="0" indent="0">
              <a:spcAft>
                <a:spcPts val="500"/>
              </a:spcAft>
              <a:buNone/>
            </a:pPr>
            <a:r>
              <a:rPr lang="en-US" sz="1200" b="1" dirty="0">
                <a:solidFill>
                  <a:srgbClr val="1A5FB4"/>
                </a:solidFill>
                <a:latin typeface="Calibri" pitchFamily="34" charset="0"/>
                <a:ea typeface="Calibri" pitchFamily="34" charset="-122"/>
                <a:cs typeface="Calibri" pitchFamily="34" charset="-120"/>
              </a:rPr>
              <a:t>Why the heavy tail?  The crowding problem.</a:t>
            </a:r>
            <a:endParaRPr lang="en-US" sz="1200" dirty="0"/>
          </a:p>
          <a:p>
            <a:pPr marL="0" indent="0">
              <a:spcAft>
                <a:spcPts val="500"/>
              </a:spcAft>
              <a:buNone/>
            </a:pPr>
            <a:r>
              <a:rPr lang="en-US" sz="1100" dirty="0">
                <a:solidFill>
                  <a:srgbClr val="1B2430"/>
                </a:solidFill>
                <a:latin typeface="Calibri" pitchFamily="34" charset="0"/>
                <a:ea typeface="Calibri" pitchFamily="34" charset="-122"/>
                <a:cs typeface="Calibri" pitchFamily="34" charset="-120"/>
              </a:rPr>
              <a:t>In d dimensions the volume available at moderate radius vastly exceeds what exists in 2-D, so moderately distant points physically cannot all be placed at moderate distance. The t-distribution's fat tail lets them be pushed far away at low cost, relieving the crush.</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3">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457200" y="384048"/>
            <a:ext cx="118872" cy="118872"/>
          </a:xfrm>
          <a:prstGeom prst="ellipse">
            <a:avLst/>
          </a:prstGeom>
          <a:solidFill>
            <a:srgbClr val="FFC72C"/>
          </a:solidFill>
          <a:ln w="12700">
            <a:solidFill>
              <a:srgbClr val="FFC72C"/>
            </a:solidFill>
            <a:prstDash val="solid"/>
          </a:ln>
        </p:spPr>
        <p:txBody>
          <a:bodyPr/>
          <a:lstStyle/>
          <a:p>
            <a:endParaRPr lang="en-US"/>
          </a:p>
        </p:txBody>
      </p:sp>
      <p:sp>
        <p:nvSpPr>
          <p:cNvPr id="3" name="Text 1"/>
          <p:cNvSpPr txBox="1"/>
          <p:nvPr/>
        </p:nvSpPr>
        <p:spPr>
          <a:xfrm>
            <a:off x="658368" y="329184"/>
            <a:ext cx="8028432" cy="237744"/>
          </a:xfrm>
          <a:prstGeom prst="rect">
            <a:avLst/>
          </a:prstGeom>
          <a:noFill/>
          <a:ln/>
        </p:spPr>
        <p:txBody>
          <a:bodyPr wrap="square" lIns="0" tIns="0" rIns="0" bIns="0" rtlCol="0" anchor="ctr"/>
          <a:lstStyle/>
          <a:p>
            <a:pPr marL="0" indent="0">
              <a:buNone/>
            </a:pPr>
            <a:r>
              <a:rPr lang="en-US" sz="1050" b="1" kern="0" spc="140" dirty="0">
                <a:solidFill>
                  <a:srgbClr val="5A6472"/>
                </a:solidFill>
                <a:latin typeface="Calibri" pitchFamily="34" charset="0"/>
                <a:ea typeface="Calibri" pitchFamily="34" charset="-122"/>
                <a:cs typeface="Calibri" pitchFamily="34" charset="-120"/>
              </a:rPr>
              <a:t>APPENDIX</a:t>
            </a:r>
            <a:endParaRPr lang="en-US" sz="1050" dirty="0"/>
          </a:p>
        </p:txBody>
      </p:sp>
      <p:sp>
        <p:nvSpPr>
          <p:cNvPr id="4" name="Text 2"/>
          <p:cNvSpPr txBox="1"/>
          <p:nvPr/>
        </p:nvSpPr>
        <p:spPr>
          <a:xfrm>
            <a:off x="457200" y="603504"/>
            <a:ext cx="8229600" cy="566928"/>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Why t-SNE only preserves local structure</a:t>
            </a:r>
            <a:endParaRPr lang="en-US" sz="2500" dirty="0"/>
          </a:p>
        </p:txBody>
      </p:sp>
      <p:sp>
        <p:nvSpPr>
          <p:cNvPr id="5" name="Shape 3"/>
          <p:cNvSpPr/>
          <p:nvPr/>
        </p:nvSpPr>
        <p:spPr>
          <a:xfrm>
            <a:off x="457200" y="1207008"/>
            <a:ext cx="8229600" cy="566928"/>
          </a:xfrm>
          <a:prstGeom prst="roundRect">
            <a:avLst>
              <a:gd name="adj" fmla="val 6452"/>
            </a:avLst>
          </a:prstGeom>
          <a:solidFill>
            <a:srgbClr val="F1F4F8"/>
          </a:solidFill>
          <a:ln w="9525">
            <a:solidFill>
              <a:srgbClr val="D8DFE8"/>
            </a:solidFill>
            <a:prstDash val="solid"/>
          </a:ln>
        </p:spPr>
        <p:txBody>
          <a:bodyPr/>
          <a:lstStyle/>
          <a:p>
            <a:endParaRPr lang="en-US"/>
          </a:p>
        </p:txBody>
      </p:sp>
      <p:sp>
        <p:nvSpPr>
          <p:cNvPr id="6" name="Text 4"/>
          <p:cNvSpPr txBox="1"/>
          <p:nvPr/>
        </p:nvSpPr>
        <p:spPr>
          <a:xfrm>
            <a:off x="685800" y="1207008"/>
            <a:ext cx="7772400" cy="566928"/>
          </a:xfrm>
          <a:prstGeom prst="rect">
            <a:avLst/>
          </a:prstGeom>
          <a:noFill/>
          <a:ln/>
        </p:spPr>
        <p:txBody>
          <a:bodyPr wrap="square" lIns="0" tIns="0" rIns="0" bIns="0" rtlCol="0" anchor="ctr"/>
          <a:lstStyle/>
          <a:p>
            <a:pPr marL="0" indent="0">
              <a:buNone/>
            </a:pPr>
            <a:r>
              <a:rPr lang="en-US" sz="1400" dirty="0">
                <a:solidFill>
                  <a:srgbClr val="1A5FB4"/>
                </a:solidFill>
                <a:latin typeface="Cambria" pitchFamily="34" charset="0"/>
                <a:ea typeface="Cambria" pitchFamily="34" charset="-122"/>
                <a:cs typeface="Cambria" pitchFamily="34" charset="-120"/>
              </a:rPr>
              <a:t>KL( P ‖ Q )  =  Σᵢ₊ⱼ  pᵢⱼ · log ( pᵢⱼ / qᵢⱼ )</a:t>
            </a:r>
            <a:endParaRPr lang="en-US" sz="1400" dirty="0"/>
          </a:p>
        </p:txBody>
      </p:sp>
      <p:sp>
        <p:nvSpPr>
          <p:cNvPr id="7" name="Shape 5"/>
          <p:cNvSpPr/>
          <p:nvPr/>
        </p:nvSpPr>
        <p:spPr>
          <a:xfrm>
            <a:off x="457200" y="1883664"/>
            <a:ext cx="4041648" cy="1371600"/>
          </a:xfrm>
          <a:prstGeom prst="roundRect">
            <a:avLst>
              <a:gd name="adj" fmla="val 2667"/>
            </a:avLst>
          </a:prstGeom>
          <a:solidFill>
            <a:srgbClr val="F1F4F8"/>
          </a:solidFill>
          <a:ln w="9525">
            <a:solidFill>
              <a:srgbClr val="D8DFE8"/>
            </a:solidFill>
            <a:prstDash val="solid"/>
          </a:ln>
        </p:spPr>
        <p:txBody>
          <a:bodyPr/>
          <a:lstStyle/>
          <a:p>
            <a:endParaRPr lang="en-US"/>
          </a:p>
        </p:txBody>
      </p:sp>
      <p:sp>
        <p:nvSpPr>
          <p:cNvPr id="8" name="Text 6"/>
          <p:cNvSpPr txBox="1"/>
          <p:nvPr/>
        </p:nvSpPr>
        <p:spPr>
          <a:xfrm>
            <a:off x="640080" y="1883664"/>
            <a:ext cx="3675888" cy="1371600"/>
          </a:xfrm>
          <a:prstGeom prst="rect">
            <a:avLst/>
          </a:prstGeom>
          <a:noFill/>
          <a:ln/>
        </p:spPr>
        <p:txBody>
          <a:bodyPr wrap="square" lIns="0" tIns="0" rIns="0" bIns="0" rtlCol="0" anchor="ctr"/>
          <a:lstStyle/>
          <a:p>
            <a:pPr marL="0" indent="0">
              <a:spcAft>
                <a:spcPts val="500"/>
              </a:spcAft>
              <a:buNone/>
            </a:pPr>
            <a:r>
              <a:rPr lang="en-US" sz="1250" b="1" dirty="0">
                <a:solidFill>
                  <a:srgbClr val="1A5FB4"/>
                </a:solidFill>
                <a:latin typeface="Calibri" pitchFamily="34" charset="0"/>
                <a:ea typeface="Calibri" pitchFamily="34" charset="-122"/>
                <a:cs typeface="Calibri" pitchFamily="34" charset="-120"/>
              </a:rPr>
              <a:t>Large pᵢⱼ , small qᵢⱼ</a:t>
            </a:r>
            <a:endParaRPr lang="en-US" sz="1250" dirty="0"/>
          </a:p>
          <a:p>
            <a:pPr marL="0" indent="0">
              <a:spcAft>
                <a:spcPts val="500"/>
              </a:spcAft>
              <a:buNone/>
            </a:pPr>
            <a:r>
              <a:rPr lang="en-US" sz="1100" dirty="0">
                <a:solidFill>
                  <a:srgbClr val="1B2430"/>
                </a:solidFill>
                <a:latin typeface="Calibri" pitchFamily="34" charset="0"/>
                <a:ea typeface="Calibri" pitchFamily="34" charset="-122"/>
                <a:cs typeface="Calibri" pitchFamily="34" charset="-120"/>
              </a:rPr>
              <a:t>True neighbours placed far apart. Heavily penalized.</a:t>
            </a:r>
            <a:endParaRPr lang="en-US" sz="1250" dirty="0"/>
          </a:p>
        </p:txBody>
      </p:sp>
      <p:sp>
        <p:nvSpPr>
          <p:cNvPr id="9" name="Shape 7"/>
          <p:cNvSpPr/>
          <p:nvPr/>
        </p:nvSpPr>
        <p:spPr>
          <a:xfrm>
            <a:off x="4645152" y="1883664"/>
            <a:ext cx="4041648" cy="1371600"/>
          </a:xfrm>
          <a:prstGeom prst="roundRect">
            <a:avLst>
              <a:gd name="adj" fmla="val 2667"/>
            </a:avLst>
          </a:prstGeom>
          <a:solidFill>
            <a:srgbClr val="F1F4F8"/>
          </a:solidFill>
          <a:ln w="9525">
            <a:solidFill>
              <a:srgbClr val="D8DFE8"/>
            </a:solidFill>
            <a:prstDash val="solid"/>
          </a:ln>
        </p:spPr>
        <p:txBody>
          <a:bodyPr/>
          <a:lstStyle/>
          <a:p>
            <a:endParaRPr lang="en-US"/>
          </a:p>
        </p:txBody>
      </p:sp>
      <p:sp>
        <p:nvSpPr>
          <p:cNvPr id="10" name="Text 8"/>
          <p:cNvSpPr txBox="1"/>
          <p:nvPr/>
        </p:nvSpPr>
        <p:spPr>
          <a:xfrm>
            <a:off x="4828032" y="1883664"/>
            <a:ext cx="3675888" cy="1371600"/>
          </a:xfrm>
          <a:prstGeom prst="rect">
            <a:avLst/>
          </a:prstGeom>
          <a:noFill/>
          <a:ln/>
        </p:spPr>
        <p:txBody>
          <a:bodyPr wrap="square" lIns="0" tIns="0" rIns="0" bIns="0" rtlCol="0" anchor="ctr"/>
          <a:lstStyle/>
          <a:p>
            <a:pPr marL="0" indent="0">
              <a:spcAft>
                <a:spcPts val="500"/>
              </a:spcAft>
              <a:buNone/>
            </a:pPr>
            <a:r>
              <a:rPr lang="en-US" sz="1250" b="1" dirty="0">
                <a:solidFill>
                  <a:srgbClr val="1A5FB4"/>
                </a:solidFill>
                <a:latin typeface="Calibri" pitchFamily="34" charset="0"/>
                <a:ea typeface="Calibri" pitchFamily="34" charset="-122"/>
                <a:cs typeface="Calibri" pitchFamily="34" charset="-120"/>
              </a:rPr>
              <a:t>Small pᵢⱼ , large qᵢⱼ</a:t>
            </a:r>
            <a:endParaRPr lang="en-US" sz="1250" dirty="0"/>
          </a:p>
          <a:p>
            <a:pPr marL="0" indent="0">
              <a:spcAft>
                <a:spcPts val="500"/>
              </a:spcAft>
              <a:buNone/>
            </a:pPr>
            <a:r>
              <a:rPr lang="en-US" sz="1100" dirty="0">
                <a:solidFill>
                  <a:srgbClr val="1B2430"/>
                </a:solidFill>
                <a:latin typeface="Calibri" pitchFamily="34" charset="0"/>
                <a:ea typeface="Calibri" pitchFamily="34" charset="-122"/>
                <a:cs typeface="Calibri" pitchFamily="34" charset="-120"/>
              </a:rPr>
              <a:t>Distant points placed together. Costs almost nothing, because the term is weighted by pᵢⱼ ≈ 0.</a:t>
            </a:r>
            <a:endParaRPr lang="en-US" sz="1250" dirty="0"/>
          </a:p>
        </p:txBody>
      </p:sp>
      <p:sp>
        <p:nvSpPr>
          <p:cNvPr id="11" name="Shape 9"/>
          <p:cNvSpPr/>
          <p:nvPr/>
        </p:nvSpPr>
        <p:spPr>
          <a:xfrm>
            <a:off x="457200" y="3364992"/>
            <a:ext cx="8229600" cy="694944"/>
          </a:xfrm>
          <a:prstGeom prst="roundRect">
            <a:avLst>
              <a:gd name="adj" fmla="val 5263"/>
            </a:avLst>
          </a:prstGeom>
          <a:solidFill>
            <a:srgbClr val="E8F4ED"/>
          </a:solidFill>
          <a:ln w="9525">
            <a:solidFill>
              <a:srgbClr val="1B7A46"/>
            </a:solidFill>
            <a:prstDash val="solid"/>
          </a:ln>
        </p:spPr>
        <p:txBody>
          <a:bodyPr/>
          <a:lstStyle/>
          <a:p>
            <a:endParaRPr lang="en-US"/>
          </a:p>
        </p:txBody>
      </p:sp>
      <p:sp>
        <p:nvSpPr>
          <p:cNvPr id="12" name="Text 10"/>
          <p:cNvSpPr txBox="1"/>
          <p:nvPr/>
        </p:nvSpPr>
        <p:spPr>
          <a:xfrm>
            <a:off x="685800" y="3364992"/>
            <a:ext cx="7772400" cy="694944"/>
          </a:xfrm>
          <a:prstGeom prst="rect">
            <a:avLst/>
          </a:prstGeom>
          <a:noFill/>
          <a:ln/>
        </p:spPr>
        <p:txBody>
          <a:bodyPr wrap="square" lIns="0" tIns="0" rIns="0" bIns="0" rtlCol="0" anchor="ctr"/>
          <a:lstStyle/>
          <a:p>
            <a:pPr marL="0" indent="0">
              <a:buNone/>
            </a:pPr>
            <a:r>
              <a:rPr lang="en-US" sz="1150" b="1" dirty="0">
                <a:solidFill>
                  <a:srgbClr val="1B7A46"/>
                </a:solidFill>
                <a:latin typeface="Calibri" pitchFamily="34" charset="0"/>
                <a:ea typeface="Calibri" pitchFamily="34" charset="-122"/>
                <a:cs typeface="Calibri" pitchFamily="34" charset="-120"/>
              </a:rPr>
              <a:t>The loss function is explicitly indifferent to where non-neighbours land. This is not a limitation people discovered empirically — it is written into the objective.</a:t>
            </a:r>
            <a:endParaRPr lang="en-US" sz="11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4">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457200" y="384048"/>
            <a:ext cx="118872" cy="118872"/>
          </a:xfrm>
          <a:prstGeom prst="ellipse">
            <a:avLst/>
          </a:prstGeom>
          <a:solidFill>
            <a:srgbClr val="FFC72C"/>
          </a:solidFill>
          <a:ln w="12700">
            <a:solidFill>
              <a:srgbClr val="FFC72C"/>
            </a:solidFill>
            <a:prstDash val="solid"/>
          </a:ln>
        </p:spPr>
        <p:txBody>
          <a:bodyPr/>
          <a:lstStyle/>
          <a:p>
            <a:endParaRPr lang="en-US"/>
          </a:p>
        </p:txBody>
      </p:sp>
      <p:sp>
        <p:nvSpPr>
          <p:cNvPr id="3" name="Text 1"/>
          <p:cNvSpPr txBox="1"/>
          <p:nvPr/>
        </p:nvSpPr>
        <p:spPr>
          <a:xfrm>
            <a:off x="658368" y="329184"/>
            <a:ext cx="8028432" cy="237744"/>
          </a:xfrm>
          <a:prstGeom prst="rect">
            <a:avLst/>
          </a:prstGeom>
          <a:noFill/>
          <a:ln/>
        </p:spPr>
        <p:txBody>
          <a:bodyPr wrap="square" lIns="0" tIns="0" rIns="0" bIns="0" rtlCol="0" anchor="ctr"/>
          <a:lstStyle/>
          <a:p>
            <a:pPr marL="0" indent="0">
              <a:buNone/>
            </a:pPr>
            <a:r>
              <a:rPr lang="en-US" sz="1050" b="1" kern="0" spc="140" dirty="0">
                <a:solidFill>
                  <a:srgbClr val="5A6472"/>
                </a:solidFill>
                <a:latin typeface="Calibri" pitchFamily="34" charset="0"/>
                <a:ea typeface="Calibri" pitchFamily="34" charset="-122"/>
                <a:cs typeface="Calibri" pitchFamily="34" charset="-120"/>
              </a:rPr>
              <a:t>APPENDIX</a:t>
            </a:r>
            <a:endParaRPr lang="en-US" sz="1050" dirty="0"/>
          </a:p>
        </p:txBody>
      </p:sp>
      <p:sp>
        <p:nvSpPr>
          <p:cNvPr id="4" name="Text 2"/>
          <p:cNvSpPr txBox="1"/>
          <p:nvPr/>
        </p:nvSpPr>
        <p:spPr>
          <a:xfrm>
            <a:off x="457200" y="603504"/>
            <a:ext cx="8229600" cy="56692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UMAP mechanics</a:t>
            </a:r>
            <a:endParaRPr lang="en-US" sz="3000" dirty="0"/>
          </a:p>
        </p:txBody>
      </p:sp>
      <p:sp>
        <p:nvSpPr>
          <p:cNvPr id="5" name="Shape 3"/>
          <p:cNvSpPr/>
          <p:nvPr/>
        </p:nvSpPr>
        <p:spPr>
          <a:xfrm>
            <a:off x="457200" y="1207008"/>
            <a:ext cx="8229600" cy="1207008"/>
          </a:xfrm>
          <a:prstGeom prst="roundRect">
            <a:avLst>
              <a:gd name="adj" fmla="val 3030"/>
            </a:avLst>
          </a:prstGeom>
          <a:solidFill>
            <a:srgbClr val="F1F4F8"/>
          </a:solidFill>
          <a:ln w="9525">
            <a:solidFill>
              <a:srgbClr val="D8DFE8"/>
            </a:solidFill>
            <a:prstDash val="solid"/>
          </a:ln>
        </p:spPr>
        <p:txBody>
          <a:bodyPr/>
          <a:lstStyle/>
          <a:p>
            <a:endParaRPr lang="en-US"/>
          </a:p>
        </p:txBody>
      </p:sp>
      <p:sp>
        <p:nvSpPr>
          <p:cNvPr id="6" name="Text 4"/>
          <p:cNvSpPr txBox="1"/>
          <p:nvPr/>
        </p:nvSpPr>
        <p:spPr>
          <a:xfrm>
            <a:off x="685800" y="1353312"/>
            <a:ext cx="7772400" cy="960120"/>
          </a:xfrm>
          <a:prstGeom prst="rect">
            <a:avLst/>
          </a:prstGeom>
          <a:noFill/>
          <a:ln/>
        </p:spPr>
        <p:txBody>
          <a:bodyPr wrap="square" lIns="0" tIns="0" rIns="0" bIns="0" rtlCol="0" anchor="ctr"/>
          <a:lstStyle/>
          <a:p>
            <a:pPr marL="0" indent="0">
              <a:spcAft>
                <a:spcPts val="500"/>
              </a:spcAft>
              <a:buNone/>
            </a:pPr>
            <a:r>
              <a:rPr lang="en-US" sz="1100" dirty="0">
                <a:solidFill>
                  <a:srgbClr val="1B2430"/>
                </a:solidFill>
                <a:latin typeface="Calibri" pitchFamily="34" charset="0"/>
                <a:ea typeface="Calibri" pitchFamily="34" charset="-122"/>
                <a:cs typeface="Calibri" pitchFamily="34" charset="-120"/>
              </a:rPr>
              <a:t>Build an approximate k-NN graph. For each point set ρᵢ to its nearest-neighbour distance (guaranteeing local connectivity) and σᵢ so that Σⱼ exp( −(dᵢⱼ − ρᵢ) / σᵢ ) = log₂ k.</a:t>
            </a:r>
            <a:endParaRPr lang="en-US" sz="1100" dirty="0"/>
          </a:p>
          <a:p>
            <a:pPr marL="0" indent="0">
              <a:spcAft>
                <a:spcPts val="500"/>
              </a:spcAft>
              <a:buNone/>
            </a:pPr>
            <a:r>
              <a:rPr lang="en-US" sz="1100" dirty="0">
                <a:solidFill>
                  <a:srgbClr val="1B2430"/>
                </a:solidFill>
                <a:latin typeface="Calibri" pitchFamily="34" charset="0"/>
                <a:ea typeface="Calibri" pitchFamily="34" charset="-122"/>
                <a:cs typeface="Calibri" pitchFamily="34" charset="-120"/>
              </a:rPr>
              <a:t>Symmetrize by fuzzy union:   wᵢⱼ = wᵢ|ⱼ + wⱼ|ᵢ − wᵢ|ⱼ wⱼ|ᵢ</a:t>
            </a:r>
            <a:endParaRPr lang="en-US" sz="1100" dirty="0"/>
          </a:p>
          <a:p>
            <a:pPr marL="0" indent="0">
              <a:spcAft>
                <a:spcPts val="500"/>
              </a:spcAft>
              <a:buNone/>
            </a:pPr>
            <a:r>
              <a:rPr lang="en-US" sz="1100" dirty="0">
                <a:solidFill>
                  <a:srgbClr val="1B2430"/>
                </a:solidFill>
                <a:latin typeface="Calibri" pitchFamily="34" charset="0"/>
                <a:ea typeface="Calibri" pitchFamily="34" charset="-122"/>
                <a:cs typeface="Calibri" pitchFamily="34" charset="-120"/>
              </a:rPr>
              <a:t>Lay the points out in 2-D with similarity ( 1 + a‖yᵢ − yⱼ‖²ᵇ )⁻¹, minimizing cross-entropy by SGD with negative sampling.</a:t>
            </a:r>
            <a:endParaRPr lang="en-US" sz="1100" dirty="0"/>
          </a:p>
        </p:txBody>
      </p:sp>
      <p:sp>
        <p:nvSpPr>
          <p:cNvPr id="7" name="Shape 5"/>
          <p:cNvSpPr/>
          <p:nvPr/>
        </p:nvSpPr>
        <p:spPr>
          <a:xfrm>
            <a:off x="457200" y="2523744"/>
            <a:ext cx="8229600" cy="786384"/>
          </a:xfrm>
          <a:prstGeom prst="roundRect">
            <a:avLst>
              <a:gd name="adj" fmla="val 4651"/>
            </a:avLst>
          </a:prstGeom>
          <a:solidFill>
            <a:srgbClr val="F1F4F8"/>
          </a:solidFill>
          <a:ln w="9525">
            <a:solidFill>
              <a:srgbClr val="D8DFE8"/>
            </a:solidFill>
            <a:prstDash val="solid"/>
          </a:ln>
        </p:spPr>
        <p:txBody>
          <a:bodyPr/>
          <a:lstStyle/>
          <a:p>
            <a:endParaRPr lang="en-US"/>
          </a:p>
        </p:txBody>
      </p:sp>
      <p:sp>
        <p:nvSpPr>
          <p:cNvPr id="8" name="Text 6"/>
          <p:cNvSpPr txBox="1"/>
          <p:nvPr/>
        </p:nvSpPr>
        <p:spPr>
          <a:xfrm>
            <a:off x="685800" y="2615184"/>
            <a:ext cx="7772400" cy="640080"/>
          </a:xfrm>
          <a:prstGeom prst="rect">
            <a:avLst/>
          </a:prstGeom>
          <a:noFill/>
          <a:ln/>
        </p:spPr>
        <p:txBody>
          <a:bodyPr wrap="square" lIns="0" tIns="0" rIns="0" bIns="0" rtlCol="0" anchor="t"/>
          <a:lstStyle/>
          <a:p>
            <a:pPr marL="0" indent="0">
              <a:spcAft>
                <a:spcPts val="400"/>
              </a:spcAft>
              <a:buNone/>
            </a:pPr>
            <a:r>
              <a:rPr lang="en-US" sz="1200" b="1" dirty="0">
                <a:solidFill>
                  <a:srgbClr val="1A5FB4"/>
                </a:solidFill>
                <a:latin typeface="Calibri" pitchFamily="34" charset="0"/>
                <a:ea typeface="Calibri" pitchFamily="34" charset="-122"/>
                <a:cs typeface="Calibri" pitchFamily="34" charset="-120"/>
              </a:rPr>
              <a:t>The one substantive difference from t-SNE is the loss.</a:t>
            </a:r>
            <a:endParaRPr lang="en-US" sz="1200" dirty="0"/>
          </a:p>
          <a:p>
            <a:pPr marL="0" indent="0">
              <a:spcAft>
                <a:spcPts val="400"/>
              </a:spcAft>
              <a:buNone/>
            </a:pPr>
            <a:r>
              <a:rPr lang="en-US" sz="1100" dirty="0">
                <a:solidFill>
                  <a:srgbClr val="1B2430"/>
                </a:solidFill>
                <a:latin typeface="Calibri" pitchFamily="34" charset="0"/>
                <a:ea typeface="Calibri" pitchFamily="34" charset="-122"/>
                <a:cs typeface="Calibri" pitchFamily="34" charset="-120"/>
              </a:rPr>
              <a:t>Cross-entropy carries a second term penalizing qᵢⱼ being large where wᵢⱼ is small — an explicit repulsion between non-neighbours that KL divergence lacks. Plus negative sampling, which is what makes it fast.</a:t>
            </a:r>
            <a:endParaRPr lang="en-US" sz="1200" dirty="0"/>
          </a:p>
        </p:txBody>
      </p:sp>
      <p:sp>
        <p:nvSpPr>
          <p:cNvPr id="9" name="Shape 7"/>
          <p:cNvSpPr/>
          <p:nvPr/>
        </p:nvSpPr>
        <p:spPr>
          <a:xfrm>
            <a:off x="457200" y="3419856"/>
            <a:ext cx="8229600" cy="640080"/>
          </a:xfrm>
          <a:prstGeom prst="roundRect">
            <a:avLst>
              <a:gd name="adj" fmla="val 5714"/>
            </a:avLst>
          </a:prstGeom>
          <a:solidFill>
            <a:srgbClr val="D8DFE8"/>
          </a:solidFill>
          <a:ln w="9525">
            <a:solidFill>
              <a:srgbClr val="FFC72C"/>
            </a:solidFill>
            <a:prstDash val="solid"/>
          </a:ln>
        </p:spPr>
        <p:txBody>
          <a:bodyPr/>
          <a:lstStyle/>
          <a:p>
            <a:endParaRPr lang="en-US"/>
          </a:p>
        </p:txBody>
      </p:sp>
      <p:sp>
        <p:nvSpPr>
          <p:cNvPr id="10" name="Text 8"/>
          <p:cNvSpPr txBox="1"/>
          <p:nvPr/>
        </p:nvSpPr>
        <p:spPr>
          <a:xfrm>
            <a:off x="685800" y="3419856"/>
            <a:ext cx="7772400" cy="640080"/>
          </a:xfrm>
          <a:prstGeom prst="rect">
            <a:avLst/>
          </a:prstGeom>
          <a:noFill/>
          <a:ln/>
        </p:spPr>
        <p:txBody>
          <a:bodyPr wrap="square" lIns="0" tIns="0" rIns="0" bIns="0" rtlCol="0" anchor="ctr"/>
          <a:lstStyle/>
          <a:p>
            <a:pPr marL="0" indent="0">
              <a:buNone/>
            </a:pPr>
            <a:r>
              <a:rPr lang="en-US" sz="1100" dirty="0">
                <a:solidFill>
                  <a:srgbClr val="1B2430"/>
                </a:solidFill>
                <a:latin typeface="Calibri" pitchFamily="34" charset="0"/>
                <a:ea typeface="Calibri" pitchFamily="34" charset="-122"/>
                <a:cs typeface="Calibri" pitchFamily="34" charset="-120"/>
              </a:rPr>
              <a:t>Careful before claiming UMAP is simply better: Böhm, Berens and Kobak (2022) argue much of its apparent advantage on global structure comes from spectral initialization rather than the loss — t-SNE initialized from PCA closes most of the gap.</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296</TotalTime>
  <Words>5321</Words>
  <Application>Microsoft Office PowerPoint</Application>
  <PresentationFormat>On-screen Show (16:9)</PresentationFormat>
  <Paragraphs>506</Paragraphs>
  <Slides>43</Slides>
  <Notes>43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43</vt:i4>
      </vt:variant>
    </vt:vector>
  </HeadingPairs>
  <TitlesOfParts>
    <vt:vector size="4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7: Clustering &amp; Dimensionality Reduction</dc:title>
  <dc:subject>PptxGenJS Presentation</dc:subject>
  <dc:creator>David P.</dc:creator>
  <cp:lastModifiedBy>David P</cp:lastModifiedBy>
  <cp:revision>1</cp:revision>
  <dcterms:created xsi:type="dcterms:W3CDTF">2026-09-03T06:25:26Z</dcterms:created>
  <dcterms:modified xsi:type="dcterms:W3CDTF">2026-09-04T18:10:48Z</dcterms:modified>
</cp:coreProperties>
</file>